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9"/>
  </p:notes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62" r:id="rId9"/>
    <p:sldId id="264" r:id="rId10"/>
    <p:sldId id="265" r:id="rId11"/>
    <p:sldId id="266" r:id="rId12"/>
    <p:sldId id="281" r:id="rId13"/>
    <p:sldId id="282" r:id="rId14"/>
    <p:sldId id="283" r:id="rId15"/>
    <p:sldId id="267" r:id="rId16"/>
    <p:sldId id="268" r:id="rId17"/>
    <p:sldId id="269" r:id="rId18"/>
    <p:sldId id="270" r:id="rId19"/>
    <p:sldId id="284" r:id="rId20"/>
    <p:sldId id="285" r:id="rId21"/>
    <p:sldId id="286" r:id="rId22"/>
    <p:sldId id="287" r:id="rId23"/>
    <p:sldId id="288" r:id="rId24"/>
    <p:sldId id="271" r:id="rId25"/>
    <p:sldId id="272" r:id="rId26"/>
    <p:sldId id="273" r:id="rId27"/>
    <p:sldId id="274" r:id="rId28"/>
    <p:sldId id="263" r:id="rId29"/>
    <p:sldId id="276" r:id="rId30"/>
    <p:sldId id="277" r:id="rId31"/>
    <p:sldId id="278" r:id="rId32"/>
    <p:sldId id="292" r:id="rId33"/>
    <p:sldId id="291" r:id="rId34"/>
    <p:sldId id="280" r:id="rId35"/>
    <p:sldId id="293" r:id="rId36"/>
    <p:sldId id="289" r:id="rId37"/>
    <p:sldId id="294" r:id="rId38"/>
    <p:sldId id="290" r:id="rId39"/>
    <p:sldId id="296" r:id="rId40"/>
    <p:sldId id="297" r:id="rId41"/>
    <p:sldId id="316" r:id="rId42"/>
    <p:sldId id="317" r:id="rId43"/>
    <p:sldId id="298" r:id="rId44"/>
    <p:sldId id="322" r:id="rId45"/>
    <p:sldId id="299" r:id="rId46"/>
    <p:sldId id="323" r:id="rId47"/>
    <p:sldId id="300" r:id="rId48"/>
    <p:sldId id="324" r:id="rId49"/>
    <p:sldId id="301" r:id="rId50"/>
    <p:sldId id="325" r:id="rId51"/>
    <p:sldId id="302" r:id="rId52"/>
    <p:sldId id="326" r:id="rId53"/>
    <p:sldId id="303" r:id="rId54"/>
    <p:sldId id="327" r:id="rId55"/>
    <p:sldId id="304" r:id="rId56"/>
    <p:sldId id="328" r:id="rId57"/>
    <p:sldId id="305" r:id="rId58"/>
    <p:sldId id="329" r:id="rId59"/>
    <p:sldId id="306" r:id="rId60"/>
    <p:sldId id="330" r:id="rId61"/>
    <p:sldId id="307" r:id="rId62"/>
    <p:sldId id="331" r:id="rId63"/>
    <p:sldId id="308" r:id="rId64"/>
    <p:sldId id="332" r:id="rId65"/>
    <p:sldId id="309" r:id="rId66"/>
    <p:sldId id="333" r:id="rId67"/>
    <p:sldId id="310" r:id="rId68"/>
    <p:sldId id="334" r:id="rId69"/>
    <p:sldId id="312" r:id="rId70"/>
    <p:sldId id="311" r:id="rId71"/>
    <p:sldId id="313" r:id="rId72"/>
    <p:sldId id="314" r:id="rId73"/>
    <p:sldId id="315" r:id="rId74"/>
    <p:sldId id="318" r:id="rId75"/>
    <p:sldId id="319" r:id="rId76"/>
    <p:sldId id="320" r:id="rId77"/>
    <p:sldId id="321" r:id="rId7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9" d="100"/>
          <a:sy n="69" d="100"/>
        </p:scale>
        <p:origin x="56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2E0550-FFB8-4485-9FBB-421DC5D56EEF}" type="datetimeFigureOut">
              <a:rPr lang="it-IT" smtClean="0"/>
              <a:t>17/08/2026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334DDC-2319-4E41-B11F-DBFDAD7390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27792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34DDC-2319-4E41-B11F-DBFDAD73907E}" type="slidenum">
              <a:rPr lang="it-IT" smtClean="0"/>
              <a:t>30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31873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439234-71D6-F358-A6C6-A2E8A8B56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A6F7443-42FF-2F84-8CC6-8A299DDA7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642131C-038C-7DFD-7F2D-970A72A46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44D5C-32F0-4134-A5C6-8F06293D46C1}" type="datetimeFigureOut">
              <a:rPr lang="it-IT" smtClean="0"/>
              <a:t>17/08/2026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D7B6C33-911F-E5E0-2FE1-57EBBE2BF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2A4F8FD-883D-C1FF-FD8F-443FC01CE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59D02-4A00-4E84-B495-F39911312CD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14180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7AD37B-C989-7F7E-86F6-7344C95B9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43ABD55-1D8E-6DBB-0B32-5382BF33F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8724541-1033-4D4B-D0C9-B4FA0BFFE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44D5C-32F0-4134-A5C6-8F06293D46C1}" type="datetimeFigureOut">
              <a:rPr lang="it-IT" smtClean="0"/>
              <a:t>17/08/2026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65E4B00-60B5-6DEA-037C-CAC8ECD38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1B0E160-D055-4B3D-8F27-8423D9851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59D02-4A00-4E84-B495-F39911312CD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1645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9E378C-15AD-DD6A-E8BB-727B232AB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EFF6538-7A85-A726-4B11-C3BD0BDAA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5A1C981-826C-D010-A712-827584DAE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44D5C-32F0-4134-A5C6-8F06293D46C1}" type="datetimeFigureOut">
              <a:rPr lang="it-IT" smtClean="0"/>
              <a:t>17/08/2026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726F74B-159A-ECD7-DD58-613070E10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AFB8667-88E2-72A9-7C85-B8EAD64E4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59D02-4A00-4E84-B495-F39911312CD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3299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FBC0129-E4BE-B726-ADB4-29E9D8CB3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A78E5BB-C05F-58C6-29B4-AD9EF1FEF2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A103CF4-80A5-8404-6098-542BEA233F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4B69FAF-3B1D-E1B8-7173-9E1622AE9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44D5C-32F0-4134-A5C6-8F06293D46C1}" type="datetimeFigureOut">
              <a:rPr lang="it-IT" smtClean="0"/>
              <a:t>17/08/2026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FC792AB-8E51-BDD3-63A0-1D51343A6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FC6A859-64EA-7B21-151E-6024AB632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59D02-4A00-4E84-B495-F39911312CD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43096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CC958E6-D08B-CE79-F331-C175F2AAC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0E162EF-271C-5DCF-6E97-D1FA6F3C6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64737F6-9AA1-8C11-4060-710322FA77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A981B46-686D-D8C0-2FFE-DAAE36D512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F5AFB02-5994-4914-7AB2-31C90AF20B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CB7F6DEC-2A55-12F9-EF89-3B49779A6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44D5C-32F0-4134-A5C6-8F06293D46C1}" type="datetimeFigureOut">
              <a:rPr lang="it-IT" smtClean="0"/>
              <a:t>17/08/2026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F27F2ACF-0EF9-54A3-5DC3-094F16714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C8243BFC-6A21-7FA3-1763-38CD110D5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59D02-4A00-4E84-B495-F39911312CD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39123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C36C968-0022-A6D2-BDE3-9A0EF1015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41BDA85-F38D-2D7F-FF3D-0DA0AE0D2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44D5C-32F0-4134-A5C6-8F06293D46C1}" type="datetimeFigureOut">
              <a:rPr lang="it-IT" smtClean="0"/>
              <a:t>17/08/2026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4309028-C3E5-4B28-4AAE-6D1576D72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D1E344A-791F-1307-FCAB-70CF79322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59D02-4A00-4E84-B495-F39911312CD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26563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F59AFDA5-87A3-480D-9AE2-716B6FF64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44D5C-32F0-4134-A5C6-8F06293D46C1}" type="datetimeFigureOut">
              <a:rPr lang="it-IT" smtClean="0"/>
              <a:t>17/08/2026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2D62E88-11C5-59A2-4F04-9796E7B10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2C66DAE-7C4D-9807-175B-7BC21E1A5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59D02-4A00-4E84-B495-F39911312CD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01670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6B1B11C-A8B1-C3F7-6202-0EBC223D0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E206FAD-DA62-DFCB-79C6-F6BA543A2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2F3AE70-10AF-40D0-ED73-AF21BCFE75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C87C4EA-AA2A-3360-56BF-A26712F7C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44D5C-32F0-4134-A5C6-8F06293D46C1}" type="datetimeFigureOut">
              <a:rPr lang="it-IT" smtClean="0"/>
              <a:t>17/08/2026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398C459-6C9A-E99D-DC3F-CD3ADC1E3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792A3A6-EB98-DC55-791F-D07EB30D1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59D02-4A00-4E84-B495-F39911312CD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77327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D9353B-FA7B-8EDA-6247-03152DB66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96918D0E-FFDA-F827-74DD-F121EECBEC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4238409-BB7C-3C2A-2613-8D4A9918B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6FF666B-59C8-F512-04F2-28E6B6A1A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44D5C-32F0-4134-A5C6-8F06293D46C1}" type="datetimeFigureOut">
              <a:rPr lang="it-IT" smtClean="0"/>
              <a:t>17/08/2026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FA6974C-BAD4-D512-1FFD-CC2F1DA88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228D210-AFC4-106D-8519-B5E0452FB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59D02-4A00-4E84-B495-F39911312CD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563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6EB3DF-6F79-26CC-4031-301E34271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7576A92-05A3-3A20-32DD-CEC5445134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D3DC53D-C279-17A0-DA1D-5BC29E8BF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44D5C-32F0-4134-A5C6-8F06293D46C1}" type="datetimeFigureOut">
              <a:rPr lang="it-IT" smtClean="0"/>
              <a:t>17/08/2026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3131C97-37CE-75BF-0AC8-58FE23981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40D3BA4-8FB0-8FCA-C65B-DF426C3F0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59D02-4A00-4E84-B495-F39911312CD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08931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2E0DCBC-0DE7-DCFD-ED2F-EFF998A9DE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AB6B768-38B8-2E26-06AF-7F0FB36CE2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F522A38-94D4-EFBF-2E78-7DBB97FC6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44D5C-32F0-4134-A5C6-8F06293D46C1}" type="datetimeFigureOut">
              <a:rPr lang="it-IT" smtClean="0"/>
              <a:t>17/08/2026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C2B4456-BCC5-CD3D-5CE4-AEDCDE719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2EB3DD2-D3A1-8E61-C052-1E11718D4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59D02-4A00-4E84-B495-F39911312CD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8511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412AE9E-FF87-B7F6-4338-47AF1CF0F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9B62220-2BE4-C5B7-A3B6-E27C88F47B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88237D3-3C67-24E7-1CDC-E660365BE1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C44D5C-32F0-4134-A5C6-8F06293D46C1}" type="datetimeFigureOut">
              <a:rPr lang="it-IT" smtClean="0"/>
              <a:t>17/08/2026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4D756BC-AC48-7BD0-15A4-8A5F06703E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AE861EE-BC71-9785-0E86-D86EFCF40A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559D02-4A00-4E84-B495-F39911312CD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57982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B27238-235F-314E-AB8D-A80ED616D4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it-IT" sz="2800" b="1" dirty="0">
                <a:effectLst/>
              </a:rPr>
              <a:t>Gut Microbiota Analysis in TEC </a:t>
            </a:r>
            <a:r>
              <a:rPr lang="it-IT" sz="2800" b="1" dirty="0" err="1">
                <a:effectLst/>
              </a:rPr>
              <a:t>Patients</a:t>
            </a:r>
            <a:r>
              <a:rPr lang="it-IT" sz="2800" dirty="0">
                <a:effectLst/>
              </a:rPr>
              <a:t> </a:t>
            </a:r>
            <a:br>
              <a:rPr lang="it-IT" sz="2800" dirty="0">
                <a:effectLst/>
              </a:rPr>
            </a:br>
            <a:r>
              <a:rPr lang="it-IT" sz="2400" dirty="0">
                <a:effectLst/>
              </a:rPr>
              <a:t>Alpha </a:t>
            </a:r>
            <a:r>
              <a:rPr lang="it-IT" sz="2400" dirty="0" err="1">
                <a:effectLst/>
              </a:rPr>
              <a:t>Diversity</a:t>
            </a:r>
            <a:r>
              <a:rPr lang="it-IT" sz="2400" dirty="0"/>
              <a:t>-</a:t>
            </a:r>
            <a:r>
              <a:rPr lang="it-IT" sz="2400" dirty="0">
                <a:effectLst/>
              </a:rPr>
              <a:t>Beta </a:t>
            </a:r>
            <a:r>
              <a:rPr lang="it-IT" sz="2400" dirty="0" err="1">
                <a:effectLst/>
              </a:rPr>
              <a:t>Diversity</a:t>
            </a:r>
            <a:r>
              <a:rPr lang="it-IT" sz="2400" dirty="0" err="1"/>
              <a:t>-</a:t>
            </a:r>
            <a:r>
              <a:rPr lang="it-IT" sz="2400" dirty="0" err="1">
                <a:effectLst/>
              </a:rPr>
              <a:t>Microbial</a:t>
            </a:r>
            <a:r>
              <a:rPr lang="it-IT" sz="2400" dirty="0">
                <a:effectLst/>
              </a:rPr>
              <a:t> </a:t>
            </a:r>
            <a:r>
              <a:rPr lang="it-IT" sz="2400" dirty="0" err="1">
                <a:effectLst/>
              </a:rPr>
              <a:t>Composition</a:t>
            </a:r>
            <a:r>
              <a:rPr lang="it-IT" sz="2400" dirty="0">
                <a:effectLst/>
              </a:rPr>
              <a:t> (</a:t>
            </a:r>
            <a:r>
              <a:rPr lang="it-IT" sz="2400" dirty="0" err="1">
                <a:effectLst/>
              </a:rPr>
              <a:t>Stacked</a:t>
            </a:r>
            <a:r>
              <a:rPr lang="it-IT" sz="2400" dirty="0">
                <a:effectLst/>
              </a:rPr>
              <a:t> Bars)</a:t>
            </a:r>
            <a:br>
              <a:rPr lang="it-IT" sz="2800" dirty="0"/>
            </a:br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1224780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C0BB702-7D80-4F90-57CA-0A1A0F2DE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Report </a:t>
            </a:r>
            <a:r>
              <a:rPr lang="it-IT" dirty="0" err="1"/>
              <a:t>Objectives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1292DE3-36AC-3201-2D85-59FB37E71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 err="1">
                <a:effectLst/>
              </a:rPr>
              <a:t>Evaluate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within</a:t>
            </a:r>
            <a:r>
              <a:rPr lang="it-IT" dirty="0">
                <a:effectLst/>
              </a:rPr>
              <a:t>‑sample </a:t>
            </a:r>
            <a:r>
              <a:rPr lang="it-IT" dirty="0" err="1">
                <a:effectLst/>
              </a:rPr>
              <a:t>microbial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diversity</a:t>
            </a:r>
            <a:r>
              <a:rPr lang="it-IT" dirty="0">
                <a:effectLst/>
              </a:rPr>
              <a:t> (</a:t>
            </a:r>
            <a:r>
              <a:rPr lang="it-IT" b="1" dirty="0">
                <a:effectLst/>
              </a:rPr>
              <a:t>alpha </a:t>
            </a:r>
            <a:r>
              <a:rPr lang="it-IT" b="1" dirty="0" err="1">
                <a:effectLst/>
              </a:rPr>
              <a:t>diversity</a:t>
            </a:r>
            <a:r>
              <a:rPr lang="it-IT" dirty="0">
                <a:effectLst/>
              </a:rPr>
              <a:t>)</a:t>
            </a:r>
            <a:endParaRPr lang="it-IT" dirty="0"/>
          </a:p>
          <a:p>
            <a:r>
              <a:rPr lang="it-IT" dirty="0" err="1">
                <a:effectLst/>
              </a:rPr>
              <a:t>Assess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between</a:t>
            </a:r>
            <a:r>
              <a:rPr lang="it-IT" dirty="0">
                <a:effectLst/>
              </a:rPr>
              <a:t>‑sample </a:t>
            </a:r>
            <a:r>
              <a:rPr lang="it-IT" dirty="0" err="1">
                <a:effectLst/>
              </a:rPr>
              <a:t>differences</a:t>
            </a:r>
            <a:r>
              <a:rPr lang="it-IT" dirty="0">
                <a:effectLst/>
              </a:rPr>
              <a:t> (</a:t>
            </a:r>
            <a:r>
              <a:rPr lang="it-IT" b="1" dirty="0">
                <a:effectLst/>
              </a:rPr>
              <a:t>beta </a:t>
            </a:r>
            <a:r>
              <a:rPr lang="it-IT" b="1" dirty="0" err="1">
                <a:effectLst/>
              </a:rPr>
              <a:t>diversity</a:t>
            </a:r>
            <a:r>
              <a:rPr lang="it-IT" dirty="0">
                <a:effectLst/>
              </a:rPr>
              <a:t>)</a:t>
            </a:r>
            <a:endParaRPr lang="it-IT" dirty="0"/>
          </a:p>
          <a:p>
            <a:r>
              <a:rPr lang="it-IT" dirty="0" err="1">
                <a:effectLst/>
              </a:rPr>
              <a:t>Describe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microbial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composition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through</a:t>
            </a:r>
            <a:r>
              <a:rPr lang="it-IT" dirty="0">
                <a:effectLst/>
              </a:rPr>
              <a:t> </a:t>
            </a:r>
            <a:r>
              <a:rPr lang="it-IT" b="1" dirty="0" err="1">
                <a:effectLst/>
              </a:rPr>
              <a:t>stacked</a:t>
            </a:r>
            <a:r>
              <a:rPr lang="it-IT" b="1" dirty="0">
                <a:effectLst/>
              </a:rPr>
              <a:t> bar plots</a:t>
            </a:r>
            <a:endParaRPr lang="it-IT" dirty="0"/>
          </a:p>
          <a:p>
            <a:r>
              <a:rPr lang="it-IT" dirty="0" err="1">
                <a:effectLst/>
              </a:rPr>
              <a:t>Examine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associations</a:t>
            </a:r>
            <a:r>
              <a:rPr lang="it-IT" dirty="0">
                <a:effectLst/>
              </a:rPr>
              <a:t> with clinical </a:t>
            </a:r>
            <a:r>
              <a:rPr lang="it-IT" dirty="0" err="1">
                <a:effectLst/>
              </a:rPr>
              <a:t>variables</a:t>
            </a:r>
            <a:r>
              <a:rPr lang="it-IT" dirty="0">
                <a:effectLst/>
              </a:rPr>
              <a:t>:</a:t>
            </a:r>
            <a:endParaRPr lang="it-IT" dirty="0"/>
          </a:p>
          <a:p>
            <a:pPr marL="0" indent="0">
              <a:buNone/>
            </a:pPr>
            <a:r>
              <a:rPr lang="it-IT" dirty="0"/>
              <a:t>- s</a:t>
            </a:r>
            <a:r>
              <a:rPr lang="it-IT" dirty="0">
                <a:effectLst/>
              </a:rPr>
              <a:t>ex, smoking </a:t>
            </a:r>
            <a:r>
              <a:rPr lang="it-IT" dirty="0" err="1">
                <a:effectLst/>
              </a:rPr>
              <a:t>habit</a:t>
            </a:r>
            <a:r>
              <a:rPr lang="it-IT" dirty="0">
                <a:effectLst/>
              </a:rPr>
              <a:t>, </a:t>
            </a:r>
            <a:r>
              <a:rPr lang="it-IT" dirty="0" err="1">
                <a:effectLst/>
              </a:rPr>
              <a:t>physical</a:t>
            </a:r>
            <a:r>
              <a:rPr lang="it-IT" dirty="0">
                <a:effectLst/>
              </a:rPr>
              <a:t> activity</a:t>
            </a:r>
            <a:endParaRPr lang="it-IT" dirty="0"/>
          </a:p>
          <a:p>
            <a:pPr marL="0" indent="0">
              <a:buNone/>
            </a:pPr>
            <a:r>
              <a:rPr lang="it-IT" dirty="0">
                <a:effectLst/>
              </a:rPr>
              <a:t>- </a:t>
            </a:r>
            <a:r>
              <a:rPr lang="it-IT" dirty="0" err="1">
                <a:effectLst/>
              </a:rPr>
              <a:t>lesions</a:t>
            </a:r>
            <a:r>
              <a:rPr lang="it-IT" dirty="0">
                <a:effectLst/>
              </a:rPr>
              <a:t>, relapse, cortisone</a:t>
            </a:r>
            <a:endParaRPr lang="it-IT" dirty="0"/>
          </a:p>
          <a:p>
            <a:pPr marL="0" indent="0">
              <a:buNone/>
            </a:pPr>
            <a:r>
              <a:rPr lang="it-IT" dirty="0">
                <a:effectLst/>
              </a:rPr>
              <a:t>- naïve status, therapy switch</a:t>
            </a:r>
            <a:endParaRPr lang="it-IT" dirty="0"/>
          </a:p>
          <a:p>
            <a:pPr marL="0" indent="0">
              <a:buNone/>
            </a:pPr>
            <a:r>
              <a:rPr lang="it-IT" dirty="0">
                <a:effectLst/>
              </a:rPr>
              <a:t>- BMI, MEDAS score</a:t>
            </a:r>
            <a:endParaRPr lang="it-IT" dirty="0"/>
          </a:p>
          <a:p>
            <a:pPr marL="0" indent="0">
              <a:buNone/>
            </a:pPr>
            <a:r>
              <a:rPr lang="it-IT" dirty="0">
                <a:effectLst/>
              </a:rPr>
              <a:t>- </a:t>
            </a:r>
            <a:r>
              <a:rPr lang="it-IT" dirty="0" err="1">
                <a:effectLst/>
              </a:rPr>
              <a:t>timepoints</a:t>
            </a:r>
            <a:r>
              <a:rPr lang="it-IT" dirty="0">
                <a:effectLst/>
              </a:rPr>
              <a:t> (T0, T1, T12)</a:t>
            </a: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06031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717010-EF3C-AAC8-9043-9C485C9C2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Alpha </a:t>
            </a:r>
            <a:r>
              <a:rPr lang="it-IT" dirty="0" err="1"/>
              <a:t>Diversity</a:t>
            </a:r>
            <a:r>
              <a:rPr lang="it-IT" dirty="0"/>
              <a:t>: Key Concepts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54E9760-968B-5B6E-7C7A-EA6304669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b="1" dirty="0">
                <a:effectLst/>
              </a:rPr>
              <a:t>Shannon</a:t>
            </a:r>
            <a:r>
              <a:rPr lang="it-IT" dirty="0">
                <a:effectLst/>
              </a:rPr>
              <a:t> → </a:t>
            </a:r>
            <a:r>
              <a:rPr lang="it-IT" dirty="0" err="1">
                <a:effectLst/>
              </a:rPr>
              <a:t>richness</a:t>
            </a:r>
            <a:r>
              <a:rPr lang="it-IT" dirty="0">
                <a:effectLst/>
              </a:rPr>
              <a:t> + </a:t>
            </a:r>
            <a:r>
              <a:rPr lang="it-IT" dirty="0" err="1">
                <a:effectLst/>
              </a:rPr>
              <a:t>evenness</a:t>
            </a:r>
            <a:endParaRPr lang="it-IT" dirty="0"/>
          </a:p>
          <a:p>
            <a:r>
              <a:rPr lang="it-IT" b="1" dirty="0">
                <a:effectLst/>
              </a:rPr>
              <a:t>Simpson</a:t>
            </a:r>
            <a:r>
              <a:rPr lang="it-IT" dirty="0">
                <a:effectLst/>
              </a:rPr>
              <a:t> → </a:t>
            </a:r>
            <a:r>
              <a:rPr lang="it-IT" dirty="0" err="1">
                <a:effectLst/>
              </a:rPr>
              <a:t>dominance</a:t>
            </a:r>
            <a:r>
              <a:rPr lang="it-IT" dirty="0">
                <a:effectLst/>
              </a:rPr>
              <a:t> vs balance</a:t>
            </a:r>
            <a:endParaRPr lang="it-IT" dirty="0"/>
          </a:p>
          <a:p>
            <a:r>
              <a:rPr lang="it-IT" b="1" dirty="0" err="1">
                <a:effectLst/>
              </a:rPr>
              <a:t>Observed</a:t>
            </a:r>
            <a:r>
              <a:rPr lang="it-IT" b="1" dirty="0">
                <a:effectLst/>
              </a:rPr>
              <a:t> </a:t>
            </a:r>
            <a:r>
              <a:rPr lang="it-IT" b="1" dirty="0" err="1">
                <a:effectLst/>
              </a:rPr>
              <a:t>richness</a:t>
            </a:r>
            <a:r>
              <a:rPr lang="it-IT" dirty="0">
                <a:effectLst/>
              </a:rPr>
              <a:t> → </a:t>
            </a:r>
            <a:r>
              <a:rPr lang="it-IT" dirty="0" err="1">
                <a:effectLst/>
              </a:rPr>
              <a:t>number</a:t>
            </a:r>
            <a:r>
              <a:rPr lang="it-IT" dirty="0">
                <a:effectLst/>
              </a:rPr>
              <a:t> of </a:t>
            </a:r>
            <a:r>
              <a:rPr lang="it-IT" dirty="0" err="1">
                <a:effectLst/>
              </a:rPr>
              <a:t>detected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species</a:t>
            </a:r>
            <a:endParaRPr lang="it-IT" dirty="0"/>
          </a:p>
          <a:p>
            <a:pPr marL="0" indent="0">
              <a:buNone/>
            </a:pPr>
            <a:endParaRPr lang="it-IT" dirty="0">
              <a:effectLst/>
            </a:endParaRPr>
          </a:p>
          <a:p>
            <a:pPr marL="0" indent="0">
              <a:buNone/>
            </a:pPr>
            <a:r>
              <a:rPr lang="it-IT" dirty="0">
                <a:effectLst/>
              </a:rPr>
              <a:t>Alpha </a:t>
            </a:r>
            <a:r>
              <a:rPr lang="it-IT" dirty="0" err="1">
                <a:effectLst/>
              </a:rPr>
              <a:t>diversity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measures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how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diversified</a:t>
            </a:r>
            <a:r>
              <a:rPr lang="it-IT" dirty="0">
                <a:effectLst/>
              </a:rPr>
              <a:t> the microbiota </a:t>
            </a:r>
            <a:r>
              <a:rPr lang="it-IT" dirty="0" err="1">
                <a:effectLst/>
              </a:rPr>
              <a:t>is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within</a:t>
            </a:r>
            <a:r>
              <a:rPr lang="it-IT" dirty="0">
                <a:effectLst/>
              </a:rPr>
              <a:t> a single sample.</a:t>
            </a: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61198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5C772D-9574-048E-54E8-E05084273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Alpha </a:t>
            </a:r>
            <a:r>
              <a:rPr lang="it-IT" dirty="0" err="1"/>
              <a:t>Diversity</a:t>
            </a:r>
            <a:r>
              <a:rPr lang="it-IT" dirty="0"/>
              <a:t>: </a:t>
            </a:r>
            <a:r>
              <a:rPr lang="it-IT" dirty="0" err="1"/>
              <a:t>approach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12F4FA-E890-37DB-5C9A-885C871DA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b="1" dirty="0" err="1">
                <a:effectLst/>
              </a:rPr>
              <a:t>Variables</a:t>
            </a:r>
            <a:r>
              <a:rPr lang="it-IT" b="1" dirty="0">
                <a:effectLst/>
              </a:rPr>
              <a:t> </a:t>
            </a:r>
            <a:r>
              <a:rPr lang="it-IT" b="1" dirty="0" err="1">
                <a:effectLst/>
              </a:rPr>
              <a:t>measured</a:t>
            </a:r>
            <a:r>
              <a:rPr lang="it-IT" b="1" dirty="0">
                <a:effectLst/>
              </a:rPr>
              <a:t> </a:t>
            </a:r>
            <a:r>
              <a:rPr lang="it-IT" b="1" dirty="0" err="1">
                <a:effectLst/>
              </a:rPr>
              <a:t>only</a:t>
            </a:r>
            <a:r>
              <a:rPr lang="it-IT" b="1" dirty="0">
                <a:effectLst/>
              </a:rPr>
              <a:t> </a:t>
            </a:r>
            <a:r>
              <a:rPr lang="it-IT" b="1" dirty="0" err="1">
                <a:effectLst/>
              </a:rPr>
              <a:t>at</a:t>
            </a:r>
            <a:r>
              <a:rPr lang="it-IT" b="1" dirty="0">
                <a:effectLst/>
              </a:rPr>
              <a:t> baseline (T0)</a:t>
            </a:r>
            <a:r>
              <a:rPr lang="it-IT" dirty="0">
                <a:effectLst/>
              </a:rPr>
              <a:t> For </a:t>
            </a:r>
            <a:r>
              <a:rPr lang="it-IT" dirty="0" err="1">
                <a:effectLst/>
              </a:rPr>
              <a:t>variables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not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monitored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during</a:t>
            </a:r>
            <a:r>
              <a:rPr lang="it-IT" dirty="0">
                <a:effectLst/>
              </a:rPr>
              <a:t> follow‑up — </a:t>
            </a:r>
            <a:r>
              <a:rPr lang="it-IT" dirty="0" err="1">
                <a:effectLst/>
              </a:rPr>
              <a:t>such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as</a:t>
            </a:r>
            <a:r>
              <a:rPr lang="it-IT" dirty="0">
                <a:effectLst/>
              </a:rPr>
              <a:t> sex, naïve status, </a:t>
            </a:r>
            <a:r>
              <a:rPr lang="it-IT" dirty="0" err="1">
                <a:effectLst/>
              </a:rPr>
              <a:t>physical</a:t>
            </a:r>
            <a:r>
              <a:rPr lang="it-IT" dirty="0">
                <a:effectLst/>
              </a:rPr>
              <a:t> activity, smoking </a:t>
            </a:r>
            <a:r>
              <a:rPr lang="it-IT" dirty="0" err="1">
                <a:effectLst/>
              </a:rPr>
              <a:t>habit</a:t>
            </a:r>
            <a:r>
              <a:rPr lang="it-IT" dirty="0">
                <a:effectLst/>
              </a:rPr>
              <a:t>, and </a:t>
            </a:r>
            <a:r>
              <a:rPr lang="it-IT" dirty="0" err="1">
                <a:effectLst/>
              </a:rPr>
              <a:t>other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static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characteristics</a:t>
            </a:r>
            <a:r>
              <a:rPr lang="it-IT" dirty="0">
                <a:effectLst/>
              </a:rPr>
              <a:t> — the subset </a:t>
            </a:r>
            <a:r>
              <a:rPr lang="it-IT" dirty="0" err="1">
                <a:effectLst/>
              </a:rPr>
              <a:t>included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only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unique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patients</a:t>
            </a:r>
            <a:r>
              <a:rPr lang="it-IT" dirty="0">
                <a:effectLst/>
              </a:rPr>
              <a:t> (ID). </a:t>
            </a:r>
            <a:r>
              <a:rPr lang="it-IT" dirty="0" err="1">
                <a:effectLst/>
              </a:rPr>
              <a:t>This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ensures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that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each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patient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contributes</a:t>
            </a:r>
            <a:r>
              <a:rPr lang="it-IT" dirty="0">
                <a:effectLst/>
              </a:rPr>
              <a:t> a single baseline sample to the </a:t>
            </a:r>
            <a:r>
              <a:rPr lang="it-IT" dirty="0" err="1">
                <a:effectLst/>
              </a:rPr>
              <a:t>comparison</a:t>
            </a:r>
            <a:r>
              <a:rPr lang="it-IT" dirty="0">
                <a:effectLst/>
              </a:rPr>
              <a:t>.</a:t>
            </a:r>
            <a:endParaRPr lang="it-IT" dirty="0"/>
          </a:p>
          <a:p>
            <a:r>
              <a:rPr lang="it-IT" b="1" dirty="0" err="1">
                <a:effectLst/>
              </a:rPr>
              <a:t>Variables</a:t>
            </a:r>
            <a:r>
              <a:rPr lang="it-IT" b="1" dirty="0">
                <a:effectLst/>
              </a:rPr>
              <a:t> </a:t>
            </a:r>
            <a:r>
              <a:rPr lang="it-IT" b="1" dirty="0" err="1">
                <a:effectLst/>
              </a:rPr>
              <a:t>monitored</a:t>
            </a:r>
            <a:r>
              <a:rPr lang="it-IT" b="1" dirty="0">
                <a:effectLst/>
              </a:rPr>
              <a:t> </a:t>
            </a:r>
            <a:r>
              <a:rPr lang="it-IT" b="1" dirty="0" err="1">
                <a:effectLst/>
              </a:rPr>
              <a:t>across</a:t>
            </a:r>
            <a:r>
              <a:rPr lang="it-IT" b="1" dirty="0">
                <a:effectLst/>
              </a:rPr>
              <a:t> follow‑up (T0, T1, T12)</a:t>
            </a:r>
            <a:r>
              <a:rPr lang="it-IT" dirty="0">
                <a:effectLst/>
              </a:rPr>
              <a:t> For </a:t>
            </a:r>
            <a:r>
              <a:rPr lang="it-IT" dirty="0" err="1">
                <a:effectLst/>
              </a:rPr>
              <a:t>dynamic</a:t>
            </a:r>
            <a:r>
              <a:rPr lang="it-IT" dirty="0">
                <a:effectLst/>
              </a:rPr>
              <a:t> clinical </a:t>
            </a:r>
            <a:r>
              <a:rPr lang="it-IT" dirty="0" err="1">
                <a:effectLst/>
              </a:rPr>
              <a:t>variables</a:t>
            </a:r>
            <a:r>
              <a:rPr lang="it-IT" dirty="0">
                <a:effectLst/>
              </a:rPr>
              <a:t> — </a:t>
            </a:r>
            <a:r>
              <a:rPr lang="it-IT" dirty="0" err="1">
                <a:effectLst/>
              </a:rPr>
              <a:t>such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as</a:t>
            </a:r>
            <a:r>
              <a:rPr lang="it-IT" dirty="0">
                <a:effectLst/>
              </a:rPr>
              <a:t> new </a:t>
            </a:r>
            <a:r>
              <a:rPr lang="it-IT" dirty="0" err="1">
                <a:effectLst/>
              </a:rPr>
              <a:t>lesions</a:t>
            </a:r>
            <a:r>
              <a:rPr lang="it-IT" dirty="0">
                <a:effectLst/>
              </a:rPr>
              <a:t>, </a:t>
            </a:r>
            <a:r>
              <a:rPr lang="it-IT" dirty="0" err="1">
                <a:effectLst/>
              </a:rPr>
              <a:t>relapses</a:t>
            </a:r>
            <a:r>
              <a:rPr lang="it-IT" dirty="0">
                <a:effectLst/>
              </a:rPr>
              <a:t>, or cortisone use — alpha </a:t>
            </a:r>
            <a:r>
              <a:rPr lang="it-IT" dirty="0" err="1">
                <a:effectLst/>
              </a:rPr>
              <a:t>diversity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was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stratified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across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all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three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timepoints</a:t>
            </a:r>
            <a:r>
              <a:rPr lang="it-IT" dirty="0">
                <a:effectLst/>
              </a:rPr>
              <a:t> (T0, T1, T12). </a:t>
            </a:r>
            <a:r>
              <a:rPr lang="it-IT" dirty="0" err="1">
                <a:effectLst/>
              </a:rPr>
              <a:t>This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allowed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us</a:t>
            </a:r>
            <a:r>
              <a:rPr lang="it-IT" dirty="0">
                <a:effectLst/>
              </a:rPr>
              <a:t> to </a:t>
            </a:r>
            <a:r>
              <a:rPr lang="it-IT" dirty="0" err="1">
                <a:effectLst/>
              </a:rPr>
              <a:t>evaluate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whether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microbial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diversity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changed</a:t>
            </a:r>
            <a:r>
              <a:rPr lang="it-IT" dirty="0">
                <a:effectLst/>
              </a:rPr>
              <a:t> over time in relation to clinical events.</a:t>
            </a: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85199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FBB23CEB-7123-5C29-7F42-EE87BD4EB084}"/>
              </a:ext>
            </a:extLst>
          </p:cNvPr>
          <p:cNvSpPr txBox="1"/>
          <p:nvPr/>
        </p:nvSpPr>
        <p:spPr>
          <a:xfrm>
            <a:off x="503635" y="498085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Alpha </a:t>
            </a:r>
            <a:r>
              <a:rPr lang="it-IT" b="1" dirty="0" err="1"/>
              <a:t>diversity</a:t>
            </a:r>
            <a:r>
              <a:rPr lang="it-IT" b="1" dirty="0"/>
              <a:t> (SEX)</a:t>
            </a:r>
            <a:r>
              <a:rPr lang="it-IT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11644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404DCE17-3CD3-CAC9-1FE9-03F6FEE79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7350" y="1277359"/>
            <a:ext cx="5335490" cy="4207353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D8419F0B-156B-C2D3-0936-85F811F4EBAD}"/>
              </a:ext>
            </a:extLst>
          </p:cNvPr>
          <p:cNvSpPr txBox="1"/>
          <p:nvPr/>
        </p:nvSpPr>
        <p:spPr>
          <a:xfrm>
            <a:off x="660654" y="1717285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Alpha </a:t>
            </a:r>
            <a:r>
              <a:rPr lang="it-IT" b="1" dirty="0" err="1"/>
              <a:t>diversity</a:t>
            </a:r>
            <a:r>
              <a:rPr lang="it-IT" b="1" dirty="0"/>
              <a:t> (Shannon index)</a:t>
            </a:r>
            <a:r>
              <a:rPr lang="it-IT" dirty="0"/>
              <a:t> 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E09BE16-F3A6-B420-5FEB-C8E20ED95FDE}"/>
              </a:ext>
            </a:extLst>
          </p:cNvPr>
          <p:cNvSpPr txBox="1"/>
          <p:nvPr/>
        </p:nvSpPr>
        <p:spPr>
          <a:xfrm>
            <a:off x="724662" y="2585335"/>
            <a:ext cx="401193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dirty="0">
                <a:effectLst/>
              </a:rPr>
              <a:t>Analysis of </a:t>
            </a:r>
            <a:r>
              <a:rPr lang="it-IT" dirty="0" err="1">
                <a:effectLst/>
              </a:rPr>
              <a:t>microbial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diversity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considering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unique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IDs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as</a:t>
            </a:r>
            <a:r>
              <a:rPr lang="it-IT" dirty="0">
                <a:effectLst/>
              </a:rPr>
              <a:t> subset and </a:t>
            </a:r>
            <a:r>
              <a:rPr lang="it-IT" b="1" dirty="0">
                <a:effectLst/>
              </a:rPr>
              <a:t>naïve</a:t>
            </a:r>
            <a:r>
              <a:rPr lang="it-IT" dirty="0">
                <a:effectLst/>
              </a:rPr>
              <a:t> </a:t>
            </a:r>
            <a:r>
              <a:rPr lang="it-IT" b="1" dirty="0">
                <a:effectLst/>
              </a:rPr>
              <a:t>status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as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variable</a:t>
            </a:r>
            <a:r>
              <a:rPr lang="it-IT" dirty="0">
                <a:effectLst/>
              </a:rPr>
              <a:t>. </a:t>
            </a:r>
            <a:r>
              <a:rPr lang="it-IT" dirty="0" err="1">
                <a:effectLst/>
              </a:rPr>
              <a:t>Comparison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between</a:t>
            </a:r>
            <a:r>
              <a:rPr lang="it-IT" dirty="0">
                <a:effectLst/>
              </a:rPr>
              <a:t> naïve yes and no groups shows no </a:t>
            </a:r>
            <a:r>
              <a:rPr lang="it-IT" dirty="0" err="1">
                <a:effectLst/>
              </a:rPr>
              <a:t>significant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difference</a:t>
            </a:r>
            <a:r>
              <a:rPr lang="it-IT" dirty="0">
                <a:effectLst/>
              </a:rPr>
              <a:t> (</a:t>
            </a:r>
            <a:r>
              <a:rPr lang="it-IT" i="1" dirty="0">
                <a:effectLst/>
              </a:rPr>
              <a:t>t</a:t>
            </a:r>
            <a:r>
              <a:rPr lang="it-IT" dirty="0">
                <a:effectLst/>
              </a:rPr>
              <a:t>-test, </a:t>
            </a:r>
            <a:r>
              <a:rPr lang="it-IT" i="1" dirty="0">
                <a:effectLst/>
              </a:rPr>
              <a:t>p</a:t>
            </a:r>
            <a:r>
              <a:rPr lang="it-IT" dirty="0">
                <a:effectLst/>
              </a:rPr>
              <a:t> = 0.703).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49354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B435DBC8-6335-66E8-F4FB-F6B80F37C3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435422" y="2626191"/>
            <a:ext cx="5038720" cy="3977937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09ECD217-CD6A-0619-6830-FACE5E6C0B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164" y="2562183"/>
            <a:ext cx="4978202" cy="3977936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1827D8C7-4B8E-BFE9-F117-C2D7DEA4D1EE}"/>
              </a:ext>
            </a:extLst>
          </p:cNvPr>
          <p:cNvSpPr txBox="1"/>
          <p:nvPr/>
        </p:nvSpPr>
        <p:spPr>
          <a:xfrm>
            <a:off x="265176" y="170379"/>
            <a:ext cx="1181404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dirty="0">
                <a:effectLst/>
              </a:rPr>
              <a:t>Analysis of </a:t>
            </a:r>
            <a:r>
              <a:rPr lang="it-IT" dirty="0" err="1">
                <a:effectLst/>
              </a:rPr>
              <a:t>microbial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diversity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considering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unique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IDs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as</a:t>
            </a:r>
            <a:r>
              <a:rPr lang="it-IT" dirty="0">
                <a:effectLst/>
              </a:rPr>
              <a:t> subset and </a:t>
            </a:r>
            <a:r>
              <a:rPr lang="it-IT" dirty="0" err="1">
                <a:effectLst/>
              </a:rPr>
              <a:t>evaluating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two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variables</a:t>
            </a:r>
            <a:r>
              <a:rPr lang="it-IT" dirty="0">
                <a:effectLst/>
              </a:rPr>
              <a:t>:</a:t>
            </a:r>
            <a:endParaRPr lang="it-IT" dirty="0"/>
          </a:p>
          <a:p>
            <a:pPr>
              <a:buFont typeface="Arial" panose="020B0604020202020204" pitchFamily="34" charset="0"/>
              <a:buChar char="•"/>
            </a:pPr>
            <a:r>
              <a:rPr lang="it-IT" b="1" dirty="0" err="1">
                <a:effectLst/>
              </a:rPr>
              <a:t>Mediterranean</a:t>
            </a:r>
            <a:r>
              <a:rPr lang="it-IT" b="1" dirty="0">
                <a:effectLst/>
              </a:rPr>
              <a:t> </a:t>
            </a:r>
            <a:r>
              <a:rPr lang="it-IT" b="1" dirty="0" err="1">
                <a:effectLst/>
              </a:rPr>
              <a:t>diet</a:t>
            </a:r>
            <a:r>
              <a:rPr lang="it-IT" b="1" dirty="0">
                <a:effectLst/>
              </a:rPr>
              <a:t> </a:t>
            </a:r>
            <a:r>
              <a:rPr lang="it-IT" b="1" dirty="0" err="1">
                <a:effectLst/>
              </a:rPr>
              <a:t>adherence</a:t>
            </a:r>
            <a:r>
              <a:rPr lang="it-IT" b="1" dirty="0">
                <a:effectLst/>
              </a:rPr>
              <a:t> (</a:t>
            </a:r>
            <a:r>
              <a:rPr lang="it-IT" b="1" dirty="0" err="1">
                <a:effectLst/>
              </a:rPr>
              <a:t>medas_group</a:t>
            </a:r>
            <a:r>
              <a:rPr lang="it-IT" b="1" dirty="0">
                <a:effectLst/>
              </a:rPr>
              <a:t>)</a:t>
            </a:r>
            <a:r>
              <a:rPr lang="it-IT" dirty="0">
                <a:effectLst/>
              </a:rPr>
              <a:t> — </a:t>
            </a:r>
            <a:r>
              <a:rPr lang="it-IT" dirty="0" err="1">
                <a:effectLst/>
              </a:rPr>
              <a:t>comparison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between</a:t>
            </a:r>
            <a:r>
              <a:rPr lang="it-IT" dirty="0">
                <a:effectLst/>
              </a:rPr>
              <a:t> </a:t>
            </a:r>
            <a:r>
              <a:rPr lang="it-IT" i="1" dirty="0">
                <a:effectLst/>
              </a:rPr>
              <a:t>High</a:t>
            </a:r>
            <a:r>
              <a:rPr lang="it-IT" dirty="0">
                <a:effectLst/>
              </a:rPr>
              <a:t> and </a:t>
            </a:r>
            <a:r>
              <a:rPr lang="it-IT" i="1" dirty="0">
                <a:effectLst/>
              </a:rPr>
              <a:t>Low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adherence</a:t>
            </a:r>
            <a:r>
              <a:rPr lang="it-IT" dirty="0">
                <a:effectLst/>
              </a:rPr>
              <a:t> shows no </a:t>
            </a:r>
            <a:r>
              <a:rPr lang="it-IT" dirty="0" err="1">
                <a:effectLst/>
              </a:rPr>
              <a:t>significant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difference</a:t>
            </a:r>
            <a:r>
              <a:rPr lang="it-IT" dirty="0">
                <a:effectLst/>
              </a:rPr>
              <a:t> (</a:t>
            </a:r>
            <a:r>
              <a:rPr lang="it-IT" i="1" dirty="0">
                <a:effectLst/>
              </a:rPr>
              <a:t>t</a:t>
            </a:r>
            <a:r>
              <a:rPr lang="it-IT" dirty="0">
                <a:effectLst/>
              </a:rPr>
              <a:t>-test, </a:t>
            </a:r>
            <a:r>
              <a:rPr lang="it-IT" i="1" dirty="0">
                <a:effectLst/>
              </a:rPr>
              <a:t>p</a:t>
            </a:r>
            <a:r>
              <a:rPr lang="it-IT" dirty="0">
                <a:effectLst/>
              </a:rPr>
              <a:t> = 0.351).</a:t>
            </a:r>
            <a:endParaRPr lang="it-IT" dirty="0"/>
          </a:p>
          <a:p>
            <a:pPr>
              <a:buFont typeface="Arial" panose="020B0604020202020204" pitchFamily="34" charset="0"/>
              <a:buChar char="•"/>
            </a:pPr>
            <a:r>
              <a:rPr lang="it-IT" b="1" dirty="0">
                <a:effectLst/>
              </a:rPr>
              <a:t>Body mass index (</a:t>
            </a:r>
            <a:r>
              <a:rPr lang="it-IT" b="1" dirty="0" err="1">
                <a:effectLst/>
              </a:rPr>
              <a:t>bmi_group</a:t>
            </a:r>
            <a:r>
              <a:rPr lang="it-IT" b="1" dirty="0">
                <a:effectLst/>
              </a:rPr>
              <a:t>)</a:t>
            </a:r>
            <a:r>
              <a:rPr lang="it-IT" dirty="0">
                <a:effectLst/>
              </a:rPr>
              <a:t> — </a:t>
            </a:r>
            <a:r>
              <a:rPr lang="it-IT" dirty="0" err="1">
                <a:effectLst/>
              </a:rPr>
              <a:t>comparison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between</a:t>
            </a:r>
            <a:r>
              <a:rPr lang="it-IT" dirty="0">
                <a:effectLst/>
              </a:rPr>
              <a:t> </a:t>
            </a:r>
            <a:r>
              <a:rPr lang="it-IT" i="1" dirty="0">
                <a:effectLst/>
              </a:rPr>
              <a:t>Normal</a:t>
            </a:r>
            <a:r>
              <a:rPr lang="it-IT" dirty="0">
                <a:effectLst/>
              </a:rPr>
              <a:t> and </a:t>
            </a:r>
            <a:r>
              <a:rPr lang="it-IT" i="1" dirty="0" err="1">
                <a:effectLst/>
              </a:rPr>
              <a:t>Overweight</a:t>
            </a:r>
            <a:r>
              <a:rPr lang="it-IT" dirty="0">
                <a:effectLst/>
              </a:rPr>
              <a:t> groups shows a trend </a:t>
            </a:r>
            <a:r>
              <a:rPr lang="it-IT" dirty="0" err="1">
                <a:effectLst/>
              </a:rPr>
              <a:t>toward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lower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diversity</a:t>
            </a:r>
            <a:r>
              <a:rPr lang="it-IT" dirty="0">
                <a:effectLst/>
              </a:rPr>
              <a:t> in </a:t>
            </a:r>
            <a:r>
              <a:rPr lang="it-IT" dirty="0" err="1">
                <a:effectLst/>
              </a:rPr>
              <a:t>overweight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subjects</a:t>
            </a:r>
            <a:r>
              <a:rPr lang="it-IT" dirty="0">
                <a:effectLst/>
              </a:rPr>
              <a:t>, </a:t>
            </a:r>
            <a:r>
              <a:rPr lang="it-IT" dirty="0" err="1">
                <a:effectLst/>
              </a:rPr>
              <a:t>though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not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statistically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significant</a:t>
            </a:r>
            <a:r>
              <a:rPr lang="it-IT" dirty="0">
                <a:effectLst/>
              </a:rPr>
              <a:t> (</a:t>
            </a:r>
            <a:r>
              <a:rPr lang="it-IT" i="1" dirty="0">
                <a:effectLst/>
              </a:rPr>
              <a:t>t</a:t>
            </a:r>
            <a:r>
              <a:rPr lang="it-IT" dirty="0">
                <a:effectLst/>
              </a:rPr>
              <a:t>-test, </a:t>
            </a:r>
            <a:r>
              <a:rPr lang="it-IT" b="1" i="1" dirty="0">
                <a:effectLst/>
              </a:rPr>
              <a:t>p</a:t>
            </a:r>
            <a:r>
              <a:rPr lang="it-IT" b="1" dirty="0">
                <a:effectLst/>
              </a:rPr>
              <a:t> = 0.0523</a:t>
            </a:r>
            <a:r>
              <a:rPr lang="it-IT" dirty="0">
                <a:effectLst/>
              </a:rPr>
              <a:t>).</a:t>
            </a:r>
          </a:p>
          <a:p>
            <a:endParaRPr lang="it-IT" dirty="0"/>
          </a:p>
          <a:p>
            <a:r>
              <a:rPr lang="it-IT" dirty="0"/>
              <a:t>Both </a:t>
            </a:r>
            <a:r>
              <a:rPr lang="it-IT" dirty="0" err="1"/>
              <a:t>dietary</a:t>
            </a:r>
            <a:r>
              <a:rPr lang="it-IT" dirty="0"/>
              <a:t> </a:t>
            </a:r>
            <a:r>
              <a:rPr lang="it-IT" dirty="0" err="1"/>
              <a:t>adherence</a:t>
            </a:r>
            <a:r>
              <a:rPr lang="it-IT" dirty="0"/>
              <a:t> and BMI show non‑</a:t>
            </a:r>
            <a:r>
              <a:rPr lang="it-IT" dirty="0" err="1"/>
              <a:t>significant</a:t>
            </a:r>
            <a:r>
              <a:rPr lang="it-IT" dirty="0"/>
              <a:t> </a:t>
            </a:r>
            <a:r>
              <a:rPr lang="it-IT" dirty="0" err="1"/>
              <a:t>effects</a:t>
            </a:r>
            <a:r>
              <a:rPr lang="it-IT" dirty="0"/>
              <a:t> on alpha </a:t>
            </a:r>
            <a:r>
              <a:rPr lang="it-IT" dirty="0" err="1"/>
              <a:t>diversity</a:t>
            </a:r>
            <a:r>
              <a:rPr lang="it-IT" dirty="0"/>
              <a:t>, </a:t>
            </a:r>
            <a:r>
              <a:rPr lang="it-IT" dirty="0" err="1"/>
              <a:t>but</a:t>
            </a:r>
            <a:r>
              <a:rPr lang="it-IT" dirty="0"/>
              <a:t> the BMI </a:t>
            </a:r>
            <a:r>
              <a:rPr lang="it-IT" dirty="0" err="1"/>
              <a:t>comparison</a:t>
            </a:r>
            <a:r>
              <a:rPr lang="it-IT" dirty="0"/>
              <a:t> </a:t>
            </a:r>
            <a:r>
              <a:rPr lang="it-IT" dirty="0" err="1"/>
              <a:t>suggests</a:t>
            </a:r>
            <a:r>
              <a:rPr lang="it-IT" dirty="0"/>
              <a:t> a borderline trend </a:t>
            </a:r>
            <a:r>
              <a:rPr lang="it-IT" dirty="0" err="1"/>
              <a:t>worth</a:t>
            </a:r>
            <a:r>
              <a:rPr lang="it-IT" dirty="0"/>
              <a:t> </a:t>
            </a:r>
            <a:r>
              <a:rPr lang="it-IT" dirty="0" err="1"/>
              <a:t>exploring</a:t>
            </a:r>
            <a:r>
              <a:rPr lang="it-IT" dirty="0"/>
              <a:t> in </a:t>
            </a:r>
            <a:r>
              <a:rPr lang="it-IT" dirty="0" err="1"/>
              <a:t>larger</a:t>
            </a:r>
            <a:r>
              <a:rPr lang="it-IT" dirty="0"/>
              <a:t> </a:t>
            </a:r>
            <a:r>
              <a:rPr lang="it-IT" dirty="0" err="1"/>
              <a:t>cohorts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63465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D5A9B728-AC98-1783-4645-8DD532BDB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277874"/>
            <a:ext cx="5317688" cy="4135374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29B2FAEA-CE3E-F473-F98D-62EE05C55A35}"/>
              </a:ext>
            </a:extLst>
          </p:cNvPr>
          <p:cNvSpPr txBox="1"/>
          <p:nvPr/>
        </p:nvSpPr>
        <p:spPr>
          <a:xfrm>
            <a:off x="778312" y="100405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Alpha </a:t>
            </a:r>
            <a:r>
              <a:rPr lang="it-IT" b="1" dirty="0" err="1"/>
              <a:t>diversity</a:t>
            </a:r>
            <a:r>
              <a:rPr lang="it-IT" b="1" dirty="0"/>
              <a:t> (Shannon index)</a:t>
            </a:r>
            <a:r>
              <a:rPr lang="it-IT" dirty="0"/>
              <a:t> 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2204831-1EA1-BA28-395E-1902844720A7}"/>
              </a:ext>
            </a:extLst>
          </p:cNvPr>
          <p:cNvSpPr txBox="1"/>
          <p:nvPr/>
        </p:nvSpPr>
        <p:spPr>
          <a:xfrm>
            <a:off x="778312" y="1868233"/>
            <a:ext cx="41503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Analysis of </a:t>
            </a:r>
            <a:r>
              <a:rPr lang="it-IT" dirty="0" err="1"/>
              <a:t>microbial</a:t>
            </a:r>
            <a:r>
              <a:rPr lang="it-IT" dirty="0"/>
              <a:t> </a:t>
            </a:r>
            <a:r>
              <a:rPr lang="it-IT" dirty="0" err="1"/>
              <a:t>diversity</a:t>
            </a:r>
            <a:r>
              <a:rPr lang="it-IT" dirty="0"/>
              <a:t> </a:t>
            </a:r>
            <a:r>
              <a:rPr lang="it-IT" dirty="0" err="1"/>
              <a:t>considering</a:t>
            </a:r>
            <a:r>
              <a:rPr lang="it-IT" dirty="0"/>
              <a:t> </a:t>
            </a:r>
            <a:r>
              <a:rPr lang="it-IT" dirty="0" err="1"/>
              <a:t>unique</a:t>
            </a:r>
            <a:r>
              <a:rPr lang="it-IT" dirty="0"/>
              <a:t> </a:t>
            </a:r>
            <a:r>
              <a:rPr lang="it-IT" dirty="0" err="1"/>
              <a:t>IDs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subset and </a:t>
            </a:r>
            <a:r>
              <a:rPr lang="it-IT" b="1" dirty="0"/>
              <a:t>therapy </a:t>
            </a:r>
            <a:r>
              <a:rPr lang="it-IT" b="1" dirty="0" err="1"/>
              <a:t>change</a:t>
            </a:r>
            <a:r>
              <a:rPr lang="it-IT" b="1" dirty="0"/>
              <a:t> </a:t>
            </a:r>
            <a:r>
              <a:rPr lang="it-IT" dirty="0"/>
              <a:t>(</a:t>
            </a:r>
            <a:r>
              <a:rPr lang="it-IT" dirty="0" err="1"/>
              <a:t>cambio_terapia</a:t>
            </a:r>
            <a:r>
              <a:rPr lang="it-IT" dirty="0"/>
              <a:t>)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variable</a:t>
            </a:r>
            <a:r>
              <a:rPr lang="it-IT" dirty="0"/>
              <a:t>. </a:t>
            </a:r>
            <a:r>
              <a:rPr lang="it-IT" dirty="0" err="1"/>
              <a:t>Comparison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groups 0 (no </a:t>
            </a:r>
            <a:r>
              <a:rPr lang="it-IT" dirty="0" err="1"/>
              <a:t>change</a:t>
            </a:r>
            <a:r>
              <a:rPr lang="it-IT" dirty="0"/>
              <a:t>) and 1 (therapy </a:t>
            </a:r>
            <a:r>
              <a:rPr lang="it-IT" dirty="0" err="1"/>
              <a:t>change</a:t>
            </a:r>
            <a:r>
              <a:rPr lang="it-IT" dirty="0"/>
              <a:t>) shows a non‑</a:t>
            </a:r>
            <a:r>
              <a:rPr lang="it-IT" dirty="0" err="1"/>
              <a:t>significant</a:t>
            </a:r>
            <a:r>
              <a:rPr lang="it-IT" dirty="0"/>
              <a:t> trend </a:t>
            </a:r>
            <a:r>
              <a:rPr lang="it-IT" dirty="0" err="1"/>
              <a:t>toward</a:t>
            </a:r>
            <a:r>
              <a:rPr lang="it-IT" dirty="0"/>
              <a:t> </a:t>
            </a:r>
            <a:r>
              <a:rPr lang="it-IT" dirty="0" err="1"/>
              <a:t>higher</a:t>
            </a:r>
            <a:r>
              <a:rPr lang="it-IT" dirty="0"/>
              <a:t> </a:t>
            </a:r>
            <a:r>
              <a:rPr lang="it-IT" dirty="0" err="1"/>
              <a:t>diversity</a:t>
            </a:r>
            <a:r>
              <a:rPr lang="it-IT" dirty="0"/>
              <a:t> after therapy </a:t>
            </a:r>
            <a:r>
              <a:rPr lang="it-IT" dirty="0" err="1"/>
              <a:t>modification</a:t>
            </a:r>
            <a:r>
              <a:rPr lang="it-IT" dirty="0"/>
              <a:t> (</a:t>
            </a:r>
            <a:r>
              <a:rPr lang="it-IT" i="1" dirty="0"/>
              <a:t>t</a:t>
            </a:r>
            <a:r>
              <a:rPr lang="it-IT" dirty="0"/>
              <a:t>-test, </a:t>
            </a:r>
            <a:r>
              <a:rPr lang="it-IT" i="1" dirty="0"/>
              <a:t>p</a:t>
            </a:r>
            <a:r>
              <a:rPr lang="it-IT" dirty="0"/>
              <a:t> = 0.092).</a:t>
            </a:r>
          </a:p>
        </p:txBody>
      </p:sp>
    </p:spTree>
    <p:extLst>
      <p:ext uri="{BB962C8B-B14F-4D97-AF65-F5344CB8AC3E}">
        <p14:creationId xmlns:p14="http://schemas.microsoft.com/office/powerpoint/2010/main" val="912535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8917FC5C-B592-543C-E2C7-043816C18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916" y="2295870"/>
            <a:ext cx="5516987" cy="4351347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8B728C2A-0756-DE29-EAE6-2B433FFDD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7926" y="2415213"/>
            <a:ext cx="4972256" cy="4112663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9403BF5E-DC48-4F7D-B1BC-7B690807B040}"/>
              </a:ext>
            </a:extLst>
          </p:cNvPr>
          <p:cNvSpPr txBox="1"/>
          <p:nvPr/>
        </p:nvSpPr>
        <p:spPr>
          <a:xfrm>
            <a:off x="253062" y="747790"/>
            <a:ext cx="1212791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dirty="0">
                <a:effectLst/>
              </a:rPr>
              <a:t>Analysis of </a:t>
            </a:r>
            <a:r>
              <a:rPr lang="it-IT" dirty="0" err="1">
                <a:effectLst/>
              </a:rPr>
              <a:t>microbial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diversity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considering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unique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IDs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as</a:t>
            </a:r>
            <a:r>
              <a:rPr lang="it-IT" dirty="0">
                <a:effectLst/>
              </a:rPr>
              <a:t> subset and </a:t>
            </a:r>
            <a:r>
              <a:rPr lang="it-IT" dirty="0" err="1">
                <a:effectLst/>
              </a:rPr>
              <a:t>evaluating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two</a:t>
            </a:r>
            <a:r>
              <a:rPr lang="it-IT" dirty="0">
                <a:effectLst/>
              </a:rPr>
              <a:t> lifestyle </a:t>
            </a:r>
            <a:r>
              <a:rPr lang="it-IT" dirty="0" err="1">
                <a:effectLst/>
              </a:rPr>
              <a:t>variables</a:t>
            </a:r>
            <a:r>
              <a:rPr lang="it-IT" dirty="0">
                <a:effectLst/>
              </a:rPr>
              <a:t>:</a:t>
            </a:r>
            <a:endParaRPr lang="it-IT" dirty="0"/>
          </a:p>
          <a:p>
            <a:pPr>
              <a:buFont typeface="Arial" panose="020B0604020202020204" pitchFamily="34" charset="0"/>
              <a:buChar char="•"/>
            </a:pPr>
            <a:r>
              <a:rPr lang="it-IT" b="1" dirty="0">
                <a:effectLst/>
              </a:rPr>
              <a:t>Smoking </a:t>
            </a:r>
            <a:r>
              <a:rPr lang="it-IT" b="1" dirty="0" err="1">
                <a:effectLst/>
              </a:rPr>
              <a:t>habit</a:t>
            </a:r>
            <a:r>
              <a:rPr lang="it-IT" b="1" dirty="0">
                <a:effectLst/>
              </a:rPr>
              <a:t>: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comparison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between</a:t>
            </a:r>
            <a:r>
              <a:rPr lang="it-IT" dirty="0">
                <a:effectLst/>
              </a:rPr>
              <a:t> </a:t>
            </a:r>
            <a:r>
              <a:rPr lang="it-IT" i="1" dirty="0" err="1">
                <a:effectLst/>
              </a:rPr>
              <a:t>smokers</a:t>
            </a:r>
            <a:r>
              <a:rPr lang="it-IT" dirty="0">
                <a:effectLst/>
              </a:rPr>
              <a:t> and </a:t>
            </a:r>
            <a:r>
              <a:rPr lang="it-IT" i="1" dirty="0">
                <a:effectLst/>
              </a:rPr>
              <a:t>non‑</a:t>
            </a:r>
            <a:r>
              <a:rPr lang="it-IT" i="1" dirty="0" err="1">
                <a:effectLst/>
              </a:rPr>
              <a:t>smokers</a:t>
            </a:r>
            <a:r>
              <a:rPr lang="it-IT" dirty="0">
                <a:effectLst/>
              </a:rPr>
              <a:t> shows no </a:t>
            </a:r>
            <a:r>
              <a:rPr lang="it-IT" dirty="0" err="1">
                <a:effectLst/>
              </a:rPr>
              <a:t>significant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difference</a:t>
            </a:r>
            <a:r>
              <a:rPr lang="it-IT" dirty="0">
                <a:effectLst/>
              </a:rPr>
              <a:t> (</a:t>
            </a:r>
            <a:r>
              <a:rPr lang="it-IT" i="1" dirty="0">
                <a:effectLst/>
              </a:rPr>
              <a:t>t</a:t>
            </a:r>
            <a:r>
              <a:rPr lang="it-IT" dirty="0">
                <a:effectLst/>
              </a:rPr>
              <a:t>-test, </a:t>
            </a:r>
            <a:r>
              <a:rPr lang="it-IT" i="1" dirty="0">
                <a:effectLst/>
              </a:rPr>
              <a:t>p</a:t>
            </a:r>
            <a:r>
              <a:rPr lang="it-IT" dirty="0">
                <a:effectLst/>
              </a:rPr>
              <a:t> = 0.398).</a:t>
            </a:r>
            <a:endParaRPr lang="it-IT" dirty="0"/>
          </a:p>
          <a:p>
            <a:pPr>
              <a:buFont typeface="Arial" panose="020B0604020202020204" pitchFamily="34" charset="0"/>
              <a:buChar char="•"/>
            </a:pPr>
            <a:r>
              <a:rPr lang="it-IT" b="1" dirty="0" err="1">
                <a:effectLst/>
              </a:rPr>
              <a:t>Physical</a:t>
            </a:r>
            <a:r>
              <a:rPr lang="it-IT" b="1" dirty="0">
                <a:effectLst/>
              </a:rPr>
              <a:t> activity: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comparison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among</a:t>
            </a:r>
            <a:r>
              <a:rPr lang="it-IT" dirty="0">
                <a:effectLst/>
              </a:rPr>
              <a:t> </a:t>
            </a:r>
            <a:r>
              <a:rPr lang="it-IT" i="1" dirty="0" err="1">
                <a:effectLst/>
              </a:rPr>
              <a:t>active</a:t>
            </a:r>
            <a:r>
              <a:rPr lang="it-IT" dirty="0">
                <a:effectLst/>
              </a:rPr>
              <a:t>, </a:t>
            </a:r>
            <a:r>
              <a:rPr lang="it-IT" i="1" dirty="0" err="1">
                <a:effectLst/>
              </a:rPr>
              <a:t>partially</a:t>
            </a:r>
            <a:r>
              <a:rPr lang="it-IT" i="1" dirty="0">
                <a:effectLst/>
              </a:rPr>
              <a:t> </a:t>
            </a:r>
            <a:r>
              <a:rPr lang="it-IT" i="1" dirty="0" err="1">
                <a:effectLst/>
              </a:rPr>
              <a:t>active</a:t>
            </a:r>
            <a:r>
              <a:rPr lang="it-IT" dirty="0">
                <a:effectLst/>
              </a:rPr>
              <a:t>, and </a:t>
            </a:r>
            <a:r>
              <a:rPr lang="it-IT" i="1" dirty="0" err="1">
                <a:effectLst/>
              </a:rPr>
              <a:t>sedentary</a:t>
            </a:r>
            <a:r>
              <a:rPr lang="it-IT" dirty="0">
                <a:effectLst/>
              </a:rPr>
              <a:t> groups shows no </a:t>
            </a:r>
            <a:r>
              <a:rPr lang="it-IT" dirty="0" err="1">
                <a:effectLst/>
              </a:rPr>
              <a:t>significant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differences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across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categories</a:t>
            </a:r>
            <a:r>
              <a:rPr lang="it-IT" dirty="0">
                <a:effectLst/>
              </a:rPr>
              <a:t>.</a:t>
            </a:r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094C362-FB9E-81D9-5CCA-10547A038C9D}"/>
              </a:ext>
            </a:extLst>
          </p:cNvPr>
          <p:cNvSpPr txBox="1"/>
          <p:nvPr/>
        </p:nvSpPr>
        <p:spPr>
          <a:xfrm>
            <a:off x="253062" y="215373"/>
            <a:ext cx="6190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Alpha </a:t>
            </a:r>
            <a:r>
              <a:rPr lang="it-IT" b="1" dirty="0" err="1"/>
              <a:t>diversity</a:t>
            </a:r>
            <a:r>
              <a:rPr lang="it-IT" b="1" dirty="0"/>
              <a:t> (Shannon index)</a:t>
            </a:r>
            <a:r>
              <a:rPr lang="it-IT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68041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65701C39-B8F3-D785-7EDB-40C0BDC63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358" y="1012698"/>
            <a:ext cx="6527132" cy="5143500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C39E9984-C15F-0B39-CB00-A9AEE6140A33}"/>
              </a:ext>
            </a:extLst>
          </p:cNvPr>
          <p:cNvSpPr txBox="1"/>
          <p:nvPr/>
        </p:nvSpPr>
        <p:spPr>
          <a:xfrm>
            <a:off x="660654" y="1314950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Alpha </a:t>
            </a:r>
            <a:r>
              <a:rPr lang="it-IT" b="1" dirty="0" err="1"/>
              <a:t>diversity</a:t>
            </a:r>
            <a:r>
              <a:rPr lang="it-IT" b="1" dirty="0"/>
              <a:t> (Shannon index)</a:t>
            </a:r>
            <a:r>
              <a:rPr lang="it-IT" dirty="0"/>
              <a:t> 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3A6FBC4-03A9-D195-5FCE-C5AC61EBA228}"/>
              </a:ext>
            </a:extLst>
          </p:cNvPr>
          <p:cNvSpPr txBox="1"/>
          <p:nvPr/>
        </p:nvSpPr>
        <p:spPr>
          <a:xfrm>
            <a:off x="660654" y="2228671"/>
            <a:ext cx="432282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Analysis of </a:t>
            </a:r>
            <a:r>
              <a:rPr lang="it-IT" dirty="0" err="1"/>
              <a:t>microbial</a:t>
            </a:r>
            <a:r>
              <a:rPr lang="it-IT" dirty="0"/>
              <a:t> </a:t>
            </a:r>
            <a:r>
              <a:rPr lang="it-IT" dirty="0" err="1"/>
              <a:t>diversity</a:t>
            </a:r>
            <a:r>
              <a:rPr lang="it-IT" dirty="0"/>
              <a:t> </a:t>
            </a:r>
            <a:r>
              <a:rPr lang="it-IT" dirty="0" err="1"/>
              <a:t>considering</a:t>
            </a:r>
            <a:r>
              <a:rPr lang="it-IT" dirty="0"/>
              <a:t> </a:t>
            </a:r>
            <a:r>
              <a:rPr lang="it-IT" dirty="0" err="1"/>
              <a:t>unique</a:t>
            </a:r>
            <a:r>
              <a:rPr lang="it-IT" dirty="0"/>
              <a:t> </a:t>
            </a:r>
            <a:r>
              <a:rPr lang="it-IT" dirty="0" err="1"/>
              <a:t>IDs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subset and </a:t>
            </a:r>
            <a:r>
              <a:rPr lang="it-IT" b="1" dirty="0" err="1"/>
              <a:t>presence</a:t>
            </a:r>
            <a:r>
              <a:rPr lang="it-IT" b="1" dirty="0"/>
              <a:t> of </a:t>
            </a:r>
            <a:r>
              <a:rPr lang="it-IT" b="1" dirty="0" err="1"/>
              <a:t>lesions</a:t>
            </a:r>
            <a:r>
              <a:rPr lang="it-IT" b="1" dirty="0"/>
              <a:t> </a:t>
            </a:r>
            <a:r>
              <a:rPr lang="it-IT" dirty="0"/>
              <a:t>(lesioni)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variable</a:t>
            </a:r>
            <a:r>
              <a:rPr lang="it-IT" dirty="0"/>
              <a:t>. </a:t>
            </a:r>
            <a:r>
              <a:rPr lang="it-IT" dirty="0" err="1"/>
              <a:t>Comparison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groups 0 (no </a:t>
            </a:r>
            <a:r>
              <a:rPr lang="it-IT" dirty="0" err="1"/>
              <a:t>lesions</a:t>
            </a:r>
            <a:r>
              <a:rPr lang="it-IT" dirty="0"/>
              <a:t>) and 1 (</a:t>
            </a:r>
            <a:r>
              <a:rPr lang="it-IT" dirty="0" err="1"/>
              <a:t>lesions</a:t>
            </a:r>
            <a:r>
              <a:rPr lang="it-IT" dirty="0"/>
              <a:t>) shows no </a:t>
            </a:r>
            <a:r>
              <a:rPr lang="it-IT" dirty="0" err="1"/>
              <a:t>significant</a:t>
            </a:r>
            <a:r>
              <a:rPr lang="it-IT" dirty="0"/>
              <a:t> </a:t>
            </a:r>
            <a:r>
              <a:rPr lang="it-IT" dirty="0" err="1"/>
              <a:t>difference</a:t>
            </a:r>
            <a:r>
              <a:rPr lang="it-IT" dirty="0"/>
              <a:t> (</a:t>
            </a:r>
            <a:r>
              <a:rPr lang="it-IT" i="1" dirty="0"/>
              <a:t>t</a:t>
            </a:r>
            <a:r>
              <a:rPr lang="it-IT" dirty="0"/>
              <a:t>-test, </a:t>
            </a:r>
            <a:r>
              <a:rPr lang="it-IT" i="1" dirty="0"/>
              <a:t>p</a:t>
            </a:r>
            <a:r>
              <a:rPr lang="it-IT" dirty="0"/>
              <a:t> = 0.15).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0418FE4-DDA6-584B-2D1A-32440F4732F8}"/>
              </a:ext>
            </a:extLst>
          </p:cNvPr>
          <p:cNvSpPr txBox="1"/>
          <p:nvPr/>
        </p:nvSpPr>
        <p:spPr>
          <a:xfrm>
            <a:off x="660654" y="4218724"/>
            <a:ext cx="432282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/>
              <a:t>Although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statistically</a:t>
            </a:r>
            <a:r>
              <a:rPr lang="it-IT" dirty="0"/>
              <a:t> </a:t>
            </a:r>
            <a:r>
              <a:rPr lang="it-IT" dirty="0" err="1"/>
              <a:t>significant</a:t>
            </a:r>
            <a:r>
              <a:rPr lang="it-IT" dirty="0"/>
              <a:t>, the group with </a:t>
            </a:r>
            <a:r>
              <a:rPr lang="it-IT" dirty="0" err="1"/>
              <a:t>lesions</a:t>
            </a:r>
            <a:r>
              <a:rPr lang="it-IT" dirty="0"/>
              <a:t> </a:t>
            </a:r>
            <a:r>
              <a:rPr lang="it-IT" dirty="0" err="1"/>
              <a:t>tends</a:t>
            </a:r>
            <a:r>
              <a:rPr lang="it-IT" dirty="0"/>
              <a:t> to show a </a:t>
            </a:r>
            <a:r>
              <a:rPr lang="it-IT" dirty="0" err="1"/>
              <a:t>slightly</a:t>
            </a:r>
            <a:r>
              <a:rPr lang="it-IT" dirty="0"/>
              <a:t> </a:t>
            </a:r>
            <a:r>
              <a:rPr lang="it-IT" dirty="0" err="1"/>
              <a:t>lower</a:t>
            </a:r>
            <a:r>
              <a:rPr lang="it-IT" dirty="0"/>
              <a:t> </a:t>
            </a:r>
            <a:r>
              <a:rPr lang="it-IT" dirty="0" err="1"/>
              <a:t>median</a:t>
            </a:r>
            <a:r>
              <a:rPr lang="it-IT" dirty="0"/>
              <a:t> </a:t>
            </a:r>
            <a:r>
              <a:rPr lang="it-IT" dirty="0" err="1"/>
              <a:t>diversity</a:t>
            </a:r>
            <a:r>
              <a:rPr lang="it-IT" dirty="0"/>
              <a:t>, </a:t>
            </a:r>
            <a:r>
              <a:rPr lang="it-IT" dirty="0" err="1"/>
              <a:t>suggesting</a:t>
            </a:r>
            <a:r>
              <a:rPr lang="it-IT" dirty="0"/>
              <a:t> a </a:t>
            </a:r>
            <a:r>
              <a:rPr lang="it-IT" dirty="0" err="1"/>
              <a:t>possible</a:t>
            </a:r>
            <a:r>
              <a:rPr lang="it-IT" dirty="0"/>
              <a:t> trend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could</a:t>
            </a:r>
            <a:r>
              <a:rPr lang="it-IT" dirty="0"/>
              <a:t> be </a:t>
            </a:r>
            <a:r>
              <a:rPr lang="it-IT" dirty="0" err="1"/>
              <a:t>explored</a:t>
            </a:r>
            <a:r>
              <a:rPr lang="it-IT" dirty="0"/>
              <a:t> with a </a:t>
            </a:r>
            <a:r>
              <a:rPr lang="it-IT" dirty="0" err="1"/>
              <a:t>larger</a:t>
            </a:r>
            <a:r>
              <a:rPr lang="it-IT" dirty="0"/>
              <a:t> sample size</a:t>
            </a:r>
          </a:p>
        </p:txBody>
      </p:sp>
    </p:spTree>
    <p:extLst>
      <p:ext uri="{BB962C8B-B14F-4D97-AF65-F5344CB8AC3E}">
        <p14:creationId xmlns:p14="http://schemas.microsoft.com/office/powerpoint/2010/main" val="532800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AE7426EC-82CF-E0F8-3C12-1EBA3025B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66" y="3486838"/>
            <a:ext cx="3443969" cy="2744578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91AD6DA2-13C7-68AA-A3D6-FAD816645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5735" y="3398594"/>
            <a:ext cx="3616891" cy="2860254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578D4A05-71FD-B78B-7206-96F2E086EF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9509" y="3371162"/>
            <a:ext cx="3689205" cy="2860254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DFD182AF-BE35-C848-7C8E-5000E79CD6AC}"/>
              </a:ext>
            </a:extLst>
          </p:cNvPr>
          <p:cNvSpPr txBox="1"/>
          <p:nvPr/>
        </p:nvSpPr>
        <p:spPr>
          <a:xfrm>
            <a:off x="524183" y="528810"/>
            <a:ext cx="9981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Alpha </a:t>
            </a:r>
            <a:r>
              <a:rPr lang="it-IT" b="1" dirty="0" err="1"/>
              <a:t>diversity</a:t>
            </a:r>
            <a:r>
              <a:rPr lang="it-IT" b="1" dirty="0"/>
              <a:t> </a:t>
            </a:r>
            <a:r>
              <a:rPr lang="it-IT" b="1" dirty="0" err="1"/>
              <a:t>at</a:t>
            </a:r>
            <a:r>
              <a:rPr lang="it-IT" b="1" dirty="0"/>
              <a:t> baseline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B328BFE-FC41-DC09-9439-CBAEAC440941}"/>
              </a:ext>
            </a:extLst>
          </p:cNvPr>
          <p:cNvSpPr txBox="1"/>
          <p:nvPr/>
        </p:nvSpPr>
        <p:spPr>
          <a:xfrm>
            <a:off x="524182" y="1053560"/>
            <a:ext cx="1115270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/>
              <a:t>Comparison</a:t>
            </a:r>
            <a:r>
              <a:rPr lang="it-IT" dirty="0"/>
              <a:t> of </a:t>
            </a:r>
            <a:r>
              <a:rPr lang="it-IT" dirty="0" err="1"/>
              <a:t>microbial</a:t>
            </a:r>
            <a:r>
              <a:rPr lang="it-IT" dirty="0"/>
              <a:t> </a:t>
            </a:r>
            <a:r>
              <a:rPr lang="it-IT" dirty="0" err="1"/>
              <a:t>diversity</a:t>
            </a:r>
            <a:r>
              <a:rPr lang="it-IT" dirty="0"/>
              <a:t> </a:t>
            </a:r>
            <a:r>
              <a:rPr lang="it-IT" dirty="0" err="1"/>
              <a:t>indices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</a:t>
            </a:r>
            <a:r>
              <a:rPr lang="it-IT" dirty="0" err="1"/>
              <a:t>subjects</a:t>
            </a:r>
            <a:r>
              <a:rPr lang="it-IT" dirty="0"/>
              <a:t> with (1) and </a:t>
            </a:r>
            <a:r>
              <a:rPr lang="it-IT" dirty="0" err="1"/>
              <a:t>without</a:t>
            </a:r>
            <a:r>
              <a:rPr lang="it-IT" dirty="0"/>
              <a:t> (0) </a:t>
            </a:r>
            <a:r>
              <a:rPr lang="it-IT" dirty="0" err="1"/>
              <a:t>lesions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baseline. </a:t>
            </a:r>
            <a:r>
              <a:rPr lang="it-IT" dirty="0" err="1"/>
              <a:t>Across</a:t>
            </a:r>
            <a:r>
              <a:rPr lang="it-IT" dirty="0"/>
              <a:t> </a:t>
            </a:r>
            <a:r>
              <a:rPr lang="it-IT" dirty="0" err="1"/>
              <a:t>all</a:t>
            </a:r>
            <a:r>
              <a:rPr lang="it-IT" dirty="0"/>
              <a:t> </a:t>
            </a:r>
            <a:r>
              <a:rPr lang="it-IT" dirty="0" err="1"/>
              <a:t>indices</a:t>
            </a:r>
            <a:r>
              <a:rPr lang="it-IT" dirty="0"/>
              <a:t> — Simpson, Shannon, and </a:t>
            </a:r>
            <a:r>
              <a:rPr lang="it-IT" dirty="0" err="1"/>
              <a:t>Observed</a:t>
            </a:r>
            <a:r>
              <a:rPr lang="it-IT" dirty="0"/>
              <a:t> </a:t>
            </a:r>
            <a:r>
              <a:rPr lang="it-IT" dirty="0" err="1"/>
              <a:t>species</a:t>
            </a:r>
            <a:r>
              <a:rPr lang="it-IT" dirty="0"/>
              <a:t> </a:t>
            </a:r>
            <a:r>
              <a:rPr lang="it-IT" dirty="0" err="1"/>
              <a:t>richness</a:t>
            </a:r>
            <a:r>
              <a:rPr lang="it-IT" dirty="0"/>
              <a:t> — </a:t>
            </a:r>
            <a:r>
              <a:rPr lang="it-IT" dirty="0" err="1"/>
              <a:t>results</a:t>
            </a:r>
            <a:r>
              <a:rPr lang="it-IT" dirty="0"/>
              <a:t> show no </a:t>
            </a:r>
            <a:r>
              <a:rPr lang="it-IT" dirty="0" err="1"/>
              <a:t>significant</a:t>
            </a:r>
            <a:r>
              <a:rPr lang="it-IT" dirty="0"/>
              <a:t> </a:t>
            </a:r>
            <a:r>
              <a:rPr lang="it-IT" dirty="0" err="1"/>
              <a:t>differences</a:t>
            </a:r>
            <a:r>
              <a:rPr lang="it-IT" dirty="0"/>
              <a:t> (</a:t>
            </a:r>
            <a:r>
              <a:rPr lang="it-IT" i="1" dirty="0"/>
              <a:t>t</a:t>
            </a:r>
            <a:r>
              <a:rPr lang="it-IT" dirty="0"/>
              <a:t>-test, </a:t>
            </a:r>
            <a:r>
              <a:rPr lang="it-IT" i="1" dirty="0"/>
              <a:t>p</a:t>
            </a:r>
            <a:r>
              <a:rPr lang="it-IT" dirty="0"/>
              <a:t> = 0.564, 0.776, and 0.805 </a:t>
            </a:r>
            <a:r>
              <a:rPr lang="it-IT" dirty="0" err="1"/>
              <a:t>respectively</a:t>
            </a:r>
            <a:r>
              <a:rPr lang="it-IT" dirty="0"/>
              <a:t>).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D3F340BB-C73D-9816-A2DF-AC216912C419}"/>
              </a:ext>
            </a:extLst>
          </p:cNvPr>
          <p:cNvSpPr txBox="1"/>
          <p:nvPr/>
        </p:nvSpPr>
        <p:spPr>
          <a:xfrm>
            <a:off x="524182" y="2132308"/>
            <a:ext cx="105126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At the start of follow‑up, </a:t>
            </a:r>
            <a:r>
              <a:rPr lang="it-IT" dirty="0" err="1"/>
              <a:t>microbial</a:t>
            </a:r>
            <a:r>
              <a:rPr lang="it-IT" dirty="0"/>
              <a:t> </a:t>
            </a:r>
            <a:r>
              <a:rPr lang="it-IT" dirty="0" err="1"/>
              <a:t>diversity</a:t>
            </a:r>
            <a:r>
              <a:rPr lang="it-IT" dirty="0"/>
              <a:t> </a:t>
            </a:r>
            <a:r>
              <a:rPr lang="it-IT" dirty="0" err="1"/>
              <a:t>appears</a:t>
            </a:r>
            <a:r>
              <a:rPr lang="it-IT" dirty="0"/>
              <a:t> </a:t>
            </a:r>
            <a:r>
              <a:rPr lang="it-IT" b="1" dirty="0" err="1"/>
              <a:t>stable</a:t>
            </a:r>
            <a:r>
              <a:rPr lang="it-IT" b="1" dirty="0"/>
              <a:t> </a:t>
            </a:r>
            <a:r>
              <a:rPr lang="it-IT" b="1" dirty="0" err="1"/>
              <a:t>regardless</a:t>
            </a:r>
            <a:r>
              <a:rPr lang="it-IT" b="1" dirty="0"/>
              <a:t> of </a:t>
            </a:r>
            <a:r>
              <a:rPr lang="it-IT" b="1" dirty="0" err="1"/>
              <a:t>lesion</a:t>
            </a:r>
            <a:r>
              <a:rPr lang="it-IT" b="1" dirty="0"/>
              <a:t> </a:t>
            </a:r>
            <a:r>
              <a:rPr lang="it-IT" b="1" dirty="0" err="1"/>
              <a:t>presence</a:t>
            </a:r>
            <a:r>
              <a:rPr lang="it-IT" dirty="0"/>
              <a:t>, </a:t>
            </a:r>
            <a:r>
              <a:rPr lang="it-IT" dirty="0" err="1"/>
              <a:t>suggesting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lesion</a:t>
            </a:r>
            <a:r>
              <a:rPr lang="it-IT" dirty="0"/>
              <a:t> status </a:t>
            </a:r>
            <a:r>
              <a:rPr lang="it-IT" dirty="0" err="1"/>
              <a:t>does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influence</a:t>
            </a:r>
            <a:r>
              <a:rPr lang="it-IT" dirty="0"/>
              <a:t> baseline community </a:t>
            </a:r>
            <a:r>
              <a:rPr lang="it-IT" dirty="0" err="1"/>
              <a:t>composition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3564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0BA6E2B9-ABDC-EC04-A711-ACAB12D89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00" y="3476370"/>
            <a:ext cx="3982616" cy="3196269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1B63039B-07AF-C6BC-D940-05983242B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5363" y="3429000"/>
            <a:ext cx="3997423" cy="3196269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15F9D7EC-5912-FF4B-A234-4D7EA64F7A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8192" y="3477338"/>
            <a:ext cx="3982616" cy="3195301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F1B2632F-475C-AB1E-4AF5-EC57A103979A}"/>
              </a:ext>
            </a:extLst>
          </p:cNvPr>
          <p:cNvSpPr txBox="1"/>
          <p:nvPr/>
        </p:nvSpPr>
        <p:spPr>
          <a:xfrm>
            <a:off x="484742" y="488763"/>
            <a:ext cx="8075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Alpha </a:t>
            </a:r>
            <a:r>
              <a:rPr lang="it-IT" b="1" dirty="0" err="1"/>
              <a:t>diversity</a:t>
            </a:r>
            <a:r>
              <a:rPr lang="it-IT" b="1" dirty="0"/>
              <a:t> </a:t>
            </a:r>
            <a:r>
              <a:rPr lang="it-IT" b="1" dirty="0" err="1"/>
              <a:t>at</a:t>
            </a:r>
            <a:r>
              <a:rPr lang="it-IT" b="1" dirty="0"/>
              <a:t> follow‑up time T1 (</a:t>
            </a:r>
            <a:r>
              <a:rPr lang="it-IT" b="1" dirty="0" err="1"/>
              <a:t>lesions</a:t>
            </a:r>
            <a:r>
              <a:rPr lang="it-IT" b="1" dirty="0"/>
              <a:t>)</a:t>
            </a:r>
            <a:r>
              <a:rPr lang="it-IT" dirty="0"/>
              <a:t> 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CEB40780-86E5-14EA-C2B2-E780D53696B6}"/>
              </a:ext>
            </a:extLst>
          </p:cNvPr>
          <p:cNvSpPr txBox="1"/>
          <p:nvPr/>
        </p:nvSpPr>
        <p:spPr>
          <a:xfrm>
            <a:off x="484742" y="1231323"/>
            <a:ext cx="1112813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/>
              <a:t>Comparison</a:t>
            </a:r>
            <a:r>
              <a:rPr lang="it-IT" dirty="0"/>
              <a:t> of </a:t>
            </a:r>
            <a:r>
              <a:rPr lang="it-IT" dirty="0" err="1"/>
              <a:t>microbial</a:t>
            </a:r>
            <a:r>
              <a:rPr lang="it-IT" dirty="0"/>
              <a:t> </a:t>
            </a:r>
            <a:r>
              <a:rPr lang="it-IT" dirty="0" err="1"/>
              <a:t>diversity</a:t>
            </a:r>
            <a:r>
              <a:rPr lang="it-IT" dirty="0"/>
              <a:t> </a:t>
            </a:r>
            <a:r>
              <a:rPr lang="it-IT" dirty="0" err="1"/>
              <a:t>indices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</a:t>
            </a:r>
            <a:r>
              <a:rPr lang="it-IT" dirty="0" err="1"/>
              <a:t>subjects</a:t>
            </a:r>
            <a:r>
              <a:rPr lang="it-IT" dirty="0"/>
              <a:t> with (1) and </a:t>
            </a:r>
            <a:r>
              <a:rPr lang="it-IT" dirty="0" err="1"/>
              <a:t>without</a:t>
            </a:r>
            <a:r>
              <a:rPr lang="it-IT" dirty="0"/>
              <a:t> (0) </a:t>
            </a:r>
            <a:r>
              <a:rPr lang="it-IT" dirty="0" err="1"/>
              <a:t>lesions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follow‑up time T1. </a:t>
            </a:r>
            <a:r>
              <a:rPr lang="it-IT" dirty="0" err="1"/>
              <a:t>Across</a:t>
            </a:r>
            <a:r>
              <a:rPr lang="it-IT" dirty="0"/>
              <a:t> </a:t>
            </a:r>
            <a:r>
              <a:rPr lang="it-IT" dirty="0" err="1"/>
              <a:t>all</a:t>
            </a:r>
            <a:r>
              <a:rPr lang="it-IT" dirty="0"/>
              <a:t> </a:t>
            </a:r>
            <a:r>
              <a:rPr lang="it-IT" dirty="0" err="1"/>
              <a:t>indices</a:t>
            </a:r>
            <a:r>
              <a:rPr lang="it-IT" dirty="0"/>
              <a:t> — Shannon, Simpson, and </a:t>
            </a:r>
            <a:r>
              <a:rPr lang="it-IT" dirty="0" err="1"/>
              <a:t>Observed</a:t>
            </a:r>
            <a:r>
              <a:rPr lang="it-IT" dirty="0"/>
              <a:t> </a:t>
            </a:r>
            <a:r>
              <a:rPr lang="it-IT" dirty="0" err="1"/>
              <a:t>species</a:t>
            </a:r>
            <a:r>
              <a:rPr lang="it-IT" dirty="0"/>
              <a:t> </a:t>
            </a:r>
            <a:r>
              <a:rPr lang="it-IT" dirty="0" err="1"/>
              <a:t>richness</a:t>
            </a:r>
            <a:r>
              <a:rPr lang="it-IT" dirty="0"/>
              <a:t> — </a:t>
            </a:r>
            <a:r>
              <a:rPr lang="it-IT" dirty="0" err="1"/>
              <a:t>results</a:t>
            </a:r>
            <a:r>
              <a:rPr lang="it-IT" dirty="0"/>
              <a:t> show </a:t>
            </a:r>
            <a:r>
              <a:rPr lang="it-IT" b="1" dirty="0"/>
              <a:t>no </a:t>
            </a:r>
            <a:r>
              <a:rPr lang="it-IT" b="1" dirty="0" err="1"/>
              <a:t>significant</a:t>
            </a:r>
            <a:r>
              <a:rPr lang="it-IT" b="1" dirty="0"/>
              <a:t> </a:t>
            </a:r>
            <a:r>
              <a:rPr lang="it-IT" b="1" dirty="0" err="1"/>
              <a:t>differences</a:t>
            </a:r>
            <a:r>
              <a:rPr lang="it-IT" dirty="0"/>
              <a:t> (</a:t>
            </a:r>
            <a:r>
              <a:rPr lang="it-IT" i="1" dirty="0"/>
              <a:t>Wilcoxon test</a:t>
            </a:r>
            <a:r>
              <a:rPr lang="it-IT" dirty="0"/>
              <a:t>, </a:t>
            </a:r>
            <a:r>
              <a:rPr lang="it-IT" i="1" dirty="0"/>
              <a:t>p</a:t>
            </a:r>
            <a:r>
              <a:rPr lang="it-IT" dirty="0"/>
              <a:t> = 0.208, 0.208, and 0.132 </a:t>
            </a:r>
            <a:r>
              <a:rPr lang="it-IT" dirty="0" err="1"/>
              <a:t>respectively</a:t>
            </a:r>
            <a:r>
              <a:rPr lang="it-IT" dirty="0"/>
              <a:t>).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FF9CE631-C269-42E9-9F3C-05E251E38208}"/>
              </a:ext>
            </a:extLst>
          </p:cNvPr>
          <p:cNvSpPr txBox="1"/>
          <p:nvPr/>
        </p:nvSpPr>
        <p:spPr>
          <a:xfrm>
            <a:off x="484742" y="2276041"/>
            <a:ext cx="109726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At T1, </a:t>
            </a:r>
            <a:r>
              <a:rPr lang="it-IT" dirty="0" err="1"/>
              <a:t>microbial</a:t>
            </a:r>
            <a:r>
              <a:rPr lang="it-IT" dirty="0"/>
              <a:t> </a:t>
            </a:r>
            <a:r>
              <a:rPr lang="it-IT" dirty="0" err="1"/>
              <a:t>diversity</a:t>
            </a:r>
            <a:r>
              <a:rPr lang="it-IT" dirty="0"/>
              <a:t> </a:t>
            </a:r>
            <a:r>
              <a:rPr lang="it-IT" dirty="0" err="1"/>
              <a:t>remains</a:t>
            </a:r>
            <a:r>
              <a:rPr lang="it-IT" dirty="0"/>
              <a:t> </a:t>
            </a:r>
            <a:r>
              <a:rPr lang="it-IT" b="1" dirty="0"/>
              <a:t>comparable </a:t>
            </a:r>
            <a:r>
              <a:rPr lang="it-IT" b="1" dirty="0" err="1"/>
              <a:t>between</a:t>
            </a:r>
            <a:r>
              <a:rPr lang="it-IT" b="1" dirty="0"/>
              <a:t> groups</a:t>
            </a:r>
            <a:r>
              <a:rPr lang="it-IT" dirty="0"/>
              <a:t>, </a:t>
            </a:r>
            <a:r>
              <a:rPr lang="it-IT" dirty="0" err="1"/>
              <a:t>suggesting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lesion</a:t>
            </a:r>
            <a:r>
              <a:rPr lang="it-IT" dirty="0"/>
              <a:t> </a:t>
            </a:r>
            <a:r>
              <a:rPr lang="it-IT" dirty="0" err="1"/>
              <a:t>development</a:t>
            </a:r>
            <a:r>
              <a:rPr lang="it-IT" dirty="0"/>
              <a:t> </a:t>
            </a:r>
            <a:r>
              <a:rPr lang="it-IT" dirty="0" err="1"/>
              <a:t>does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correspond</a:t>
            </a:r>
            <a:r>
              <a:rPr lang="it-IT" dirty="0"/>
              <a:t> to </a:t>
            </a:r>
            <a:r>
              <a:rPr lang="it-IT" dirty="0" err="1"/>
              <a:t>measurable</a:t>
            </a:r>
            <a:r>
              <a:rPr lang="it-IT" dirty="0"/>
              <a:t> shifts in community </a:t>
            </a:r>
            <a:r>
              <a:rPr lang="it-IT" dirty="0" err="1"/>
              <a:t>diversity</a:t>
            </a:r>
            <a:r>
              <a:rPr lang="it-IT" dirty="0"/>
              <a:t> over time.</a:t>
            </a:r>
          </a:p>
        </p:txBody>
      </p:sp>
    </p:spTree>
    <p:extLst>
      <p:ext uri="{BB962C8B-B14F-4D97-AF65-F5344CB8AC3E}">
        <p14:creationId xmlns:p14="http://schemas.microsoft.com/office/powerpoint/2010/main" val="1701492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32779-DE96-DD4E-6A8D-90B8D6304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C69B4022-861B-013E-02CC-2C9C94A8E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16" y="3077396"/>
            <a:ext cx="4312347" cy="3430377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D6EC08B3-717F-EC39-8B46-9AD9E86B9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1352" y="3077396"/>
            <a:ext cx="4220641" cy="3359980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C9EB64D9-4A12-7179-2E5F-E2F753DC3D2A}"/>
              </a:ext>
            </a:extLst>
          </p:cNvPr>
          <p:cNvSpPr txBox="1"/>
          <p:nvPr/>
        </p:nvSpPr>
        <p:spPr>
          <a:xfrm>
            <a:off x="616945" y="583894"/>
            <a:ext cx="8923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Alpha </a:t>
            </a:r>
            <a:r>
              <a:rPr lang="it-IT" b="1" dirty="0" err="1"/>
              <a:t>diversity</a:t>
            </a:r>
            <a:r>
              <a:rPr lang="it-IT" b="1" dirty="0"/>
              <a:t> </a:t>
            </a:r>
            <a:r>
              <a:rPr lang="it-IT" b="1" dirty="0" err="1"/>
              <a:t>at</a:t>
            </a:r>
            <a:r>
              <a:rPr lang="it-IT" b="1" dirty="0"/>
              <a:t> follow‑up time T12 (</a:t>
            </a:r>
            <a:r>
              <a:rPr lang="it-IT" b="1" dirty="0" err="1"/>
              <a:t>lesions</a:t>
            </a:r>
            <a:r>
              <a:rPr lang="it-IT" b="1" dirty="0"/>
              <a:t>)</a:t>
            </a:r>
            <a:r>
              <a:rPr lang="it-IT" dirty="0"/>
              <a:t> 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0C80E5B-FC25-83EE-09D0-A3FADEE2F10F}"/>
              </a:ext>
            </a:extLst>
          </p:cNvPr>
          <p:cNvSpPr txBox="1"/>
          <p:nvPr/>
        </p:nvSpPr>
        <p:spPr>
          <a:xfrm>
            <a:off x="616944" y="1138148"/>
            <a:ext cx="1113309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dirty="0" err="1">
                <a:effectLst/>
              </a:rPr>
              <a:t>Comparison</a:t>
            </a:r>
            <a:r>
              <a:rPr lang="it-IT" dirty="0">
                <a:effectLst/>
              </a:rPr>
              <a:t> of </a:t>
            </a:r>
            <a:r>
              <a:rPr lang="it-IT" dirty="0" err="1">
                <a:effectLst/>
              </a:rPr>
              <a:t>microbial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diversity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indices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between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subjects</a:t>
            </a:r>
            <a:r>
              <a:rPr lang="it-IT" dirty="0">
                <a:effectLst/>
              </a:rPr>
              <a:t> with (1) and </a:t>
            </a:r>
            <a:r>
              <a:rPr lang="it-IT" dirty="0" err="1">
                <a:effectLst/>
              </a:rPr>
              <a:t>without</a:t>
            </a:r>
            <a:r>
              <a:rPr lang="it-IT" dirty="0">
                <a:effectLst/>
              </a:rPr>
              <a:t> (0) </a:t>
            </a:r>
            <a:r>
              <a:rPr lang="it-IT" dirty="0" err="1">
                <a:effectLst/>
              </a:rPr>
              <a:t>lesions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at</a:t>
            </a:r>
            <a:r>
              <a:rPr lang="it-IT" dirty="0">
                <a:effectLst/>
              </a:rPr>
              <a:t> follow‑up time T12. </a:t>
            </a:r>
            <a:r>
              <a:rPr lang="it-IT" dirty="0" err="1">
                <a:effectLst/>
              </a:rPr>
              <a:t>Results</a:t>
            </a:r>
            <a:r>
              <a:rPr lang="it-IT" dirty="0">
                <a:effectLst/>
              </a:rPr>
              <a:t> for Shannon, Simpson, and </a:t>
            </a:r>
            <a:r>
              <a:rPr lang="it-IT" dirty="0" err="1">
                <a:effectLst/>
              </a:rPr>
              <a:t>Observed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species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richness</a:t>
            </a:r>
            <a:r>
              <a:rPr lang="it-IT" dirty="0">
                <a:effectLst/>
              </a:rPr>
              <a:t> show no </a:t>
            </a:r>
            <a:r>
              <a:rPr lang="it-IT" dirty="0" err="1">
                <a:effectLst/>
              </a:rPr>
              <a:t>significant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differences</a:t>
            </a:r>
            <a:r>
              <a:rPr lang="it-IT" dirty="0">
                <a:effectLst/>
              </a:rPr>
              <a:t> (</a:t>
            </a:r>
            <a:r>
              <a:rPr lang="it-IT" i="1" dirty="0">
                <a:effectLst/>
              </a:rPr>
              <a:t>Wilcoxon test</a:t>
            </a:r>
            <a:r>
              <a:rPr lang="it-IT" dirty="0">
                <a:effectLst/>
              </a:rPr>
              <a:t>, </a:t>
            </a:r>
            <a:r>
              <a:rPr lang="it-IT" i="1" dirty="0">
                <a:effectLst/>
              </a:rPr>
              <a:t>p</a:t>
            </a:r>
            <a:r>
              <a:rPr lang="it-IT" dirty="0">
                <a:effectLst/>
              </a:rPr>
              <a:t> = 0.828, 0.828, and 0.827 </a:t>
            </a:r>
            <a:r>
              <a:rPr lang="it-IT" dirty="0" err="1">
                <a:effectLst/>
              </a:rPr>
              <a:t>respectively</a:t>
            </a:r>
            <a:r>
              <a:rPr lang="it-IT" dirty="0">
                <a:effectLst/>
              </a:rPr>
              <a:t>), with </a:t>
            </a:r>
            <a:r>
              <a:rPr lang="it-IT" b="1" dirty="0" err="1">
                <a:effectLst/>
              </a:rPr>
              <a:t>similar</a:t>
            </a:r>
            <a:r>
              <a:rPr lang="it-IT" b="1" dirty="0">
                <a:effectLst/>
              </a:rPr>
              <a:t> trends </a:t>
            </a:r>
            <a:r>
              <a:rPr lang="it-IT" b="1" dirty="0" err="1">
                <a:effectLst/>
              </a:rPr>
              <a:t>across</a:t>
            </a:r>
            <a:r>
              <a:rPr lang="it-IT" b="1" dirty="0">
                <a:effectLst/>
              </a:rPr>
              <a:t> </a:t>
            </a:r>
            <a:r>
              <a:rPr lang="it-IT" b="1" dirty="0" err="1">
                <a:effectLst/>
              </a:rPr>
              <a:t>indices</a:t>
            </a:r>
            <a:r>
              <a:rPr lang="it-IT" dirty="0">
                <a:effectLst/>
              </a:rPr>
              <a:t>.</a:t>
            </a:r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5115CF6-11DE-BA92-FEF6-E7628498E753}"/>
              </a:ext>
            </a:extLst>
          </p:cNvPr>
          <p:cNvSpPr txBox="1"/>
          <p:nvPr/>
        </p:nvSpPr>
        <p:spPr>
          <a:xfrm>
            <a:off x="616944" y="2246400"/>
            <a:ext cx="110951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At T12, </a:t>
            </a:r>
            <a:r>
              <a:rPr lang="it-IT" dirty="0" err="1"/>
              <a:t>microbial</a:t>
            </a:r>
            <a:r>
              <a:rPr lang="it-IT" dirty="0"/>
              <a:t> </a:t>
            </a:r>
            <a:r>
              <a:rPr lang="it-IT" dirty="0" err="1"/>
              <a:t>diversity</a:t>
            </a:r>
            <a:r>
              <a:rPr lang="it-IT" dirty="0"/>
              <a:t> </a:t>
            </a:r>
            <a:r>
              <a:rPr lang="it-IT" dirty="0" err="1"/>
              <a:t>remains</a:t>
            </a:r>
            <a:r>
              <a:rPr lang="it-IT" dirty="0"/>
              <a:t> </a:t>
            </a:r>
            <a:r>
              <a:rPr lang="it-IT" b="1" dirty="0" err="1"/>
              <a:t>stable</a:t>
            </a:r>
            <a:r>
              <a:rPr lang="it-IT" b="1" dirty="0"/>
              <a:t> and comparable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groups, </a:t>
            </a:r>
            <a:r>
              <a:rPr lang="it-IT" dirty="0" err="1"/>
              <a:t>confirming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lesion</a:t>
            </a:r>
            <a:r>
              <a:rPr lang="it-IT" dirty="0"/>
              <a:t> </a:t>
            </a:r>
            <a:r>
              <a:rPr lang="it-IT" dirty="0" err="1"/>
              <a:t>presence</a:t>
            </a:r>
            <a:r>
              <a:rPr lang="it-IT" dirty="0"/>
              <a:t> </a:t>
            </a:r>
            <a:r>
              <a:rPr lang="it-IT" dirty="0" err="1"/>
              <a:t>does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correspond</a:t>
            </a:r>
            <a:r>
              <a:rPr lang="it-IT" dirty="0"/>
              <a:t> to </a:t>
            </a:r>
            <a:r>
              <a:rPr lang="it-IT" dirty="0" err="1"/>
              <a:t>measurable</a:t>
            </a:r>
            <a:r>
              <a:rPr lang="it-IT" dirty="0"/>
              <a:t> </a:t>
            </a:r>
            <a:r>
              <a:rPr lang="it-IT" dirty="0" err="1"/>
              <a:t>changes</a:t>
            </a:r>
            <a:r>
              <a:rPr lang="it-IT" dirty="0"/>
              <a:t> in community </a:t>
            </a:r>
            <a:r>
              <a:rPr lang="it-IT" dirty="0" err="1"/>
              <a:t>diversity</a:t>
            </a:r>
            <a:r>
              <a:rPr lang="it-IT" dirty="0"/>
              <a:t> over time.</a:t>
            </a:r>
          </a:p>
        </p:txBody>
      </p:sp>
    </p:spTree>
    <p:extLst>
      <p:ext uri="{BB962C8B-B14F-4D97-AF65-F5344CB8AC3E}">
        <p14:creationId xmlns:p14="http://schemas.microsoft.com/office/powerpoint/2010/main" val="8119773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ADE9E968-115D-56C0-EB48-6A880073F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312248"/>
            <a:ext cx="5240957" cy="4233504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5F906A3D-517C-52D8-354C-F5689959FF0F}"/>
              </a:ext>
            </a:extLst>
          </p:cNvPr>
          <p:cNvSpPr txBox="1"/>
          <p:nvPr/>
        </p:nvSpPr>
        <p:spPr>
          <a:xfrm>
            <a:off x="628292" y="711426"/>
            <a:ext cx="7535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Alpha </a:t>
            </a:r>
            <a:r>
              <a:rPr lang="it-IT" b="1" dirty="0" err="1"/>
              <a:t>diversity</a:t>
            </a:r>
            <a:r>
              <a:rPr lang="it-IT" b="1" dirty="0"/>
              <a:t> (Simpson index) </a:t>
            </a:r>
            <a:r>
              <a:rPr lang="it-IT" b="1" dirty="0" err="1"/>
              <a:t>across</a:t>
            </a:r>
            <a:r>
              <a:rPr lang="it-IT" b="1" dirty="0"/>
              <a:t> </a:t>
            </a:r>
            <a:r>
              <a:rPr lang="it-IT" b="1" dirty="0" err="1"/>
              <a:t>all</a:t>
            </a:r>
            <a:r>
              <a:rPr lang="it-IT" b="1" dirty="0"/>
              <a:t> follow‑up times (T0, T1, T12)</a:t>
            </a:r>
            <a:r>
              <a:rPr lang="it-IT" dirty="0"/>
              <a:t> 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BFE2B6D1-CB4F-CB77-2CA7-DAF6C390ADD4}"/>
              </a:ext>
            </a:extLst>
          </p:cNvPr>
          <p:cNvSpPr txBox="1"/>
          <p:nvPr/>
        </p:nvSpPr>
        <p:spPr>
          <a:xfrm>
            <a:off x="627328" y="1245584"/>
            <a:ext cx="48398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dirty="0">
                <a:effectLst/>
              </a:rPr>
              <a:t>Analysis of </a:t>
            </a:r>
            <a:r>
              <a:rPr lang="it-IT" dirty="0" err="1">
                <a:effectLst/>
              </a:rPr>
              <a:t>microbial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diversity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considering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lesion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presence</a:t>
            </a:r>
            <a:r>
              <a:rPr lang="it-IT" dirty="0">
                <a:effectLst/>
              </a:rPr>
              <a:t> (0 = </a:t>
            </a:r>
            <a:r>
              <a:rPr lang="it-IT" dirty="0" err="1">
                <a:effectLst/>
              </a:rPr>
              <a:t>absent</a:t>
            </a:r>
            <a:r>
              <a:rPr lang="it-IT" dirty="0">
                <a:effectLst/>
              </a:rPr>
              <a:t>, 1 = </a:t>
            </a:r>
            <a:r>
              <a:rPr lang="it-IT" dirty="0" err="1">
                <a:effectLst/>
              </a:rPr>
              <a:t>present</a:t>
            </a:r>
            <a:r>
              <a:rPr lang="it-IT" dirty="0">
                <a:effectLst/>
              </a:rPr>
              <a:t>) </a:t>
            </a:r>
            <a:r>
              <a:rPr lang="it-IT" dirty="0" err="1">
                <a:effectLst/>
              </a:rPr>
              <a:t>across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all</a:t>
            </a:r>
            <a:r>
              <a:rPr lang="it-IT" dirty="0">
                <a:effectLst/>
              </a:rPr>
              <a:t> time points. </a:t>
            </a:r>
            <a:r>
              <a:rPr lang="it-IT" dirty="0" err="1">
                <a:effectLst/>
              </a:rPr>
              <a:t>Results</a:t>
            </a:r>
            <a:r>
              <a:rPr lang="it-IT" dirty="0">
                <a:effectLst/>
              </a:rPr>
              <a:t> show no </a:t>
            </a:r>
            <a:r>
              <a:rPr lang="it-IT" dirty="0" err="1">
                <a:effectLst/>
              </a:rPr>
              <a:t>significant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difference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between</a:t>
            </a:r>
            <a:r>
              <a:rPr lang="it-IT" dirty="0">
                <a:effectLst/>
              </a:rPr>
              <a:t> groups (</a:t>
            </a:r>
            <a:r>
              <a:rPr lang="it-IT" i="1" dirty="0">
                <a:effectLst/>
              </a:rPr>
              <a:t>Wilcoxon test</a:t>
            </a:r>
            <a:r>
              <a:rPr lang="it-IT" dirty="0">
                <a:effectLst/>
              </a:rPr>
              <a:t>, </a:t>
            </a:r>
            <a:r>
              <a:rPr lang="it-IT" i="1" dirty="0">
                <a:effectLst/>
              </a:rPr>
              <a:t>p</a:t>
            </a:r>
            <a:r>
              <a:rPr lang="it-IT" dirty="0">
                <a:effectLst/>
              </a:rPr>
              <a:t> = 0.109), </a:t>
            </a:r>
            <a:r>
              <a:rPr lang="it-IT" dirty="0" err="1">
                <a:effectLst/>
              </a:rPr>
              <a:t>indicating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that</a:t>
            </a:r>
            <a:r>
              <a:rPr lang="it-IT" dirty="0">
                <a:effectLst/>
              </a:rPr>
              <a:t> </a:t>
            </a:r>
            <a:r>
              <a:rPr lang="it-IT" b="1" dirty="0" err="1">
                <a:effectLst/>
              </a:rPr>
              <a:t>lesion</a:t>
            </a:r>
            <a:r>
              <a:rPr lang="it-IT" b="1" dirty="0">
                <a:effectLst/>
              </a:rPr>
              <a:t> </a:t>
            </a:r>
            <a:r>
              <a:rPr lang="it-IT" b="1" dirty="0" err="1">
                <a:effectLst/>
              </a:rPr>
              <a:t>occurrence</a:t>
            </a:r>
            <a:r>
              <a:rPr lang="it-IT" b="1" dirty="0">
                <a:effectLst/>
              </a:rPr>
              <a:t> over time </a:t>
            </a:r>
            <a:r>
              <a:rPr lang="it-IT" b="1" dirty="0" err="1">
                <a:effectLst/>
              </a:rPr>
              <a:t>does</a:t>
            </a:r>
            <a:r>
              <a:rPr lang="it-IT" b="1" dirty="0">
                <a:effectLst/>
              </a:rPr>
              <a:t> </a:t>
            </a:r>
            <a:r>
              <a:rPr lang="it-IT" b="1" dirty="0" err="1">
                <a:effectLst/>
              </a:rPr>
              <a:t>not</a:t>
            </a:r>
            <a:r>
              <a:rPr lang="it-IT" b="1" dirty="0">
                <a:effectLst/>
              </a:rPr>
              <a:t> </a:t>
            </a:r>
            <a:r>
              <a:rPr lang="it-IT" b="1" dirty="0" err="1">
                <a:effectLst/>
              </a:rPr>
              <a:t>affect</a:t>
            </a:r>
            <a:r>
              <a:rPr lang="it-IT" b="1" dirty="0">
                <a:effectLst/>
              </a:rPr>
              <a:t> overall </a:t>
            </a:r>
            <a:r>
              <a:rPr lang="it-IT" b="1" dirty="0" err="1">
                <a:effectLst/>
              </a:rPr>
              <a:t>diversity</a:t>
            </a:r>
            <a:r>
              <a:rPr lang="it-IT" dirty="0">
                <a:effectLst/>
              </a:rPr>
              <a:t>.</a:t>
            </a:r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7668947-21BB-6EDB-C882-E3EF669998AB}"/>
              </a:ext>
            </a:extLst>
          </p:cNvPr>
          <p:cNvSpPr txBox="1"/>
          <p:nvPr/>
        </p:nvSpPr>
        <p:spPr>
          <a:xfrm>
            <a:off x="627328" y="3508399"/>
            <a:ext cx="476763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/>
              <a:t>When</a:t>
            </a:r>
            <a:r>
              <a:rPr lang="it-IT" dirty="0"/>
              <a:t> pooling </a:t>
            </a:r>
            <a:r>
              <a:rPr lang="it-IT" dirty="0" err="1"/>
              <a:t>all</a:t>
            </a:r>
            <a:r>
              <a:rPr lang="it-IT" dirty="0"/>
              <a:t> time points, the </a:t>
            </a:r>
            <a:r>
              <a:rPr lang="it-IT" b="1" dirty="0"/>
              <a:t>Simpson index</a:t>
            </a:r>
            <a:r>
              <a:rPr lang="it-IT" dirty="0"/>
              <a:t> </a:t>
            </a:r>
            <a:r>
              <a:rPr lang="it-IT" dirty="0" err="1"/>
              <a:t>remains</a:t>
            </a:r>
            <a:r>
              <a:rPr lang="it-IT" dirty="0"/>
              <a:t> </a:t>
            </a:r>
            <a:r>
              <a:rPr lang="it-IT" dirty="0" err="1"/>
              <a:t>stable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</a:t>
            </a:r>
            <a:r>
              <a:rPr lang="it-IT" dirty="0" err="1"/>
              <a:t>subjects</a:t>
            </a:r>
            <a:r>
              <a:rPr lang="it-IT" dirty="0"/>
              <a:t> with and </a:t>
            </a:r>
            <a:r>
              <a:rPr lang="it-IT" dirty="0" err="1"/>
              <a:t>without</a:t>
            </a:r>
            <a:r>
              <a:rPr lang="it-IT" dirty="0"/>
              <a:t> </a:t>
            </a:r>
            <a:r>
              <a:rPr lang="it-IT" dirty="0" err="1"/>
              <a:t>lesions</a:t>
            </a:r>
            <a:r>
              <a:rPr lang="it-IT" dirty="0"/>
              <a:t>, </a:t>
            </a:r>
            <a:r>
              <a:rPr lang="it-IT" dirty="0" err="1"/>
              <a:t>suggesting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temporal</a:t>
            </a:r>
            <a:r>
              <a:rPr lang="it-IT" dirty="0"/>
              <a:t> </a:t>
            </a:r>
            <a:r>
              <a:rPr lang="it-IT" dirty="0" err="1"/>
              <a:t>lesion</a:t>
            </a:r>
            <a:r>
              <a:rPr lang="it-IT" dirty="0"/>
              <a:t> dynamics are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associated</a:t>
            </a:r>
            <a:r>
              <a:rPr lang="it-IT" dirty="0"/>
              <a:t> with major shifts in </a:t>
            </a:r>
            <a:r>
              <a:rPr lang="it-IT" dirty="0" err="1"/>
              <a:t>microbial</a:t>
            </a:r>
            <a:r>
              <a:rPr lang="it-IT" dirty="0"/>
              <a:t> community </a:t>
            </a:r>
            <a:r>
              <a:rPr lang="it-IT" dirty="0" err="1"/>
              <a:t>structure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269370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54A4A207-D46F-AFB1-1E0B-C3B3C4B06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0229" y="957834"/>
            <a:ext cx="5516104" cy="4391406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BAD03566-89B3-5E75-F975-390A4BB8DADE}"/>
              </a:ext>
            </a:extLst>
          </p:cNvPr>
          <p:cNvSpPr txBox="1"/>
          <p:nvPr/>
        </p:nvSpPr>
        <p:spPr>
          <a:xfrm>
            <a:off x="788670" y="77316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Alpha </a:t>
            </a:r>
            <a:r>
              <a:rPr lang="it-IT" b="1" dirty="0" err="1"/>
              <a:t>diversity</a:t>
            </a:r>
            <a:r>
              <a:rPr lang="it-IT" b="1" dirty="0"/>
              <a:t> (Shannon index)</a:t>
            </a:r>
            <a:r>
              <a:rPr lang="it-IT" dirty="0"/>
              <a:t> 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D6CBA24-85E7-B93A-82EA-57FA10A743F8}"/>
              </a:ext>
            </a:extLst>
          </p:cNvPr>
          <p:cNvSpPr txBox="1"/>
          <p:nvPr/>
        </p:nvSpPr>
        <p:spPr>
          <a:xfrm>
            <a:off x="788670" y="1399211"/>
            <a:ext cx="507263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Analysis of </a:t>
            </a:r>
            <a:r>
              <a:rPr lang="it-IT" dirty="0" err="1"/>
              <a:t>microbial</a:t>
            </a:r>
            <a:r>
              <a:rPr lang="it-IT" dirty="0"/>
              <a:t> </a:t>
            </a:r>
            <a:r>
              <a:rPr lang="it-IT" dirty="0" err="1"/>
              <a:t>diversity</a:t>
            </a:r>
            <a:r>
              <a:rPr lang="it-IT" dirty="0"/>
              <a:t> </a:t>
            </a:r>
            <a:r>
              <a:rPr lang="it-IT" dirty="0" err="1"/>
              <a:t>considering</a:t>
            </a:r>
            <a:r>
              <a:rPr lang="it-IT" dirty="0"/>
              <a:t> </a:t>
            </a:r>
            <a:r>
              <a:rPr lang="it-IT" dirty="0" err="1"/>
              <a:t>unique</a:t>
            </a:r>
            <a:r>
              <a:rPr lang="it-IT" dirty="0"/>
              <a:t> </a:t>
            </a:r>
            <a:r>
              <a:rPr lang="it-IT" dirty="0" err="1"/>
              <a:t>IDs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subset and </a:t>
            </a:r>
            <a:r>
              <a:rPr lang="it-IT" b="1" dirty="0"/>
              <a:t>relapse status </a:t>
            </a:r>
            <a:r>
              <a:rPr lang="it-IT" dirty="0"/>
              <a:t>(0 = no relapse, 1 = relapse)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variable</a:t>
            </a:r>
            <a:r>
              <a:rPr lang="it-IT" dirty="0"/>
              <a:t>. </a:t>
            </a:r>
            <a:r>
              <a:rPr lang="it-IT" dirty="0" err="1"/>
              <a:t>Results</a:t>
            </a:r>
            <a:r>
              <a:rPr lang="it-IT" dirty="0"/>
              <a:t> show </a:t>
            </a:r>
            <a:r>
              <a:rPr lang="it-IT" b="1" dirty="0"/>
              <a:t>no </a:t>
            </a:r>
            <a:r>
              <a:rPr lang="it-IT" b="1" dirty="0" err="1"/>
              <a:t>significant</a:t>
            </a:r>
            <a:r>
              <a:rPr lang="it-IT" b="1" dirty="0"/>
              <a:t> </a:t>
            </a:r>
            <a:r>
              <a:rPr lang="it-IT" b="1" dirty="0" err="1"/>
              <a:t>difference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groups (</a:t>
            </a:r>
            <a:r>
              <a:rPr lang="it-IT" i="1" dirty="0"/>
              <a:t>Wilcoxon test</a:t>
            </a:r>
            <a:r>
              <a:rPr lang="it-IT" dirty="0"/>
              <a:t>, </a:t>
            </a:r>
            <a:r>
              <a:rPr lang="it-IT" i="1" dirty="0"/>
              <a:t>p</a:t>
            </a:r>
            <a:r>
              <a:rPr lang="it-IT" dirty="0"/>
              <a:t> = 0.205), </a:t>
            </a:r>
            <a:r>
              <a:rPr lang="it-IT" dirty="0" err="1"/>
              <a:t>indicating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the </a:t>
            </a:r>
            <a:r>
              <a:rPr lang="it-IT" dirty="0" err="1"/>
              <a:t>occurrence</a:t>
            </a:r>
            <a:r>
              <a:rPr lang="it-IT" dirty="0"/>
              <a:t> of relapse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associated</a:t>
            </a:r>
            <a:r>
              <a:rPr lang="it-IT" dirty="0"/>
              <a:t> with </a:t>
            </a:r>
            <a:r>
              <a:rPr lang="it-IT" dirty="0" err="1"/>
              <a:t>changes</a:t>
            </a:r>
            <a:r>
              <a:rPr lang="it-IT" dirty="0"/>
              <a:t> in </a:t>
            </a:r>
            <a:r>
              <a:rPr lang="it-IT" dirty="0" err="1"/>
              <a:t>microbial</a:t>
            </a:r>
            <a:r>
              <a:rPr lang="it-IT" dirty="0"/>
              <a:t> </a:t>
            </a:r>
            <a:r>
              <a:rPr lang="it-IT" dirty="0" err="1"/>
              <a:t>diversity</a:t>
            </a:r>
            <a:r>
              <a:rPr lang="it-IT" dirty="0"/>
              <a:t>.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B7B927BF-A586-5B9E-6B36-CFD8B4F06EBA}"/>
              </a:ext>
            </a:extLst>
          </p:cNvPr>
          <p:cNvSpPr txBox="1"/>
          <p:nvPr/>
        </p:nvSpPr>
        <p:spPr>
          <a:xfrm>
            <a:off x="788670" y="3774901"/>
            <a:ext cx="49903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The </a:t>
            </a:r>
            <a:r>
              <a:rPr lang="it-IT" b="1" dirty="0"/>
              <a:t>Shannon index</a:t>
            </a:r>
            <a:r>
              <a:rPr lang="it-IT" dirty="0"/>
              <a:t> </a:t>
            </a:r>
            <a:r>
              <a:rPr lang="it-IT" dirty="0" err="1"/>
              <a:t>remains</a:t>
            </a:r>
            <a:r>
              <a:rPr lang="it-IT" dirty="0"/>
              <a:t> </a:t>
            </a:r>
            <a:r>
              <a:rPr lang="it-IT" dirty="0" err="1"/>
              <a:t>stable</a:t>
            </a:r>
            <a:r>
              <a:rPr lang="it-IT" dirty="0"/>
              <a:t> </a:t>
            </a:r>
            <a:r>
              <a:rPr lang="it-IT" dirty="0" err="1"/>
              <a:t>across</a:t>
            </a:r>
            <a:r>
              <a:rPr lang="it-IT" dirty="0"/>
              <a:t> relapse </a:t>
            </a:r>
            <a:r>
              <a:rPr lang="it-IT" dirty="0" err="1"/>
              <a:t>conditions</a:t>
            </a:r>
            <a:r>
              <a:rPr lang="it-IT" dirty="0"/>
              <a:t>, </a:t>
            </a:r>
            <a:r>
              <a:rPr lang="it-IT" dirty="0" err="1"/>
              <a:t>suggesting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clinical relapse </a:t>
            </a:r>
            <a:r>
              <a:rPr lang="it-IT" dirty="0" err="1"/>
              <a:t>does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correspond</a:t>
            </a:r>
            <a:r>
              <a:rPr lang="it-IT" dirty="0"/>
              <a:t> to </a:t>
            </a:r>
            <a:r>
              <a:rPr lang="it-IT" dirty="0" err="1"/>
              <a:t>measurable</a:t>
            </a:r>
            <a:r>
              <a:rPr lang="it-IT" dirty="0"/>
              <a:t> shifts in overall microbiota </a:t>
            </a:r>
            <a:r>
              <a:rPr lang="it-IT" dirty="0" err="1"/>
              <a:t>diversity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708053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A1E8CF86-315B-A23D-AAEB-7ACC81A47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20" y="3610249"/>
            <a:ext cx="3426671" cy="2784170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DCED76C4-B0B3-3DC0-88CB-04174D041C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9037" y="3453468"/>
            <a:ext cx="3568187" cy="2940951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43BF3812-1503-9F35-956B-0226ABAE23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8" y="3381922"/>
            <a:ext cx="3653444" cy="299088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7DD2A477-B675-9C30-7603-5537803F6E87}"/>
              </a:ext>
            </a:extLst>
          </p:cNvPr>
          <p:cNvSpPr txBox="1"/>
          <p:nvPr/>
        </p:nvSpPr>
        <p:spPr>
          <a:xfrm>
            <a:off x="451267" y="694063"/>
            <a:ext cx="5644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Alpha </a:t>
            </a:r>
            <a:r>
              <a:rPr lang="it-IT" b="1" dirty="0" err="1"/>
              <a:t>diversity</a:t>
            </a:r>
            <a:r>
              <a:rPr lang="it-IT" b="1" dirty="0"/>
              <a:t> </a:t>
            </a:r>
            <a:r>
              <a:rPr lang="it-IT" b="1" dirty="0" err="1"/>
              <a:t>at</a:t>
            </a:r>
            <a:r>
              <a:rPr lang="it-IT" b="1" dirty="0"/>
              <a:t> baseline (T0) by relapse status</a:t>
            </a:r>
            <a:r>
              <a:rPr lang="it-IT" dirty="0"/>
              <a:t> 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C1641898-9BB5-C17A-EE90-5F90E94A185F}"/>
              </a:ext>
            </a:extLst>
          </p:cNvPr>
          <p:cNvSpPr txBox="1"/>
          <p:nvPr/>
        </p:nvSpPr>
        <p:spPr>
          <a:xfrm>
            <a:off x="451266" y="1063395"/>
            <a:ext cx="108964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/>
              <a:t>Comparison</a:t>
            </a:r>
            <a:r>
              <a:rPr lang="it-IT" dirty="0"/>
              <a:t> of </a:t>
            </a:r>
            <a:r>
              <a:rPr lang="it-IT" dirty="0" err="1"/>
              <a:t>microbial</a:t>
            </a:r>
            <a:r>
              <a:rPr lang="it-IT" dirty="0"/>
              <a:t> </a:t>
            </a:r>
            <a:r>
              <a:rPr lang="it-IT" dirty="0" err="1"/>
              <a:t>diversity</a:t>
            </a:r>
            <a:r>
              <a:rPr lang="it-IT" dirty="0"/>
              <a:t> </a:t>
            </a:r>
            <a:r>
              <a:rPr lang="it-IT" dirty="0" err="1"/>
              <a:t>indices</a:t>
            </a:r>
            <a:r>
              <a:rPr lang="it-IT" dirty="0"/>
              <a:t> — Shannon, Simpson, and </a:t>
            </a:r>
            <a:r>
              <a:rPr lang="it-IT" dirty="0" err="1"/>
              <a:t>Observed</a:t>
            </a:r>
            <a:r>
              <a:rPr lang="it-IT" dirty="0"/>
              <a:t> </a:t>
            </a:r>
            <a:r>
              <a:rPr lang="it-IT" dirty="0" err="1"/>
              <a:t>species</a:t>
            </a:r>
            <a:r>
              <a:rPr lang="it-IT" dirty="0"/>
              <a:t> </a:t>
            </a:r>
            <a:r>
              <a:rPr lang="it-IT" dirty="0" err="1"/>
              <a:t>richness</a:t>
            </a:r>
            <a:r>
              <a:rPr lang="it-IT" dirty="0"/>
              <a:t> — </a:t>
            </a:r>
            <a:r>
              <a:rPr lang="it-IT" dirty="0" err="1"/>
              <a:t>between</a:t>
            </a:r>
            <a:r>
              <a:rPr lang="it-IT" dirty="0"/>
              <a:t> </a:t>
            </a:r>
            <a:r>
              <a:rPr lang="it-IT" dirty="0" err="1"/>
              <a:t>subjects</a:t>
            </a:r>
            <a:r>
              <a:rPr lang="it-IT" dirty="0"/>
              <a:t> with (1) and </a:t>
            </a:r>
            <a:r>
              <a:rPr lang="it-IT" dirty="0" err="1"/>
              <a:t>without</a:t>
            </a:r>
            <a:r>
              <a:rPr lang="it-IT" dirty="0"/>
              <a:t> (0) relapse </a:t>
            </a:r>
            <a:r>
              <a:rPr lang="it-IT" dirty="0" err="1"/>
              <a:t>at</a:t>
            </a:r>
            <a:r>
              <a:rPr lang="it-IT" dirty="0"/>
              <a:t> baseline. All </a:t>
            </a:r>
            <a:r>
              <a:rPr lang="it-IT" dirty="0" err="1"/>
              <a:t>indices</a:t>
            </a:r>
            <a:r>
              <a:rPr lang="it-IT" dirty="0"/>
              <a:t> show </a:t>
            </a:r>
            <a:r>
              <a:rPr lang="it-IT" b="1" dirty="0" err="1"/>
              <a:t>similar</a:t>
            </a:r>
            <a:r>
              <a:rPr lang="it-IT" b="1" dirty="0"/>
              <a:t> </a:t>
            </a:r>
            <a:r>
              <a:rPr lang="it-IT" b="1" dirty="0" err="1"/>
              <a:t>distributions</a:t>
            </a:r>
            <a:r>
              <a:rPr lang="it-IT" dirty="0"/>
              <a:t> and </a:t>
            </a:r>
            <a:r>
              <a:rPr lang="it-IT" b="1" dirty="0"/>
              <a:t>no </a:t>
            </a:r>
            <a:r>
              <a:rPr lang="it-IT" b="1" dirty="0" err="1"/>
              <a:t>significant</a:t>
            </a:r>
            <a:r>
              <a:rPr lang="it-IT" b="1" dirty="0"/>
              <a:t> </a:t>
            </a:r>
            <a:r>
              <a:rPr lang="it-IT" b="1" dirty="0" err="1"/>
              <a:t>differences</a:t>
            </a:r>
            <a:r>
              <a:rPr lang="it-IT" dirty="0"/>
              <a:t>, </a:t>
            </a:r>
            <a:r>
              <a:rPr lang="it-IT" dirty="0" err="1"/>
              <a:t>indicating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microbial</a:t>
            </a:r>
            <a:r>
              <a:rPr lang="it-IT" dirty="0"/>
              <a:t> </a:t>
            </a:r>
            <a:r>
              <a:rPr lang="it-IT" dirty="0" err="1"/>
              <a:t>diversity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T0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associated</a:t>
            </a:r>
            <a:r>
              <a:rPr lang="it-IT" dirty="0"/>
              <a:t> with relapse </a:t>
            </a:r>
            <a:r>
              <a:rPr lang="it-IT" dirty="0" err="1"/>
              <a:t>occurrence</a:t>
            </a:r>
            <a:r>
              <a:rPr lang="it-IT" dirty="0"/>
              <a:t>.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6E848ED4-47E8-0BF4-924D-D8F1128CB351}"/>
              </a:ext>
            </a:extLst>
          </p:cNvPr>
          <p:cNvSpPr txBox="1"/>
          <p:nvPr/>
        </p:nvSpPr>
        <p:spPr>
          <a:xfrm>
            <a:off x="451266" y="2361158"/>
            <a:ext cx="109787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At baseline, the microbiota </a:t>
            </a:r>
            <a:r>
              <a:rPr lang="it-IT" dirty="0" err="1"/>
              <a:t>composition</a:t>
            </a:r>
            <a:r>
              <a:rPr lang="it-IT" dirty="0"/>
              <a:t> </a:t>
            </a:r>
            <a:r>
              <a:rPr lang="it-IT" dirty="0" err="1"/>
              <a:t>appears</a:t>
            </a:r>
            <a:r>
              <a:rPr lang="it-IT" dirty="0"/>
              <a:t> </a:t>
            </a:r>
            <a:r>
              <a:rPr lang="it-IT" b="1" dirty="0"/>
              <a:t>comparable </a:t>
            </a:r>
            <a:r>
              <a:rPr lang="it-IT" b="1" dirty="0" err="1"/>
              <a:t>across</a:t>
            </a:r>
            <a:r>
              <a:rPr lang="it-IT" b="1" dirty="0"/>
              <a:t> relapse </a:t>
            </a:r>
            <a:r>
              <a:rPr lang="it-IT" b="1" dirty="0" err="1"/>
              <a:t>conditions</a:t>
            </a:r>
            <a:r>
              <a:rPr lang="it-IT" dirty="0"/>
              <a:t>, </a:t>
            </a:r>
            <a:r>
              <a:rPr lang="it-IT" dirty="0" err="1"/>
              <a:t>suggesting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b="1" dirty="0" err="1"/>
              <a:t>initial</a:t>
            </a:r>
            <a:r>
              <a:rPr lang="it-IT" b="1" dirty="0"/>
              <a:t> </a:t>
            </a:r>
            <a:r>
              <a:rPr lang="it-IT" b="1" dirty="0" err="1"/>
              <a:t>diversity</a:t>
            </a:r>
            <a:r>
              <a:rPr lang="it-IT" b="1" dirty="0"/>
              <a:t> </a:t>
            </a:r>
            <a:r>
              <a:rPr lang="it-IT" b="1" dirty="0" err="1"/>
              <a:t>does</a:t>
            </a:r>
            <a:r>
              <a:rPr lang="it-IT" b="1" dirty="0"/>
              <a:t> </a:t>
            </a:r>
            <a:r>
              <a:rPr lang="it-IT" b="1" dirty="0" err="1"/>
              <a:t>not</a:t>
            </a:r>
            <a:r>
              <a:rPr lang="it-IT" b="1" dirty="0"/>
              <a:t> </a:t>
            </a:r>
            <a:r>
              <a:rPr lang="it-IT" b="1" dirty="0" err="1"/>
              <a:t>predict</a:t>
            </a:r>
            <a:r>
              <a:rPr lang="it-IT" b="1" dirty="0"/>
              <a:t> relapse risk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199900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64FAF0C2-476D-13EC-BC04-22AF39AB2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52" y="3619838"/>
            <a:ext cx="3942822" cy="3139655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A4B27B63-0BD3-ACAF-841B-63163EB574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1033" y="3402633"/>
            <a:ext cx="4321343" cy="3425212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94732AB2-B6AB-3662-9721-1C367B41F5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2376" y="3432788"/>
            <a:ext cx="4179281" cy="3395057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C4AE8BB5-132D-0C98-9136-82A7FF4A11AB}"/>
              </a:ext>
            </a:extLst>
          </p:cNvPr>
          <p:cNvSpPr txBox="1"/>
          <p:nvPr/>
        </p:nvSpPr>
        <p:spPr>
          <a:xfrm>
            <a:off x="416107" y="431531"/>
            <a:ext cx="8879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Alpha </a:t>
            </a:r>
            <a:r>
              <a:rPr lang="it-IT" b="1" dirty="0" err="1"/>
              <a:t>diversity</a:t>
            </a:r>
            <a:r>
              <a:rPr lang="it-IT" b="1" dirty="0"/>
              <a:t> </a:t>
            </a:r>
            <a:r>
              <a:rPr lang="it-IT" b="1" dirty="0" err="1"/>
              <a:t>at</a:t>
            </a:r>
            <a:r>
              <a:rPr lang="it-IT" b="1" dirty="0"/>
              <a:t> follow‑up time T1 by relapse status</a:t>
            </a:r>
            <a:r>
              <a:rPr lang="it-IT" dirty="0"/>
              <a:t> 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09352549-74B2-FF70-D5D1-1361F0BA4EB7}"/>
              </a:ext>
            </a:extLst>
          </p:cNvPr>
          <p:cNvSpPr txBox="1"/>
          <p:nvPr/>
        </p:nvSpPr>
        <p:spPr>
          <a:xfrm>
            <a:off x="416106" y="1101843"/>
            <a:ext cx="1143451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dirty="0" err="1">
                <a:effectLst/>
              </a:rPr>
              <a:t>Comparison</a:t>
            </a:r>
            <a:r>
              <a:rPr lang="it-IT" dirty="0">
                <a:effectLst/>
              </a:rPr>
              <a:t> of </a:t>
            </a:r>
            <a:r>
              <a:rPr lang="it-IT" dirty="0" err="1">
                <a:effectLst/>
              </a:rPr>
              <a:t>microbial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diversity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indices</a:t>
            </a:r>
            <a:r>
              <a:rPr lang="it-IT" dirty="0">
                <a:effectLst/>
              </a:rPr>
              <a:t> — Shannon, Simpson, and </a:t>
            </a:r>
            <a:r>
              <a:rPr lang="it-IT" dirty="0" err="1">
                <a:effectLst/>
              </a:rPr>
              <a:t>Observed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species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richness</a:t>
            </a:r>
            <a:r>
              <a:rPr lang="it-IT" dirty="0">
                <a:effectLst/>
              </a:rPr>
              <a:t> — </a:t>
            </a:r>
            <a:r>
              <a:rPr lang="it-IT" dirty="0" err="1">
                <a:effectLst/>
              </a:rPr>
              <a:t>between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subjects</a:t>
            </a:r>
            <a:r>
              <a:rPr lang="it-IT" dirty="0">
                <a:effectLst/>
              </a:rPr>
              <a:t> with (1) and </a:t>
            </a:r>
            <a:r>
              <a:rPr lang="it-IT" dirty="0" err="1">
                <a:effectLst/>
              </a:rPr>
              <a:t>without</a:t>
            </a:r>
            <a:r>
              <a:rPr lang="it-IT" dirty="0">
                <a:effectLst/>
              </a:rPr>
              <a:t> (0) relapse </a:t>
            </a:r>
            <a:r>
              <a:rPr lang="it-IT" dirty="0" err="1">
                <a:effectLst/>
              </a:rPr>
              <a:t>at</a:t>
            </a:r>
            <a:r>
              <a:rPr lang="it-IT" dirty="0">
                <a:effectLst/>
              </a:rPr>
              <a:t> follow‑up time T1. All </a:t>
            </a:r>
            <a:r>
              <a:rPr lang="it-IT" dirty="0" err="1">
                <a:effectLst/>
              </a:rPr>
              <a:t>indices</a:t>
            </a:r>
            <a:r>
              <a:rPr lang="it-IT" dirty="0">
                <a:effectLst/>
              </a:rPr>
              <a:t> show </a:t>
            </a:r>
            <a:r>
              <a:rPr lang="it-IT" b="1" dirty="0">
                <a:effectLst/>
              </a:rPr>
              <a:t>no </a:t>
            </a:r>
            <a:r>
              <a:rPr lang="it-IT" b="1" dirty="0" err="1">
                <a:effectLst/>
              </a:rPr>
              <a:t>significant</a:t>
            </a:r>
            <a:r>
              <a:rPr lang="it-IT" b="1" dirty="0">
                <a:effectLst/>
              </a:rPr>
              <a:t> </a:t>
            </a:r>
            <a:r>
              <a:rPr lang="it-IT" b="1" dirty="0" err="1">
                <a:effectLst/>
              </a:rPr>
              <a:t>differences</a:t>
            </a:r>
            <a:r>
              <a:rPr lang="it-IT" dirty="0">
                <a:effectLst/>
              </a:rPr>
              <a:t> (</a:t>
            </a:r>
            <a:r>
              <a:rPr lang="it-IT" i="1" dirty="0">
                <a:effectLst/>
              </a:rPr>
              <a:t>Wilcoxon test</a:t>
            </a:r>
            <a:r>
              <a:rPr lang="it-IT" dirty="0">
                <a:effectLst/>
              </a:rPr>
              <a:t>, </a:t>
            </a:r>
            <a:r>
              <a:rPr lang="it-IT" i="1" dirty="0">
                <a:effectLst/>
              </a:rPr>
              <a:t>p</a:t>
            </a:r>
            <a:r>
              <a:rPr lang="it-IT" dirty="0">
                <a:effectLst/>
              </a:rPr>
              <a:t> = 0.117, 0.117, and 0.158 </a:t>
            </a:r>
            <a:r>
              <a:rPr lang="it-IT" dirty="0" err="1">
                <a:effectLst/>
              </a:rPr>
              <a:t>respectively</a:t>
            </a:r>
            <a:r>
              <a:rPr lang="it-IT" dirty="0">
                <a:effectLst/>
              </a:rPr>
              <a:t>), </a:t>
            </a:r>
            <a:r>
              <a:rPr lang="it-IT" dirty="0" err="1">
                <a:effectLst/>
              </a:rPr>
              <a:t>indicating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that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microbial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diversity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remains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stable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regardless</a:t>
            </a:r>
            <a:r>
              <a:rPr lang="it-IT" dirty="0">
                <a:effectLst/>
              </a:rPr>
              <a:t> of relapse </a:t>
            </a:r>
            <a:r>
              <a:rPr lang="it-IT" dirty="0" err="1">
                <a:effectLst/>
              </a:rPr>
              <a:t>occurrence</a:t>
            </a:r>
            <a:r>
              <a:rPr lang="it-IT" dirty="0">
                <a:effectLst/>
              </a:rPr>
              <a:t>.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46B0F97F-8024-3EB4-5058-870150181D93}"/>
              </a:ext>
            </a:extLst>
          </p:cNvPr>
          <p:cNvSpPr txBox="1"/>
          <p:nvPr/>
        </p:nvSpPr>
        <p:spPr>
          <a:xfrm>
            <a:off x="416106" y="2370524"/>
            <a:ext cx="112973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At T1, </a:t>
            </a:r>
            <a:r>
              <a:rPr lang="it-IT" b="1" dirty="0"/>
              <a:t>the microbiota </a:t>
            </a:r>
            <a:r>
              <a:rPr lang="it-IT" b="1" dirty="0" err="1"/>
              <a:t>composition</a:t>
            </a:r>
            <a:r>
              <a:rPr lang="it-IT" b="1" dirty="0"/>
              <a:t> </a:t>
            </a:r>
            <a:r>
              <a:rPr lang="it-IT" b="1" dirty="0" err="1"/>
              <a:t>appears</a:t>
            </a:r>
            <a:r>
              <a:rPr lang="it-IT" b="1" dirty="0"/>
              <a:t> </a:t>
            </a:r>
            <a:r>
              <a:rPr lang="it-IT" b="1" dirty="0" err="1"/>
              <a:t>unchanged</a:t>
            </a:r>
            <a:r>
              <a:rPr lang="it-IT" b="1" dirty="0"/>
              <a:t> </a:t>
            </a:r>
            <a:r>
              <a:rPr lang="it-IT" b="1" dirty="0" err="1"/>
              <a:t>between</a:t>
            </a:r>
            <a:r>
              <a:rPr lang="it-IT" b="1" dirty="0"/>
              <a:t> relapse and non‑relapse groups</a:t>
            </a:r>
            <a:r>
              <a:rPr lang="it-IT" dirty="0"/>
              <a:t>, </a:t>
            </a:r>
            <a:r>
              <a:rPr lang="it-IT" dirty="0" err="1"/>
              <a:t>suggesting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diversity</a:t>
            </a:r>
            <a:r>
              <a:rPr lang="it-IT" dirty="0"/>
              <a:t> </a:t>
            </a:r>
            <a:r>
              <a:rPr lang="it-IT" dirty="0" err="1"/>
              <a:t>does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fluctuate</a:t>
            </a:r>
            <a:r>
              <a:rPr lang="it-IT" dirty="0"/>
              <a:t> in relation to clinical relapse events.</a:t>
            </a:r>
          </a:p>
        </p:txBody>
      </p:sp>
    </p:spTree>
    <p:extLst>
      <p:ext uri="{BB962C8B-B14F-4D97-AF65-F5344CB8AC3E}">
        <p14:creationId xmlns:p14="http://schemas.microsoft.com/office/powerpoint/2010/main" val="3661955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D95DA2B7-B8D3-B11E-10BA-2403BFA18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44586"/>
            <a:ext cx="3845746" cy="3113414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008C039C-FF1F-FCED-4C25-3AB7E1DD5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9754" y="3537065"/>
            <a:ext cx="4137952" cy="3320935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91B60C26-9CB3-4992-8407-79867AF58D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372" y="3537065"/>
            <a:ext cx="4004705" cy="3215045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60F242F7-7C19-4805-50F7-565155F61926}"/>
              </a:ext>
            </a:extLst>
          </p:cNvPr>
          <p:cNvSpPr txBox="1"/>
          <p:nvPr/>
        </p:nvSpPr>
        <p:spPr>
          <a:xfrm>
            <a:off x="524160" y="472073"/>
            <a:ext cx="6643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Alpha </a:t>
            </a:r>
            <a:r>
              <a:rPr lang="it-IT" b="1" dirty="0" err="1"/>
              <a:t>diversity</a:t>
            </a:r>
            <a:r>
              <a:rPr lang="it-IT" b="1" dirty="0"/>
              <a:t> </a:t>
            </a:r>
            <a:r>
              <a:rPr lang="it-IT" b="1" dirty="0" err="1"/>
              <a:t>at</a:t>
            </a:r>
            <a:r>
              <a:rPr lang="it-IT" b="1" dirty="0"/>
              <a:t> follow‑up time T12 by relapse status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84067A58-E37B-3C91-AF49-0F648704BE53}"/>
              </a:ext>
            </a:extLst>
          </p:cNvPr>
          <p:cNvSpPr txBox="1"/>
          <p:nvPr/>
        </p:nvSpPr>
        <p:spPr>
          <a:xfrm>
            <a:off x="524160" y="1082089"/>
            <a:ext cx="110612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dirty="0" err="1">
                <a:effectLst/>
              </a:rPr>
              <a:t>Comparison</a:t>
            </a:r>
            <a:r>
              <a:rPr lang="it-IT" dirty="0">
                <a:effectLst/>
              </a:rPr>
              <a:t> of </a:t>
            </a:r>
            <a:r>
              <a:rPr lang="it-IT" b="1" dirty="0" err="1">
                <a:effectLst/>
              </a:rPr>
              <a:t>microbial</a:t>
            </a:r>
            <a:r>
              <a:rPr lang="it-IT" b="1" dirty="0">
                <a:effectLst/>
              </a:rPr>
              <a:t> </a:t>
            </a:r>
            <a:r>
              <a:rPr lang="it-IT" b="1" dirty="0" err="1">
                <a:effectLst/>
              </a:rPr>
              <a:t>diversity</a:t>
            </a:r>
            <a:r>
              <a:rPr lang="it-IT" b="1" dirty="0">
                <a:effectLst/>
              </a:rPr>
              <a:t> </a:t>
            </a:r>
            <a:r>
              <a:rPr lang="it-IT" b="1" dirty="0" err="1">
                <a:effectLst/>
              </a:rPr>
              <a:t>indices</a:t>
            </a:r>
            <a:r>
              <a:rPr lang="it-IT" b="1" dirty="0">
                <a:effectLst/>
              </a:rPr>
              <a:t> — Shannon, Simpson, and </a:t>
            </a:r>
            <a:r>
              <a:rPr lang="it-IT" b="1" dirty="0" err="1">
                <a:effectLst/>
              </a:rPr>
              <a:t>Observed</a:t>
            </a:r>
            <a:r>
              <a:rPr lang="it-IT" b="1" dirty="0">
                <a:effectLst/>
              </a:rPr>
              <a:t> </a:t>
            </a:r>
            <a:r>
              <a:rPr lang="it-IT" b="1" dirty="0" err="1">
                <a:effectLst/>
              </a:rPr>
              <a:t>species</a:t>
            </a:r>
            <a:r>
              <a:rPr lang="it-IT" b="1" dirty="0">
                <a:effectLst/>
              </a:rPr>
              <a:t> </a:t>
            </a:r>
            <a:r>
              <a:rPr lang="it-IT" b="1" dirty="0" err="1">
                <a:effectLst/>
              </a:rPr>
              <a:t>richness</a:t>
            </a:r>
            <a:r>
              <a:rPr lang="it-IT" b="1" dirty="0">
                <a:effectLst/>
              </a:rPr>
              <a:t> — </a:t>
            </a:r>
            <a:r>
              <a:rPr lang="it-IT" b="1" dirty="0" err="1">
                <a:effectLst/>
              </a:rPr>
              <a:t>between</a:t>
            </a:r>
            <a:r>
              <a:rPr lang="it-IT" b="1" dirty="0">
                <a:effectLst/>
              </a:rPr>
              <a:t> </a:t>
            </a:r>
            <a:r>
              <a:rPr lang="it-IT" b="1" dirty="0" err="1">
                <a:effectLst/>
              </a:rPr>
              <a:t>subjects</a:t>
            </a:r>
            <a:r>
              <a:rPr lang="it-IT" b="1" dirty="0">
                <a:effectLst/>
              </a:rPr>
              <a:t> with (1) and </a:t>
            </a:r>
            <a:r>
              <a:rPr lang="it-IT" b="1" dirty="0" err="1">
                <a:effectLst/>
              </a:rPr>
              <a:t>without</a:t>
            </a:r>
            <a:r>
              <a:rPr lang="it-IT" b="1" dirty="0">
                <a:effectLst/>
              </a:rPr>
              <a:t> (0) relapse </a:t>
            </a:r>
            <a:r>
              <a:rPr lang="it-IT" dirty="0" err="1">
                <a:effectLst/>
              </a:rPr>
              <a:t>at</a:t>
            </a:r>
            <a:r>
              <a:rPr lang="it-IT" dirty="0">
                <a:effectLst/>
              </a:rPr>
              <a:t> follow‑up time T12. All </a:t>
            </a:r>
            <a:r>
              <a:rPr lang="it-IT" dirty="0" err="1">
                <a:effectLst/>
              </a:rPr>
              <a:t>indices</a:t>
            </a:r>
            <a:r>
              <a:rPr lang="it-IT" dirty="0">
                <a:effectLst/>
              </a:rPr>
              <a:t> show </a:t>
            </a:r>
            <a:r>
              <a:rPr lang="it-IT" b="1" dirty="0">
                <a:effectLst/>
              </a:rPr>
              <a:t>no </a:t>
            </a:r>
            <a:r>
              <a:rPr lang="it-IT" b="1" dirty="0" err="1">
                <a:effectLst/>
              </a:rPr>
              <a:t>significant</a:t>
            </a:r>
            <a:r>
              <a:rPr lang="it-IT" b="1" dirty="0">
                <a:effectLst/>
              </a:rPr>
              <a:t> </a:t>
            </a:r>
            <a:r>
              <a:rPr lang="it-IT" b="1" dirty="0" err="1">
                <a:effectLst/>
              </a:rPr>
              <a:t>differences</a:t>
            </a:r>
            <a:r>
              <a:rPr lang="it-IT" dirty="0">
                <a:effectLst/>
              </a:rPr>
              <a:t> (</a:t>
            </a:r>
            <a:r>
              <a:rPr lang="it-IT" i="1" dirty="0">
                <a:effectLst/>
              </a:rPr>
              <a:t>Wilcoxon test</a:t>
            </a:r>
            <a:r>
              <a:rPr lang="it-IT" dirty="0">
                <a:effectLst/>
              </a:rPr>
              <a:t>, </a:t>
            </a:r>
            <a:r>
              <a:rPr lang="it-IT" i="1" dirty="0">
                <a:effectLst/>
              </a:rPr>
              <a:t>p</a:t>
            </a:r>
            <a:r>
              <a:rPr lang="it-IT" dirty="0">
                <a:effectLst/>
              </a:rPr>
              <a:t> = 0.302, 0.812, and 0.109 </a:t>
            </a:r>
            <a:r>
              <a:rPr lang="it-IT" dirty="0" err="1">
                <a:effectLst/>
              </a:rPr>
              <a:t>respectively</a:t>
            </a:r>
            <a:r>
              <a:rPr lang="it-IT" dirty="0">
                <a:effectLst/>
              </a:rPr>
              <a:t>), </a:t>
            </a:r>
            <a:r>
              <a:rPr lang="it-IT" dirty="0" err="1">
                <a:effectLst/>
              </a:rPr>
              <a:t>indicating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that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microbial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diversity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remains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stable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regardless</a:t>
            </a:r>
            <a:r>
              <a:rPr lang="it-IT" dirty="0">
                <a:effectLst/>
              </a:rPr>
              <a:t> of relapse </a:t>
            </a:r>
            <a:r>
              <a:rPr lang="it-IT" dirty="0" err="1">
                <a:effectLst/>
              </a:rPr>
              <a:t>occurrence</a:t>
            </a:r>
            <a:r>
              <a:rPr lang="it-IT" dirty="0">
                <a:effectLst/>
              </a:rPr>
              <a:t>.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9EFAF941-5CAC-7E26-3393-7220D834C96D}"/>
              </a:ext>
            </a:extLst>
          </p:cNvPr>
          <p:cNvSpPr txBox="1"/>
          <p:nvPr/>
        </p:nvSpPr>
        <p:spPr>
          <a:xfrm>
            <a:off x="524160" y="2336736"/>
            <a:ext cx="105766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At T12, the microbiota </a:t>
            </a:r>
            <a:r>
              <a:rPr lang="it-IT" dirty="0" err="1"/>
              <a:t>composition</a:t>
            </a:r>
            <a:r>
              <a:rPr lang="it-IT" dirty="0"/>
              <a:t> </a:t>
            </a:r>
            <a:r>
              <a:rPr lang="it-IT" dirty="0" err="1"/>
              <a:t>appears</a:t>
            </a:r>
            <a:r>
              <a:rPr lang="it-IT" dirty="0"/>
              <a:t> </a:t>
            </a:r>
            <a:r>
              <a:rPr lang="it-IT" dirty="0" err="1"/>
              <a:t>unchanged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relapse and non‑relapse groups, </a:t>
            </a:r>
            <a:r>
              <a:rPr lang="it-IT" dirty="0" err="1"/>
              <a:t>confirming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diversity</a:t>
            </a:r>
            <a:r>
              <a:rPr lang="it-IT" dirty="0"/>
              <a:t> </a:t>
            </a:r>
            <a:r>
              <a:rPr lang="it-IT" dirty="0" err="1"/>
              <a:t>does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fluctuate</a:t>
            </a:r>
            <a:r>
              <a:rPr lang="it-IT" dirty="0"/>
              <a:t> in relation to clinical relapse events over time.</a:t>
            </a:r>
          </a:p>
        </p:txBody>
      </p:sp>
    </p:spTree>
    <p:extLst>
      <p:ext uri="{BB962C8B-B14F-4D97-AF65-F5344CB8AC3E}">
        <p14:creationId xmlns:p14="http://schemas.microsoft.com/office/powerpoint/2010/main" val="21101848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C5A6D31E-9AA4-03C2-54E5-827B9DA40D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50" b="-1"/>
          <a:stretch>
            <a:fillRect/>
          </a:stretch>
        </p:blipFill>
        <p:spPr>
          <a:xfrm>
            <a:off x="5831942" y="1435607"/>
            <a:ext cx="5534061" cy="4427239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4534F401-80E7-61F1-C4C5-C92D3CF441DA}"/>
              </a:ext>
            </a:extLst>
          </p:cNvPr>
          <p:cNvSpPr txBox="1"/>
          <p:nvPr/>
        </p:nvSpPr>
        <p:spPr>
          <a:xfrm>
            <a:off x="220337" y="473725"/>
            <a:ext cx="9152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Alpha </a:t>
            </a:r>
            <a:r>
              <a:rPr lang="it-IT" b="1" dirty="0" err="1"/>
              <a:t>diversity</a:t>
            </a:r>
            <a:r>
              <a:rPr lang="it-IT" b="1" dirty="0"/>
              <a:t> (</a:t>
            </a:r>
            <a:r>
              <a:rPr lang="it-IT" b="1" dirty="0" err="1"/>
              <a:t>Observed</a:t>
            </a:r>
            <a:r>
              <a:rPr lang="it-IT" b="1" dirty="0"/>
              <a:t> </a:t>
            </a:r>
            <a:r>
              <a:rPr lang="it-IT" b="1" dirty="0" err="1"/>
              <a:t>species</a:t>
            </a:r>
            <a:r>
              <a:rPr lang="it-IT" b="1" dirty="0"/>
              <a:t> </a:t>
            </a:r>
            <a:r>
              <a:rPr lang="it-IT" b="1" dirty="0" err="1"/>
              <a:t>richness</a:t>
            </a:r>
            <a:r>
              <a:rPr lang="it-IT" b="1" dirty="0"/>
              <a:t>) </a:t>
            </a:r>
            <a:r>
              <a:rPr lang="it-IT" b="1" dirty="0" err="1"/>
              <a:t>across</a:t>
            </a:r>
            <a:r>
              <a:rPr lang="it-IT" b="1" dirty="0"/>
              <a:t> </a:t>
            </a:r>
            <a:r>
              <a:rPr lang="it-IT" b="1" dirty="0" err="1"/>
              <a:t>all</a:t>
            </a:r>
            <a:r>
              <a:rPr lang="it-IT" b="1" dirty="0"/>
              <a:t> follow‑up times (T0, T1, T12)</a:t>
            </a:r>
            <a:r>
              <a:rPr lang="it-IT" dirty="0"/>
              <a:t> 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1306F08-D21E-3A76-4910-10EEC08CA1DA}"/>
              </a:ext>
            </a:extLst>
          </p:cNvPr>
          <p:cNvSpPr txBox="1"/>
          <p:nvPr/>
        </p:nvSpPr>
        <p:spPr>
          <a:xfrm>
            <a:off x="220337" y="1696765"/>
            <a:ext cx="538493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Analysis of </a:t>
            </a:r>
            <a:r>
              <a:rPr lang="it-IT" dirty="0" err="1"/>
              <a:t>microbial</a:t>
            </a:r>
            <a:r>
              <a:rPr lang="it-IT" dirty="0"/>
              <a:t> </a:t>
            </a:r>
            <a:r>
              <a:rPr lang="it-IT" dirty="0" err="1"/>
              <a:t>diversity</a:t>
            </a:r>
            <a:r>
              <a:rPr lang="it-IT" dirty="0"/>
              <a:t> </a:t>
            </a:r>
            <a:r>
              <a:rPr lang="it-IT" dirty="0" err="1"/>
              <a:t>considering</a:t>
            </a:r>
            <a:r>
              <a:rPr lang="it-IT" dirty="0"/>
              <a:t> relapse status (0 = no relapse, 1 = relapse) </a:t>
            </a:r>
            <a:r>
              <a:rPr lang="it-IT" dirty="0" err="1"/>
              <a:t>across</a:t>
            </a:r>
            <a:r>
              <a:rPr lang="it-IT" dirty="0"/>
              <a:t> </a:t>
            </a:r>
            <a:r>
              <a:rPr lang="it-IT" dirty="0" err="1"/>
              <a:t>all</a:t>
            </a:r>
            <a:r>
              <a:rPr lang="it-IT" dirty="0"/>
              <a:t> time points. </a:t>
            </a:r>
            <a:r>
              <a:rPr lang="it-IT" dirty="0" err="1"/>
              <a:t>Results</a:t>
            </a:r>
            <a:r>
              <a:rPr lang="it-IT" dirty="0"/>
              <a:t> show a </a:t>
            </a:r>
            <a:r>
              <a:rPr lang="it-IT" dirty="0" err="1"/>
              <a:t>significant</a:t>
            </a:r>
            <a:r>
              <a:rPr lang="it-IT" dirty="0"/>
              <a:t> </a:t>
            </a:r>
            <a:r>
              <a:rPr lang="it-IT" dirty="0" err="1"/>
              <a:t>reduction</a:t>
            </a:r>
            <a:r>
              <a:rPr lang="it-IT" dirty="0"/>
              <a:t> in </a:t>
            </a:r>
            <a:r>
              <a:rPr lang="it-IT" dirty="0" err="1"/>
              <a:t>observed</a:t>
            </a:r>
            <a:r>
              <a:rPr lang="it-IT" dirty="0"/>
              <a:t> </a:t>
            </a:r>
            <a:r>
              <a:rPr lang="it-IT" dirty="0" err="1"/>
              <a:t>species</a:t>
            </a:r>
            <a:r>
              <a:rPr lang="it-IT" dirty="0"/>
              <a:t> </a:t>
            </a:r>
            <a:r>
              <a:rPr lang="it-IT" dirty="0" err="1"/>
              <a:t>richness</a:t>
            </a:r>
            <a:r>
              <a:rPr lang="it-IT" dirty="0"/>
              <a:t> </a:t>
            </a:r>
            <a:r>
              <a:rPr lang="it-IT" dirty="0" err="1"/>
              <a:t>among</a:t>
            </a:r>
            <a:r>
              <a:rPr lang="it-IT" dirty="0"/>
              <a:t> </a:t>
            </a:r>
            <a:r>
              <a:rPr lang="it-IT" dirty="0" err="1"/>
              <a:t>subjects</a:t>
            </a:r>
            <a:r>
              <a:rPr lang="it-IT" dirty="0"/>
              <a:t> with relapse (</a:t>
            </a:r>
            <a:r>
              <a:rPr lang="it-IT" i="1" dirty="0"/>
              <a:t>Wilcoxon test</a:t>
            </a:r>
            <a:r>
              <a:rPr lang="it-IT" dirty="0"/>
              <a:t>, </a:t>
            </a:r>
            <a:r>
              <a:rPr lang="it-IT" b="1" i="1" u="sng" dirty="0"/>
              <a:t>p</a:t>
            </a:r>
            <a:r>
              <a:rPr lang="it-IT" b="1" u="sng" dirty="0"/>
              <a:t> = 0.0327</a:t>
            </a:r>
            <a:r>
              <a:rPr lang="it-IT" b="1" dirty="0"/>
              <a:t>), </a:t>
            </a:r>
            <a:r>
              <a:rPr lang="it-IT" b="1" dirty="0" err="1"/>
              <a:t>indicating</a:t>
            </a:r>
            <a:r>
              <a:rPr lang="it-IT" b="1" dirty="0"/>
              <a:t> </a:t>
            </a:r>
            <a:r>
              <a:rPr lang="it-IT" b="1" dirty="0" err="1"/>
              <a:t>that</a:t>
            </a:r>
            <a:r>
              <a:rPr lang="it-IT" b="1" dirty="0"/>
              <a:t> relapse events are </a:t>
            </a:r>
            <a:r>
              <a:rPr lang="it-IT" b="1" dirty="0" err="1"/>
              <a:t>associated</a:t>
            </a:r>
            <a:r>
              <a:rPr lang="it-IT" b="1" dirty="0"/>
              <a:t> with </a:t>
            </a:r>
            <a:r>
              <a:rPr lang="it-IT" b="1" dirty="0" err="1"/>
              <a:t>lower</a:t>
            </a:r>
            <a:r>
              <a:rPr lang="it-IT" b="1" dirty="0"/>
              <a:t> </a:t>
            </a:r>
            <a:r>
              <a:rPr lang="it-IT" b="1" dirty="0" err="1"/>
              <a:t>microbial</a:t>
            </a:r>
            <a:r>
              <a:rPr lang="it-IT" b="1" dirty="0"/>
              <a:t> </a:t>
            </a:r>
            <a:r>
              <a:rPr lang="it-IT" b="1" dirty="0" err="1"/>
              <a:t>diversity</a:t>
            </a:r>
            <a:r>
              <a:rPr lang="it-IT" b="1" dirty="0"/>
              <a:t> over time</a:t>
            </a:r>
            <a:r>
              <a:rPr lang="it-IT" dirty="0"/>
              <a:t>.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CC8FA2E-5BAF-D4D6-9A09-4600F922AE83}"/>
              </a:ext>
            </a:extLst>
          </p:cNvPr>
          <p:cNvSpPr txBox="1"/>
          <p:nvPr/>
        </p:nvSpPr>
        <p:spPr>
          <a:xfrm>
            <a:off x="220337" y="4145572"/>
            <a:ext cx="52203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/>
              <a:t>When</a:t>
            </a:r>
            <a:r>
              <a:rPr lang="it-IT" dirty="0"/>
              <a:t> pooling </a:t>
            </a:r>
            <a:r>
              <a:rPr lang="it-IT" dirty="0" err="1"/>
              <a:t>all</a:t>
            </a:r>
            <a:r>
              <a:rPr lang="it-IT" dirty="0"/>
              <a:t> time points, </a:t>
            </a:r>
            <a:r>
              <a:rPr lang="it-IT" dirty="0" err="1"/>
              <a:t>individuals</a:t>
            </a:r>
            <a:r>
              <a:rPr lang="it-IT" dirty="0"/>
              <a:t> </a:t>
            </a:r>
            <a:r>
              <a:rPr lang="it-IT" dirty="0" err="1"/>
              <a:t>experiencing</a:t>
            </a:r>
            <a:r>
              <a:rPr lang="it-IT" dirty="0"/>
              <a:t> relapse display </a:t>
            </a:r>
            <a:r>
              <a:rPr lang="it-IT" b="1" dirty="0" err="1"/>
              <a:t>reduced</a:t>
            </a:r>
            <a:r>
              <a:rPr lang="it-IT" b="1" dirty="0"/>
              <a:t> </a:t>
            </a:r>
            <a:r>
              <a:rPr lang="it-IT" b="1" dirty="0" err="1"/>
              <a:t>richness</a:t>
            </a:r>
            <a:r>
              <a:rPr lang="it-IT" dirty="0"/>
              <a:t>, </a:t>
            </a:r>
            <a:r>
              <a:rPr lang="it-IT" dirty="0" err="1"/>
              <a:t>suggesting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b="1" dirty="0" err="1"/>
              <a:t>loss</a:t>
            </a:r>
            <a:r>
              <a:rPr lang="it-IT" b="1" dirty="0"/>
              <a:t> of </a:t>
            </a:r>
            <a:r>
              <a:rPr lang="it-IT" b="1" dirty="0" err="1"/>
              <a:t>microbial</a:t>
            </a:r>
            <a:r>
              <a:rPr lang="it-IT" b="1" dirty="0"/>
              <a:t> </a:t>
            </a:r>
            <a:r>
              <a:rPr lang="it-IT" b="1" dirty="0" err="1"/>
              <a:t>diversity</a:t>
            </a:r>
            <a:r>
              <a:rPr lang="it-IT" b="1" dirty="0"/>
              <a:t> </a:t>
            </a:r>
            <a:r>
              <a:rPr lang="it-IT" b="1" dirty="0" err="1"/>
              <a:t>may</a:t>
            </a:r>
            <a:r>
              <a:rPr lang="it-IT" b="1" dirty="0"/>
              <a:t> </a:t>
            </a:r>
            <a:r>
              <a:rPr lang="it-IT" b="1" dirty="0" err="1"/>
              <a:t>accompany</a:t>
            </a:r>
            <a:r>
              <a:rPr lang="it-IT" b="1" dirty="0"/>
              <a:t> or precede clinical relapse</a:t>
            </a:r>
            <a:r>
              <a:rPr lang="it-IT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082102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FBF80378-2DC9-1412-F30D-88EC4855F3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82" b="-1"/>
          <a:stretch>
            <a:fillRect/>
          </a:stretch>
        </p:blipFill>
        <p:spPr>
          <a:xfrm>
            <a:off x="7150607" y="1580552"/>
            <a:ext cx="4583971" cy="3696895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296FDF4A-B915-CBB2-FD64-9315E8FA7E17}"/>
              </a:ext>
            </a:extLst>
          </p:cNvPr>
          <p:cNvSpPr txBox="1"/>
          <p:nvPr/>
        </p:nvSpPr>
        <p:spPr>
          <a:xfrm>
            <a:off x="925830" y="94004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Alpha </a:t>
            </a:r>
            <a:r>
              <a:rPr lang="it-IT" b="1" dirty="0" err="1"/>
              <a:t>diversity</a:t>
            </a:r>
            <a:r>
              <a:rPr lang="it-IT" b="1" dirty="0"/>
              <a:t> (Shannon index) by cortisone use</a:t>
            </a:r>
            <a:r>
              <a:rPr lang="it-IT" dirty="0"/>
              <a:t> 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8A4299F-531A-36EB-8128-BED4D0191552}"/>
              </a:ext>
            </a:extLst>
          </p:cNvPr>
          <p:cNvSpPr txBox="1"/>
          <p:nvPr/>
        </p:nvSpPr>
        <p:spPr>
          <a:xfrm>
            <a:off x="925830" y="1580552"/>
            <a:ext cx="517017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Analysis of </a:t>
            </a:r>
            <a:r>
              <a:rPr lang="it-IT" dirty="0" err="1"/>
              <a:t>microbial</a:t>
            </a:r>
            <a:r>
              <a:rPr lang="it-IT" dirty="0"/>
              <a:t> </a:t>
            </a:r>
            <a:r>
              <a:rPr lang="it-IT" dirty="0" err="1"/>
              <a:t>diversity</a:t>
            </a:r>
            <a:r>
              <a:rPr lang="it-IT" dirty="0"/>
              <a:t> </a:t>
            </a:r>
            <a:r>
              <a:rPr lang="it-IT" dirty="0" err="1"/>
              <a:t>considering</a:t>
            </a:r>
            <a:r>
              <a:rPr lang="it-IT" dirty="0"/>
              <a:t> </a:t>
            </a:r>
            <a:r>
              <a:rPr lang="it-IT" dirty="0" err="1"/>
              <a:t>patients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subset and </a:t>
            </a:r>
            <a:r>
              <a:rPr lang="it-IT" b="1" dirty="0"/>
              <a:t>cortisone use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variable</a:t>
            </a:r>
            <a:r>
              <a:rPr lang="it-IT" dirty="0"/>
              <a:t> (0, 1, 3, 4 = </a:t>
            </a:r>
            <a:r>
              <a:rPr lang="it-IT" dirty="0" err="1"/>
              <a:t>number</a:t>
            </a:r>
            <a:r>
              <a:rPr lang="it-IT" dirty="0"/>
              <a:t> of </a:t>
            </a:r>
            <a:r>
              <a:rPr lang="it-IT" dirty="0" err="1"/>
              <a:t>administrations</a:t>
            </a:r>
            <a:r>
              <a:rPr lang="it-IT" dirty="0"/>
              <a:t>). </a:t>
            </a:r>
            <a:r>
              <a:rPr lang="it-IT" dirty="0" err="1"/>
              <a:t>Across</a:t>
            </a:r>
            <a:r>
              <a:rPr lang="it-IT" dirty="0"/>
              <a:t> </a:t>
            </a:r>
            <a:r>
              <a:rPr lang="it-IT" dirty="0" err="1"/>
              <a:t>all</a:t>
            </a:r>
            <a:r>
              <a:rPr lang="it-IT" dirty="0"/>
              <a:t> </a:t>
            </a:r>
            <a:r>
              <a:rPr lang="it-IT" dirty="0" err="1"/>
              <a:t>categories</a:t>
            </a:r>
            <a:r>
              <a:rPr lang="it-IT" dirty="0"/>
              <a:t>, </a:t>
            </a:r>
            <a:r>
              <a:rPr lang="it-IT" b="1" dirty="0"/>
              <a:t>no </a:t>
            </a:r>
            <a:r>
              <a:rPr lang="it-IT" b="1" dirty="0" err="1"/>
              <a:t>significant</a:t>
            </a:r>
            <a:r>
              <a:rPr lang="it-IT" b="1" dirty="0"/>
              <a:t> </a:t>
            </a:r>
            <a:r>
              <a:rPr lang="it-IT" b="1" dirty="0" err="1"/>
              <a:t>differences</a:t>
            </a:r>
            <a:r>
              <a:rPr lang="it-IT" dirty="0"/>
              <a:t> </a:t>
            </a:r>
            <a:r>
              <a:rPr lang="it-IT" dirty="0" err="1"/>
              <a:t>were</a:t>
            </a:r>
            <a:r>
              <a:rPr lang="it-IT" dirty="0"/>
              <a:t> </a:t>
            </a:r>
            <a:r>
              <a:rPr lang="it-IT" dirty="0" err="1"/>
              <a:t>observed</a:t>
            </a:r>
            <a:r>
              <a:rPr lang="it-IT" dirty="0"/>
              <a:t> (</a:t>
            </a:r>
            <a:r>
              <a:rPr lang="it-IT" i="1" dirty="0"/>
              <a:t>NS</a:t>
            </a:r>
            <a:r>
              <a:rPr lang="it-IT" dirty="0"/>
              <a:t> for </a:t>
            </a:r>
            <a:r>
              <a:rPr lang="it-IT" dirty="0" err="1"/>
              <a:t>all</a:t>
            </a:r>
            <a:r>
              <a:rPr lang="it-IT" dirty="0"/>
              <a:t> </a:t>
            </a:r>
            <a:r>
              <a:rPr lang="it-IT" dirty="0" err="1"/>
              <a:t>pairwise</a:t>
            </a:r>
            <a:r>
              <a:rPr lang="it-IT" dirty="0"/>
              <a:t> </a:t>
            </a:r>
            <a:r>
              <a:rPr lang="it-IT" dirty="0" err="1"/>
              <a:t>comparisons</a:t>
            </a:r>
            <a:r>
              <a:rPr lang="it-IT" dirty="0"/>
              <a:t>), </a:t>
            </a:r>
            <a:r>
              <a:rPr lang="it-IT" dirty="0" err="1"/>
              <a:t>indicating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b="1" dirty="0"/>
              <a:t>cortisone treatment </a:t>
            </a:r>
            <a:r>
              <a:rPr lang="it-IT" b="1" dirty="0" err="1"/>
              <a:t>does</a:t>
            </a:r>
            <a:r>
              <a:rPr lang="it-IT" b="1" dirty="0"/>
              <a:t> </a:t>
            </a:r>
            <a:r>
              <a:rPr lang="it-IT" b="1" dirty="0" err="1"/>
              <a:t>not</a:t>
            </a:r>
            <a:r>
              <a:rPr lang="it-IT" b="1" dirty="0"/>
              <a:t> </a:t>
            </a:r>
            <a:r>
              <a:rPr lang="it-IT" b="1" dirty="0" err="1"/>
              <a:t>significantly</a:t>
            </a:r>
            <a:r>
              <a:rPr lang="it-IT" b="1" dirty="0"/>
              <a:t> </a:t>
            </a:r>
            <a:r>
              <a:rPr lang="it-IT" b="1" dirty="0" err="1"/>
              <a:t>affect</a:t>
            </a:r>
            <a:r>
              <a:rPr lang="it-IT" b="1" dirty="0"/>
              <a:t> </a:t>
            </a:r>
            <a:r>
              <a:rPr lang="it-IT" b="1" dirty="0" err="1"/>
              <a:t>microbial</a:t>
            </a:r>
            <a:r>
              <a:rPr lang="it-IT" b="1" dirty="0"/>
              <a:t> </a:t>
            </a:r>
            <a:r>
              <a:rPr lang="it-IT" b="1" dirty="0" err="1"/>
              <a:t>diversity</a:t>
            </a:r>
            <a:r>
              <a:rPr lang="it-IT" dirty="0"/>
              <a:t> in </a:t>
            </a:r>
            <a:r>
              <a:rPr lang="it-IT" dirty="0" err="1"/>
              <a:t>this</a:t>
            </a:r>
            <a:r>
              <a:rPr lang="it-IT" dirty="0"/>
              <a:t> dataset.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2BF5AE6-F9F9-38AD-1578-1268C12D1DAD}"/>
              </a:ext>
            </a:extLst>
          </p:cNvPr>
          <p:cNvSpPr txBox="1"/>
          <p:nvPr/>
        </p:nvSpPr>
        <p:spPr>
          <a:xfrm>
            <a:off x="925830" y="3970496"/>
            <a:ext cx="559384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/>
              <a:t>Despite</a:t>
            </a:r>
            <a:r>
              <a:rPr lang="it-IT" dirty="0"/>
              <a:t> </a:t>
            </a:r>
            <a:r>
              <a:rPr lang="it-IT" dirty="0" err="1"/>
              <a:t>slight</a:t>
            </a:r>
            <a:r>
              <a:rPr lang="it-IT" dirty="0"/>
              <a:t> </a:t>
            </a:r>
            <a:r>
              <a:rPr lang="it-IT" dirty="0" err="1"/>
              <a:t>variability</a:t>
            </a:r>
            <a:r>
              <a:rPr lang="it-IT" dirty="0"/>
              <a:t> in </a:t>
            </a:r>
            <a:r>
              <a:rPr lang="it-IT" dirty="0" err="1"/>
              <a:t>median</a:t>
            </a:r>
            <a:r>
              <a:rPr lang="it-IT" dirty="0"/>
              <a:t> </a:t>
            </a:r>
            <a:r>
              <a:rPr lang="it-IT" dirty="0" err="1"/>
              <a:t>values</a:t>
            </a:r>
            <a:r>
              <a:rPr lang="it-IT" dirty="0"/>
              <a:t> — with </a:t>
            </a:r>
            <a:r>
              <a:rPr lang="it-IT" dirty="0" err="1"/>
              <a:t>lower</a:t>
            </a:r>
            <a:r>
              <a:rPr lang="it-IT" dirty="0"/>
              <a:t> </a:t>
            </a:r>
            <a:r>
              <a:rPr lang="it-IT" dirty="0" err="1"/>
              <a:t>diversity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higher</a:t>
            </a:r>
            <a:r>
              <a:rPr lang="it-IT" dirty="0"/>
              <a:t> cortisone </a:t>
            </a:r>
            <a:r>
              <a:rPr lang="it-IT" dirty="0" err="1"/>
              <a:t>counts</a:t>
            </a:r>
            <a:r>
              <a:rPr lang="it-IT" dirty="0"/>
              <a:t> — the </a:t>
            </a:r>
            <a:r>
              <a:rPr lang="it-IT" dirty="0" err="1"/>
              <a:t>absence</a:t>
            </a:r>
            <a:r>
              <a:rPr lang="it-IT" dirty="0"/>
              <a:t> of </a:t>
            </a:r>
            <a:r>
              <a:rPr lang="it-IT" dirty="0" err="1"/>
              <a:t>statistical</a:t>
            </a:r>
            <a:r>
              <a:rPr lang="it-IT" dirty="0"/>
              <a:t> </a:t>
            </a:r>
            <a:r>
              <a:rPr lang="it-IT" dirty="0" err="1"/>
              <a:t>significance</a:t>
            </a:r>
            <a:r>
              <a:rPr lang="it-IT" dirty="0"/>
              <a:t> </a:t>
            </a:r>
            <a:r>
              <a:rPr lang="it-IT" dirty="0" err="1"/>
              <a:t>suggests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episodic</a:t>
            </a:r>
            <a:r>
              <a:rPr lang="it-IT" dirty="0"/>
              <a:t> cortisone use </a:t>
            </a:r>
            <a:r>
              <a:rPr lang="it-IT" dirty="0" err="1"/>
              <a:t>has</a:t>
            </a:r>
            <a:r>
              <a:rPr lang="it-IT" dirty="0"/>
              <a:t> minimal impact on overall microbiota </a:t>
            </a:r>
            <a:r>
              <a:rPr lang="it-IT" dirty="0" err="1"/>
              <a:t>composition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562973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B4815D00-BDC7-AB4A-4455-EDF420DBF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02" y="3778869"/>
            <a:ext cx="3667959" cy="2955807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0300F78A-67DA-AA35-2BEB-F1EB869905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4900" y="3634055"/>
            <a:ext cx="3761189" cy="3100622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D6837233-8CB7-ECE6-942E-B08E1E4551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1127" y="3733507"/>
            <a:ext cx="3761189" cy="3045326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F4B5BEAB-4470-2C3D-8299-BCEC16FFCC21}"/>
              </a:ext>
            </a:extLst>
          </p:cNvPr>
          <p:cNvSpPr txBox="1"/>
          <p:nvPr/>
        </p:nvSpPr>
        <p:spPr>
          <a:xfrm>
            <a:off x="286439" y="572877"/>
            <a:ext cx="6136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Alpha </a:t>
            </a:r>
            <a:r>
              <a:rPr lang="it-IT" b="1" dirty="0" err="1"/>
              <a:t>diversity</a:t>
            </a:r>
            <a:r>
              <a:rPr lang="it-IT" b="1" dirty="0"/>
              <a:t> </a:t>
            </a:r>
            <a:r>
              <a:rPr lang="it-IT" b="1" dirty="0" err="1"/>
              <a:t>at</a:t>
            </a:r>
            <a:r>
              <a:rPr lang="it-IT" b="1" dirty="0"/>
              <a:t> baseline (T0) by cortisone use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44BDAA2-CFFB-D4AA-815D-28D43551CB0F}"/>
              </a:ext>
            </a:extLst>
          </p:cNvPr>
          <p:cNvSpPr txBox="1"/>
          <p:nvPr/>
        </p:nvSpPr>
        <p:spPr>
          <a:xfrm>
            <a:off x="286439" y="1118843"/>
            <a:ext cx="1161912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/>
              <a:t>Comparison</a:t>
            </a:r>
            <a:r>
              <a:rPr lang="it-IT" dirty="0"/>
              <a:t> of </a:t>
            </a:r>
            <a:r>
              <a:rPr lang="it-IT" dirty="0" err="1"/>
              <a:t>microbial</a:t>
            </a:r>
            <a:r>
              <a:rPr lang="it-IT" dirty="0"/>
              <a:t> </a:t>
            </a:r>
            <a:r>
              <a:rPr lang="it-IT" dirty="0" err="1"/>
              <a:t>diversity</a:t>
            </a:r>
            <a:r>
              <a:rPr lang="it-IT" dirty="0"/>
              <a:t> </a:t>
            </a:r>
            <a:r>
              <a:rPr lang="it-IT" dirty="0" err="1"/>
              <a:t>indices</a:t>
            </a:r>
            <a:r>
              <a:rPr lang="it-IT" dirty="0"/>
              <a:t> — Shannon, Simpson, and </a:t>
            </a:r>
            <a:r>
              <a:rPr lang="it-IT" dirty="0" err="1"/>
              <a:t>Observed</a:t>
            </a:r>
            <a:r>
              <a:rPr lang="it-IT" dirty="0"/>
              <a:t> </a:t>
            </a:r>
            <a:r>
              <a:rPr lang="it-IT" dirty="0" err="1"/>
              <a:t>species</a:t>
            </a:r>
            <a:r>
              <a:rPr lang="it-IT" dirty="0"/>
              <a:t> </a:t>
            </a:r>
            <a:r>
              <a:rPr lang="it-IT" dirty="0" err="1"/>
              <a:t>richness</a:t>
            </a:r>
            <a:r>
              <a:rPr lang="it-IT" dirty="0"/>
              <a:t> — </a:t>
            </a:r>
            <a:r>
              <a:rPr lang="it-IT" dirty="0" err="1"/>
              <a:t>between</a:t>
            </a:r>
            <a:r>
              <a:rPr lang="it-IT" dirty="0"/>
              <a:t> </a:t>
            </a:r>
            <a:r>
              <a:rPr lang="it-IT" dirty="0" err="1"/>
              <a:t>subjects</a:t>
            </a:r>
            <a:r>
              <a:rPr lang="it-IT" dirty="0"/>
              <a:t> with (1) and </a:t>
            </a:r>
            <a:r>
              <a:rPr lang="it-IT" dirty="0" err="1"/>
              <a:t>without</a:t>
            </a:r>
            <a:r>
              <a:rPr lang="it-IT" dirty="0"/>
              <a:t> (0) cortisone use </a:t>
            </a:r>
            <a:r>
              <a:rPr lang="it-IT" dirty="0" err="1"/>
              <a:t>at</a:t>
            </a:r>
            <a:r>
              <a:rPr lang="it-IT" dirty="0"/>
              <a:t> baseline. All </a:t>
            </a:r>
            <a:r>
              <a:rPr lang="it-IT" dirty="0" err="1"/>
              <a:t>indices</a:t>
            </a:r>
            <a:r>
              <a:rPr lang="it-IT" dirty="0"/>
              <a:t> show </a:t>
            </a:r>
            <a:r>
              <a:rPr lang="it-IT" b="1" dirty="0"/>
              <a:t>no </a:t>
            </a:r>
            <a:r>
              <a:rPr lang="it-IT" b="1" dirty="0" err="1"/>
              <a:t>significant</a:t>
            </a:r>
            <a:r>
              <a:rPr lang="it-IT" b="1" dirty="0"/>
              <a:t> </a:t>
            </a:r>
            <a:r>
              <a:rPr lang="it-IT" b="1" dirty="0" err="1"/>
              <a:t>differences</a:t>
            </a:r>
            <a:r>
              <a:rPr lang="it-IT" dirty="0"/>
              <a:t> (</a:t>
            </a:r>
            <a:r>
              <a:rPr lang="it-IT" i="1" dirty="0"/>
              <a:t>Wilcoxon test</a:t>
            </a:r>
            <a:r>
              <a:rPr lang="it-IT" dirty="0"/>
              <a:t>, </a:t>
            </a:r>
            <a:r>
              <a:rPr lang="it-IT" i="1" dirty="0"/>
              <a:t>p</a:t>
            </a:r>
            <a:r>
              <a:rPr lang="it-IT" dirty="0"/>
              <a:t> = 0.164, 0.124, and 0.508 </a:t>
            </a:r>
            <a:r>
              <a:rPr lang="it-IT" dirty="0" err="1"/>
              <a:t>respectively</a:t>
            </a:r>
            <a:r>
              <a:rPr lang="it-IT" dirty="0"/>
              <a:t>), </a:t>
            </a:r>
            <a:r>
              <a:rPr lang="it-IT" dirty="0" err="1"/>
              <a:t>indicating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b="1" dirty="0"/>
              <a:t>cortisone </a:t>
            </a:r>
            <a:r>
              <a:rPr lang="it-IT" b="1" dirty="0" err="1"/>
              <a:t>administration</a:t>
            </a:r>
            <a:r>
              <a:rPr lang="it-IT" b="1" dirty="0"/>
              <a:t> </a:t>
            </a:r>
            <a:r>
              <a:rPr lang="it-IT" b="1" dirty="0" err="1"/>
              <a:t>does</a:t>
            </a:r>
            <a:r>
              <a:rPr lang="it-IT" b="1" dirty="0"/>
              <a:t> </a:t>
            </a:r>
            <a:r>
              <a:rPr lang="it-IT" b="1" dirty="0" err="1"/>
              <a:t>not</a:t>
            </a:r>
            <a:r>
              <a:rPr lang="it-IT" b="1" dirty="0"/>
              <a:t> </a:t>
            </a:r>
            <a:r>
              <a:rPr lang="it-IT" b="1" dirty="0" err="1"/>
              <a:t>significantly</a:t>
            </a:r>
            <a:r>
              <a:rPr lang="it-IT" b="1" dirty="0"/>
              <a:t> </a:t>
            </a:r>
            <a:r>
              <a:rPr lang="it-IT" b="1" dirty="0" err="1"/>
              <a:t>affect</a:t>
            </a:r>
            <a:r>
              <a:rPr lang="it-IT" b="1" dirty="0"/>
              <a:t> </a:t>
            </a:r>
            <a:r>
              <a:rPr lang="it-IT" b="1" dirty="0" err="1"/>
              <a:t>microbial</a:t>
            </a:r>
            <a:r>
              <a:rPr lang="it-IT" b="1" dirty="0"/>
              <a:t> </a:t>
            </a:r>
            <a:r>
              <a:rPr lang="it-IT" b="1" dirty="0" err="1"/>
              <a:t>diversity</a:t>
            </a:r>
            <a:r>
              <a:rPr lang="it-IT" dirty="0"/>
              <a:t>. </a:t>
            </a:r>
            <a:r>
              <a:rPr lang="it-IT" dirty="0" err="1"/>
              <a:t>Results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T1 </a:t>
            </a:r>
            <a:r>
              <a:rPr lang="it-IT" dirty="0" err="1"/>
              <a:t>were</a:t>
            </a:r>
            <a:r>
              <a:rPr lang="it-IT" dirty="0"/>
              <a:t> </a:t>
            </a:r>
            <a:r>
              <a:rPr lang="it-IT" dirty="0" err="1"/>
              <a:t>identical</a:t>
            </a:r>
            <a:r>
              <a:rPr lang="it-IT" dirty="0"/>
              <a:t>, </a:t>
            </a:r>
            <a:r>
              <a:rPr lang="it-IT" dirty="0" err="1"/>
              <a:t>confirming</a:t>
            </a:r>
            <a:r>
              <a:rPr lang="it-IT" dirty="0"/>
              <a:t> the </a:t>
            </a:r>
            <a:r>
              <a:rPr lang="it-IT" dirty="0" err="1"/>
              <a:t>stability</a:t>
            </a:r>
            <a:r>
              <a:rPr lang="it-IT" dirty="0"/>
              <a:t> of </a:t>
            </a:r>
            <a:r>
              <a:rPr lang="it-IT" dirty="0" err="1"/>
              <a:t>diversity</a:t>
            </a:r>
            <a:r>
              <a:rPr lang="it-IT" dirty="0"/>
              <a:t> </a:t>
            </a:r>
            <a:r>
              <a:rPr lang="it-IT" dirty="0" err="1"/>
              <a:t>measures</a:t>
            </a:r>
            <a:r>
              <a:rPr lang="it-IT" dirty="0"/>
              <a:t> </a:t>
            </a:r>
            <a:r>
              <a:rPr lang="it-IT" dirty="0" err="1"/>
              <a:t>across</a:t>
            </a:r>
            <a:r>
              <a:rPr lang="it-IT" dirty="0"/>
              <a:t> time points.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55FD4287-6198-3F20-13BF-63497096828C}"/>
              </a:ext>
            </a:extLst>
          </p:cNvPr>
          <p:cNvSpPr txBox="1"/>
          <p:nvPr/>
        </p:nvSpPr>
        <p:spPr>
          <a:xfrm>
            <a:off x="286438" y="2623780"/>
            <a:ext cx="113883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Both </a:t>
            </a:r>
            <a:r>
              <a:rPr lang="it-IT" dirty="0" err="1"/>
              <a:t>at</a:t>
            </a:r>
            <a:r>
              <a:rPr lang="it-IT" dirty="0"/>
              <a:t> baseline and T1, the microbiota </a:t>
            </a:r>
            <a:r>
              <a:rPr lang="it-IT" dirty="0" err="1"/>
              <a:t>composition</a:t>
            </a:r>
            <a:r>
              <a:rPr lang="it-IT" dirty="0"/>
              <a:t> </a:t>
            </a:r>
            <a:r>
              <a:rPr lang="it-IT" dirty="0" err="1"/>
              <a:t>remains</a:t>
            </a:r>
            <a:r>
              <a:rPr lang="it-IT" dirty="0"/>
              <a:t> </a:t>
            </a:r>
            <a:r>
              <a:rPr lang="it-IT" b="1" dirty="0" err="1"/>
              <a:t>consistent</a:t>
            </a:r>
            <a:r>
              <a:rPr lang="it-IT" b="1" dirty="0"/>
              <a:t> </a:t>
            </a:r>
            <a:r>
              <a:rPr lang="it-IT" b="1" dirty="0" err="1"/>
              <a:t>regardless</a:t>
            </a:r>
            <a:r>
              <a:rPr lang="it-IT" b="1" dirty="0"/>
              <a:t> of cortisone use</a:t>
            </a:r>
            <a:r>
              <a:rPr lang="it-IT" dirty="0"/>
              <a:t>, </a:t>
            </a:r>
            <a:r>
              <a:rPr lang="it-IT" dirty="0" err="1"/>
              <a:t>suggesting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short‑</a:t>
            </a:r>
            <a:r>
              <a:rPr lang="it-IT" dirty="0" err="1"/>
              <a:t>term</a:t>
            </a:r>
            <a:r>
              <a:rPr lang="it-IT" dirty="0"/>
              <a:t> </a:t>
            </a:r>
            <a:r>
              <a:rPr lang="it-IT" dirty="0" err="1"/>
              <a:t>corticosteroid</a:t>
            </a:r>
            <a:r>
              <a:rPr lang="it-IT" dirty="0"/>
              <a:t> </a:t>
            </a:r>
            <a:r>
              <a:rPr lang="it-IT" dirty="0" err="1"/>
              <a:t>exposure</a:t>
            </a:r>
            <a:r>
              <a:rPr lang="it-IT" dirty="0"/>
              <a:t> </a:t>
            </a:r>
            <a:r>
              <a:rPr lang="it-IT" dirty="0" err="1"/>
              <a:t>does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alter overall community </a:t>
            </a:r>
            <a:r>
              <a:rPr lang="it-IT" dirty="0" err="1"/>
              <a:t>diversity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724225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303FE37A-5B40-CF78-5CA7-7DA26DAB8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38" y="3692389"/>
            <a:ext cx="3635566" cy="2987872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6D06D2AE-A025-8EB6-E68D-14A7A7168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4341" y="3654091"/>
            <a:ext cx="3795602" cy="3026170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F5478284-F0CD-21D1-66C6-4B1210CD81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8380" y="3654091"/>
            <a:ext cx="3698900" cy="2987872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E731273A-5D12-0193-B7FA-A195DB8B2F3A}"/>
              </a:ext>
            </a:extLst>
          </p:cNvPr>
          <p:cNvSpPr txBox="1"/>
          <p:nvPr/>
        </p:nvSpPr>
        <p:spPr>
          <a:xfrm>
            <a:off x="220338" y="495759"/>
            <a:ext cx="6891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Alpha </a:t>
            </a:r>
            <a:r>
              <a:rPr lang="it-IT" b="1" dirty="0" err="1"/>
              <a:t>diversity</a:t>
            </a:r>
            <a:r>
              <a:rPr lang="it-IT" b="1" dirty="0"/>
              <a:t> </a:t>
            </a:r>
            <a:r>
              <a:rPr lang="it-IT" b="1" dirty="0" err="1"/>
              <a:t>at</a:t>
            </a:r>
            <a:r>
              <a:rPr lang="it-IT" b="1" dirty="0"/>
              <a:t> follow‑up time T12 by cortisone use</a:t>
            </a:r>
            <a:r>
              <a:rPr lang="it-IT" dirty="0"/>
              <a:t> 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00E17B3A-40F9-145A-DFCE-3B0961603E73}"/>
              </a:ext>
            </a:extLst>
          </p:cNvPr>
          <p:cNvSpPr txBox="1"/>
          <p:nvPr/>
        </p:nvSpPr>
        <p:spPr>
          <a:xfrm>
            <a:off x="220338" y="1134286"/>
            <a:ext cx="114269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/>
              <a:t>Comparison</a:t>
            </a:r>
            <a:r>
              <a:rPr lang="it-IT" dirty="0"/>
              <a:t> of </a:t>
            </a:r>
            <a:r>
              <a:rPr lang="it-IT" dirty="0" err="1"/>
              <a:t>microbial</a:t>
            </a:r>
            <a:r>
              <a:rPr lang="it-IT" dirty="0"/>
              <a:t> </a:t>
            </a:r>
            <a:r>
              <a:rPr lang="it-IT" dirty="0" err="1"/>
              <a:t>diversity</a:t>
            </a:r>
            <a:r>
              <a:rPr lang="it-IT" dirty="0"/>
              <a:t> </a:t>
            </a:r>
            <a:r>
              <a:rPr lang="it-IT" dirty="0" err="1"/>
              <a:t>indices</a:t>
            </a:r>
            <a:r>
              <a:rPr lang="it-IT" dirty="0"/>
              <a:t> — Shannon, Simpson, and </a:t>
            </a:r>
            <a:r>
              <a:rPr lang="it-IT" dirty="0" err="1"/>
              <a:t>Observed</a:t>
            </a:r>
            <a:r>
              <a:rPr lang="it-IT" dirty="0"/>
              <a:t> </a:t>
            </a:r>
            <a:r>
              <a:rPr lang="it-IT" dirty="0" err="1"/>
              <a:t>species</a:t>
            </a:r>
            <a:r>
              <a:rPr lang="it-IT" dirty="0"/>
              <a:t> </a:t>
            </a:r>
            <a:r>
              <a:rPr lang="it-IT" dirty="0" err="1"/>
              <a:t>richness</a:t>
            </a:r>
            <a:r>
              <a:rPr lang="it-IT" dirty="0"/>
              <a:t> — </a:t>
            </a:r>
            <a:r>
              <a:rPr lang="it-IT" dirty="0" err="1"/>
              <a:t>between</a:t>
            </a:r>
            <a:r>
              <a:rPr lang="it-IT" dirty="0"/>
              <a:t> </a:t>
            </a:r>
            <a:r>
              <a:rPr lang="it-IT" dirty="0" err="1"/>
              <a:t>subjects</a:t>
            </a:r>
            <a:r>
              <a:rPr lang="it-IT" dirty="0"/>
              <a:t> with (3) and </a:t>
            </a:r>
            <a:r>
              <a:rPr lang="it-IT" dirty="0" err="1"/>
              <a:t>without</a:t>
            </a:r>
            <a:r>
              <a:rPr lang="it-IT" dirty="0"/>
              <a:t> (0) cortisone use </a:t>
            </a:r>
            <a:r>
              <a:rPr lang="it-IT" dirty="0" err="1"/>
              <a:t>at</a:t>
            </a:r>
            <a:r>
              <a:rPr lang="it-IT" dirty="0"/>
              <a:t> follow‑up time T12. All </a:t>
            </a:r>
            <a:r>
              <a:rPr lang="it-IT" dirty="0" err="1"/>
              <a:t>indices</a:t>
            </a:r>
            <a:r>
              <a:rPr lang="it-IT" dirty="0"/>
              <a:t> show </a:t>
            </a:r>
            <a:r>
              <a:rPr lang="it-IT" b="1" dirty="0"/>
              <a:t>no </a:t>
            </a:r>
            <a:r>
              <a:rPr lang="it-IT" b="1" dirty="0" err="1"/>
              <a:t>significant</a:t>
            </a:r>
            <a:r>
              <a:rPr lang="it-IT" b="1" dirty="0"/>
              <a:t> </a:t>
            </a:r>
            <a:r>
              <a:rPr lang="it-IT" b="1" dirty="0" err="1"/>
              <a:t>differences</a:t>
            </a:r>
            <a:r>
              <a:rPr lang="it-IT" dirty="0"/>
              <a:t> (</a:t>
            </a:r>
            <a:r>
              <a:rPr lang="it-IT" i="1" dirty="0"/>
              <a:t>Wilcoxon test</a:t>
            </a:r>
            <a:r>
              <a:rPr lang="it-IT" dirty="0"/>
              <a:t>, </a:t>
            </a:r>
            <a:r>
              <a:rPr lang="it-IT" i="1" dirty="0"/>
              <a:t>p</a:t>
            </a:r>
            <a:r>
              <a:rPr lang="it-IT" dirty="0"/>
              <a:t> = NA), </a:t>
            </a:r>
            <a:r>
              <a:rPr lang="it-IT" dirty="0" err="1"/>
              <a:t>indicating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b="1" dirty="0"/>
              <a:t>the limited sample size or data </a:t>
            </a:r>
            <a:r>
              <a:rPr lang="it-IT" b="1" dirty="0" err="1"/>
              <a:t>distribution</a:t>
            </a:r>
            <a:r>
              <a:rPr lang="it-IT" b="1" dirty="0"/>
              <a:t> </a:t>
            </a:r>
            <a:r>
              <a:rPr lang="it-IT" b="1" dirty="0" err="1"/>
              <a:t>prevented</a:t>
            </a:r>
            <a:r>
              <a:rPr lang="it-IT" b="1" dirty="0"/>
              <a:t> </a:t>
            </a:r>
            <a:r>
              <a:rPr lang="it-IT" b="1" dirty="0" err="1"/>
              <a:t>statistical</a:t>
            </a:r>
            <a:r>
              <a:rPr lang="it-IT" b="1" dirty="0"/>
              <a:t> </a:t>
            </a:r>
            <a:r>
              <a:rPr lang="it-IT" b="1" dirty="0" err="1"/>
              <a:t>evaluation</a:t>
            </a:r>
            <a:r>
              <a:rPr lang="it-IT" dirty="0"/>
              <a:t>, </a:t>
            </a:r>
            <a:r>
              <a:rPr lang="it-IT" dirty="0" err="1"/>
              <a:t>but</a:t>
            </a:r>
            <a:r>
              <a:rPr lang="it-IT" dirty="0"/>
              <a:t> overall no trend </a:t>
            </a:r>
            <a:r>
              <a:rPr lang="it-IT" dirty="0" err="1"/>
              <a:t>toward</a:t>
            </a:r>
            <a:r>
              <a:rPr lang="it-IT" dirty="0"/>
              <a:t> </a:t>
            </a:r>
            <a:r>
              <a:rPr lang="it-IT" dirty="0" err="1"/>
              <a:t>altered</a:t>
            </a:r>
            <a:r>
              <a:rPr lang="it-IT" dirty="0"/>
              <a:t> </a:t>
            </a:r>
            <a:r>
              <a:rPr lang="it-IT" dirty="0" err="1"/>
              <a:t>diversity</a:t>
            </a:r>
            <a:r>
              <a:rPr lang="it-IT" dirty="0"/>
              <a:t> </a:t>
            </a:r>
            <a:r>
              <a:rPr lang="it-IT" dirty="0" err="1"/>
              <a:t>was</a:t>
            </a:r>
            <a:r>
              <a:rPr lang="it-IT" dirty="0"/>
              <a:t> </a:t>
            </a:r>
            <a:r>
              <a:rPr lang="it-IT" dirty="0" err="1"/>
              <a:t>observed</a:t>
            </a:r>
            <a:r>
              <a:rPr lang="it-IT" dirty="0"/>
              <a:t>.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1A4B7C0-E32F-B122-C4E7-71004F19FD1F}"/>
              </a:ext>
            </a:extLst>
          </p:cNvPr>
          <p:cNvSpPr txBox="1"/>
          <p:nvPr/>
        </p:nvSpPr>
        <p:spPr>
          <a:xfrm>
            <a:off x="220337" y="2492060"/>
            <a:ext cx="111865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At T12, the microbiota </a:t>
            </a:r>
            <a:r>
              <a:rPr lang="it-IT" dirty="0" err="1"/>
              <a:t>composition</a:t>
            </a:r>
            <a:r>
              <a:rPr lang="it-IT" dirty="0"/>
              <a:t> </a:t>
            </a:r>
            <a:r>
              <a:rPr lang="it-IT" dirty="0" err="1"/>
              <a:t>appears</a:t>
            </a:r>
            <a:r>
              <a:rPr lang="it-IT" dirty="0"/>
              <a:t> </a:t>
            </a:r>
            <a:r>
              <a:rPr lang="it-IT" dirty="0" err="1"/>
              <a:t>stable</a:t>
            </a:r>
            <a:r>
              <a:rPr lang="it-IT" dirty="0"/>
              <a:t> </a:t>
            </a:r>
            <a:r>
              <a:rPr lang="it-IT" dirty="0" err="1"/>
              <a:t>regardless</a:t>
            </a:r>
            <a:r>
              <a:rPr lang="it-IT" dirty="0"/>
              <a:t> of cortisone use, and the </a:t>
            </a:r>
            <a:r>
              <a:rPr lang="it-IT" i="1" dirty="0"/>
              <a:t>p</a:t>
            </a:r>
            <a:r>
              <a:rPr lang="it-IT" dirty="0"/>
              <a:t> = NA </a:t>
            </a:r>
            <a:r>
              <a:rPr lang="it-IT" dirty="0" err="1"/>
              <a:t>result</a:t>
            </a:r>
            <a:r>
              <a:rPr lang="it-IT" dirty="0"/>
              <a:t> </a:t>
            </a:r>
            <a:r>
              <a:rPr lang="it-IT" dirty="0" err="1"/>
              <a:t>likely</a:t>
            </a:r>
            <a:r>
              <a:rPr lang="it-IT" dirty="0"/>
              <a:t> </a:t>
            </a:r>
            <a:r>
              <a:rPr lang="it-IT" dirty="0" err="1"/>
              <a:t>reflects</a:t>
            </a:r>
            <a:r>
              <a:rPr lang="it-IT" dirty="0"/>
              <a:t> </a:t>
            </a:r>
            <a:r>
              <a:rPr lang="it-IT" b="1" dirty="0" err="1"/>
              <a:t>insufficient</a:t>
            </a:r>
            <a:r>
              <a:rPr lang="it-IT" b="1" dirty="0"/>
              <a:t> data points</a:t>
            </a:r>
            <a:r>
              <a:rPr lang="it-IT" dirty="0"/>
              <a:t> </a:t>
            </a:r>
            <a:r>
              <a:rPr lang="it-IT" dirty="0" err="1"/>
              <a:t>rather</a:t>
            </a:r>
            <a:r>
              <a:rPr lang="it-IT" dirty="0"/>
              <a:t> </a:t>
            </a:r>
            <a:r>
              <a:rPr lang="it-IT" dirty="0" err="1"/>
              <a:t>than</a:t>
            </a:r>
            <a:r>
              <a:rPr lang="it-IT" dirty="0"/>
              <a:t> a </a:t>
            </a:r>
            <a:r>
              <a:rPr lang="it-IT" dirty="0" err="1"/>
              <a:t>biological</a:t>
            </a:r>
            <a:r>
              <a:rPr lang="it-IT" dirty="0"/>
              <a:t> </a:t>
            </a:r>
            <a:r>
              <a:rPr lang="it-IT" dirty="0" err="1"/>
              <a:t>effect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731493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54ADF9CB-FCB9-6EAA-9A6A-B9D271B5D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355" y="1531079"/>
            <a:ext cx="5352656" cy="436693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F9E41DEC-6FDE-3830-D519-4229808663B5}"/>
              </a:ext>
            </a:extLst>
          </p:cNvPr>
          <p:cNvSpPr txBox="1"/>
          <p:nvPr/>
        </p:nvSpPr>
        <p:spPr>
          <a:xfrm>
            <a:off x="428989" y="585899"/>
            <a:ext cx="6346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Alpha </a:t>
            </a:r>
            <a:r>
              <a:rPr lang="it-IT" b="1" dirty="0" err="1"/>
              <a:t>diversity</a:t>
            </a:r>
            <a:r>
              <a:rPr lang="it-IT" b="1" dirty="0"/>
              <a:t> (Simpson index) by cortisone use over time</a:t>
            </a:r>
            <a:r>
              <a:rPr lang="it-IT" dirty="0"/>
              <a:t> 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B503579B-7A39-6589-C0D2-1DC0442D8AA5}"/>
              </a:ext>
            </a:extLst>
          </p:cNvPr>
          <p:cNvSpPr txBox="1"/>
          <p:nvPr/>
        </p:nvSpPr>
        <p:spPr>
          <a:xfrm>
            <a:off x="428989" y="1270291"/>
            <a:ext cx="506664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Analysis of </a:t>
            </a:r>
            <a:r>
              <a:rPr lang="it-IT" b="1" dirty="0" err="1"/>
              <a:t>microbial</a:t>
            </a:r>
            <a:r>
              <a:rPr lang="it-IT" b="1" dirty="0"/>
              <a:t> </a:t>
            </a:r>
            <a:r>
              <a:rPr lang="it-IT" b="1" dirty="0" err="1"/>
              <a:t>diversity</a:t>
            </a:r>
            <a:r>
              <a:rPr lang="it-IT" b="1" dirty="0"/>
              <a:t> </a:t>
            </a:r>
            <a:r>
              <a:rPr lang="it-IT" b="1" dirty="0" err="1"/>
              <a:t>considering</a:t>
            </a:r>
            <a:r>
              <a:rPr lang="it-IT" b="1" dirty="0"/>
              <a:t> </a:t>
            </a:r>
            <a:r>
              <a:rPr lang="it-IT" b="1" dirty="0" err="1"/>
              <a:t>patients</a:t>
            </a:r>
            <a:r>
              <a:rPr lang="it-IT" b="1" dirty="0"/>
              <a:t> </a:t>
            </a:r>
            <a:r>
              <a:rPr lang="it-IT" b="1" dirty="0" err="1"/>
              <a:t>as</a:t>
            </a:r>
            <a:r>
              <a:rPr lang="it-IT" b="1" dirty="0"/>
              <a:t> subset and cortisone use </a:t>
            </a:r>
            <a:r>
              <a:rPr lang="it-IT" b="1" dirty="0" err="1"/>
              <a:t>as</a:t>
            </a:r>
            <a:r>
              <a:rPr lang="it-IT" b="1" dirty="0"/>
              <a:t> </a:t>
            </a:r>
            <a:r>
              <a:rPr lang="it-IT" b="1" dirty="0" err="1"/>
              <a:t>variable</a:t>
            </a:r>
            <a:r>
              <a:rPr lang="it-IT" b="1" dirty="0"/>
              <a:t> </a:t>
            </a:r>
            <a:r>
              <a:rPr lang="it-IT" b="1" dirty="0" err="1"/>
              <a:t>across</a:t>
            </a:r>
            <a:r>
              <a:rPr lang="it-IT" b="1" dirty="0"/>
              <a:t> </a:t>
            </a:r>
            <a:r>
              <a:rPr lang="it-IT" b="1" dirty="0" err="1"/>
              <a:t>all</a:t>
            </a:r>
            <a:r>
              <a:rPr lang="it-IT" b="1" dirty="0"/>
              <a:t> time points</a:t>
            </a:r>
            <a:r>
              <a:rPr lang="it-IT" dirty="0"/>
              <a:t>. All </a:t>
            </a:r>
            <a:r>
              <a:rPr lang="it-IT" dirty="0" err="1"/>
              <a:t>pairwise</a:t>
            </a:r>
            <a:r>
              <a:rPr lang="it-IT" dirty="0"/>
              <a:t> </a:t>
            </a:r>
            <a:r>
              <a:rPr lang="it-IT" dirty="0" err="1"/>
              <a:t>comparisons</a:t>
            </a:r>
            <a:r>
              <a:rPr lang="it-IT" dirty="0"/>
              <a:t> are </a:t>
            </a:r>
            <a:r>
              <a:rPr lang="it-IT" b="1" dirty="0" err="1"/>
              <a:t>not</a:t>
            </a:r>
            <a:r>
              <a:rPr lang="it-IT" b="1" dirty="0"/>
              <a:t> </a:t>
            </a:r>
            <a:r>
              <a:rPr lang="it-IT" b="1" dirty="0" err="1"/>
              <a:t>significant</a:t>
            </a:r>
            <a:r>
              <a:rPr lang="it-IT" dirty="0"/>
              <a:t>, </a:t>
            </a:r>
            <a:r>
              <a:rPr lang="it-IT" dirty="0" err="1"/>
              <a:t>indicating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b="1" dirty="0" err="1"/>
              <a:t>episodic</a:t>
            </a:r>
            <a:r>
              <a:rPr lang="it-IT" b="1" dirty="0"/>
              <a:t> cortisone </a:t>
            </a:r>
            <a:r>
              <a:rPr lang="it-IT" b="1" dirty="0" err="1"/>
              <a:t>administration</a:t>
            </a:r>
            <a:r>
              <a:rPr lang="it-IT" b="1" dirty="0"/>
              <a:t> — </a:t>
            </a:r>
            <a:r>
              <a:rPr lang="it-IT" b="1" dirty="0" err="1"/>
              <a:t>typically</a:t>
            </a:r>
            <a:r>
              <a:rPr lang="it-IT" b="1" dirty="0"/>
              <a:t> </a:t>
            </a:r>
            <a:r>
              <a:rPr lang="it-IT" b="1" dirty="0" err="1"/>
              <a:t>prescribed</a:t>
            </a:r>
            <a:r>
              <a:rPr lang="it-IT" b="1" dirty="0"/>
              <a:t> in </a:t>
            </a:r>
            <a:r>
              <a:rPr lang="it-IT" b="1" dirty="0" err="1"/>
              <a:t>response</a:t>
            </a:r>
            <a:r>
              <a:rPr lang="it-IT" b="1" dirty="0"/>
              <a:t> to clinical </a:t>
            </a:r>
            <a:r>
              <a:rPr lang="it-IT" b="1" dirty="0" err="1"/>
              <a:t>worsening</a:t>
            </a:r>
            <a:r>
              <a:rPr lang="it-IT" b="1" dirty="0"/>
              <a:t> or relapse — </a:t>
            </a:r>
            <a:r>
              <a:rPr lang="it-IT" b="1" dirty="0" err="1"/>
              <a:t>does</a:t>
            </a:r>
            <a:r>
              <a:rPr lang="it-IT" b="1" dirty="0"/>
              <a:t> </a:t>
            </a:r>
            <a:r>
              <a:rPr lang="it-IT" b="1" dirty="0" err="1"/>
              <a:t>not</a:t>
            </a:r>
            <a:r>
              <a:rPr lang="it-IT" b="1" dirty="0"/>
              <a:t> </a:t>
            </a:r>
            <a:r>
              <a:rPr lang="it-IT" b="1" dirty="0" err="1"/>
              <a:t>significantly</a:t>
            </a:r>
            <a:r>
              <a:rPr lang="it-IT" b="1" dirty="0"/>
              <a:t> alter </a:t>
            </a:r>
            <a:r>
              <a:rPr lang="it-IT" b="1" dirty="0" err="1"/>
              <a:t>microbial</a:t>
            </a:r>
            <a:r>
              <a:rPr lang="it-IT" b="1" dirty="0"/>
              <a:t> </a:t>
            </a:r>
            <a:r>
              <a:rPr lang="it-IT" b="1" dirty="0" err="1"/>
              <a:t>diversity</a:t>
            </a:r>
            <a:r>
              <a:rPr lang="it-IT" dirty="0"/>
              <a:t>.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75353542-E492-11D6-CD9F-66CE40DCE567}"/>
              </a:ext>
            </a:extLst>
          </p:cNvPr>
          <p:cNvSpPr txBox="1"/>
          <p:nvPr/>
        </p:nvSpPr>
        <p:spPr>
          <a:xfrm>
            <a:off x="428989" y="3833383"/>
            <a:ext cx="574090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Cortisone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used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needed</a:t>
            </a:r>
            <a:r>
              <a:rPr lang="it-IT" dirty="0"/>
              <a:t>,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continuous</a:t>
            </a:r>
            <a:r>
              <a:rPr lang="it-IT" dirty="0"/>
              <a:t> therapy. The </a:t>
            </a:r>
            <a:r>
              <a:rPr lang="it-IT" dirty="0" err="1"/>
              <a:t>absence</a:t>
            </a:r>
            <a:r>
              <a:rPr lang="it-IT" dirty="0"/>
              <a:t> of </a:t>
            </a:r>
            <a:r>
              <a:rPr lang="it-IT" dirty="0" err="1"/>
              <a:t>significant</a:t>
            </a:r>
            <a:r>
              <a:rPr lang="it-IT" dirty="0"/>
              <a:t> </a:t>
            </a:r>
            <a:r>
              <a:rPr lang="it-IT" dirty="0" err="1"/>
              <a:t>differences</a:t>
            </a:r>
            <a:r>
              <a:rPr lang="it-IT" dirty="0"/>
              <a:t> </a:t>
            </a:r>
            <a:r>
              <a:rPr lang="it-IT" dirty="0" err="1"/>
              <a:t>across</a:t>
            </a:r>
            <a:r>
              <a:rPr lang="it-IT" dirty="0"/>
              <a:t> time </a:t>
            </a:r>
            <a:r>
              <a:rPr lang="it-IT" dirty="0" err="1"/>
              <a:t>suggests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short‑</a:t>
            </a:r>
            <a:r>
              <a:rPr lang="it-IT" dirty="0" err="1"/>
              <a:t>term</a:t>
            </a:r>
            <a:r>
              <a:rPr lang="it-IT" dirty="0"/>
              <a:t> </a:t>
            </a:r>
            <a:r>
              <a:rPr lang="it-IT" dirty="0" err="1"/>
              <a:t>corticosteroid</a:t>
            </a:r>
            <a:r>
              <a:rPr lang="it-IT" dirty="0"/>
              <a:t> </a:t>
            </a:r>
            <a:r>
              <a:rPr lang="it-IT" dirty="0" err="1"/>
              <a:t>interventions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minimal impact on overall microbiota </a:t>
            </a:r>
            <a:r>
              <a:rPr lang="it-IT" dirty="0" err="1"/>
              <a:t>composition</a:t>
            </a:r>
            <a:r>
              <a:rPr lang="it-IT" dirty="0"/>
              <a:t>, </a:t>
            </a:r>
            <a:r>
              <a:rPr lang="it-IT" dirty="0" err="1"/>
              <a:t>supporting</a:t>
            </a:r>
            <a:r>
              <a:rPr lang="it-IT" dirty="0"/>
              <a:t> </a:t>
            </a:r>
            <a:r>
              <a:rPr lang="it-IT" dirty="0" err="1"/>
              <a:t>their</a:t>
            </a:r>
            <a:r>
              <a:rPr lang="it-IT" dirty="0"/>
              <a:t> </a:t>
            </a:r>
            <a:r>
              <a:rPr lang="it-IT" dirty="0" err="1"/>
              <a:t>role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temporary anti‑</a:t>
            </a:r>
            <a:r>
              <a:rPr lang="it-IT" dirty="0" err="1"/>
              <a:t>inflammatory</a:t>
            </a:r>
            <a:r>
              <a:rPr lang="it-IT" dirty="0"/>
              <a:t> </a:t>
            </a:r>
            <a:r>
              <a:rPr lang="it-IT" dirty="0" err="1"/>
              <a:t>measures</a:t>
            </a:r>
            <a:r>
              <a:rPr lang="it-IT" dirty="0"/>
              <a:t> </a:t>
            </a:r>
            <a:r>
              <a:rPr lang="it-IT" dirty="0" err="1"/>
              <a:t>rather</a:t>
            </a:r>
            <a:r>
              <a:rPr lang="it-IT" dirty="0"/>
              <a:t> </a:t>
            </a:r>
            <a:r>
              <a:rPr lang="it-IT" dirty="0" err="1"/>
              <a:t>than</a:t>
            </a:r>
            <a:r>
              <a:rPr lang="it-IT" dirty="0"/>
              <a:t> long‑</a:t>
            </a:r>
            <a:r>
              <a:rPr lang="it-IT" dirty="0" err="1"/>
              <a:t>term</a:t>
            </a:r>
            <a:r>
              <a:rPr lang="it-IT" dirty="0"/>
              <a:t> </a:t>
            </a:r>
            <a:r>
              <a:rPr lang="it-IT" dirty="0" err="1"/>
              <a:t>modulators</a:t>
            </a:r>
            <a:r>
              <a:rPr lang="it-IT" dirty="0"/>
              <a:t> of </a:t>
            </a:r>
            <a:r>
              <a:rPr lang="it-IT" dirty="0" err="1"/>
              <a:t>diversity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864704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B9D43EA7-EDFB-94DE-37DF-2402C09E6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0738" y="1670049"/>
            <a:ext cx="5644889" cy="4527550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8998729B-3929-364B-C199-811A78F5015F}"/>
              </a:ext>
            </a:extLst>
          </p:cNvPr>
          <p:cNvSpPr txBox="1"/>
          <p:nvPr/>
        </p:nvSpPr>
        <p:spPr>
          <a:xfrm>
            <a:off x="554182" y="746520"/>
            <a:ext cx="751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Alpha </a:t>
            </a:r>
            <a:r>
              <a:rPr lang="it-IT" b="1" dirty="0" err="1"/>
              <a:t>diversity</a:t>
            </a:r>
            <a:r>
              <a:rPr lang="it-IT" b="1" dirty="0"/>
              <a:t> (Shannon index) by </a:t>
            </a:r>
            <a:r>
              <a:rPr lang="it-IT" b="1" dirty="0" err="1"/>
              <a:t>antibiotic</a:t>
            </a:r>
            <a:r>
              <a:rPr lang="it-IT" b="1" dirty="0"/>
              <a:t> use </a:t>
            </a:r>
            <a:r>
              <a:rPr lang="it-IT" b="1" dirty="0" err="1"/>
              <a:t>at</a:t>
            </a:r>
            <a:r>
              <a:rPr lang="it-IT" b="1" dirty="0"/>
              <a:t> therapy </a:t>
            </a:r>
            <a:r>
              <a:rPr lang="it-IT" b="1" dirty="0" err="1"/>
              <a:t>initiation</a:t>
            </a:r>
            <a:r>
              <a:rPr lang="it-IT" dirty="0"/>
              <a:t> 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62C3CA33-7FC9-9FA0-B82F-29F6B8E0FF14}"/>
              </a:ext>
            </a:extLst>
          </p:cNvPr>
          <p:cNvSpPr txBox="1"/>
          <p:nvPr/>
        </p:nvSpPr>
        <p:spPr>
          <a:xfrm>
            <a:off x="554182" y="1455019"/>
            <a:ext cx="546792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dirty="0">
                <a:effectLst/>
              </a:rPr>
              <a:t>Analysis of </a:t>
            </a:r>
            <a:r>
              <a:rPr lang="it-IT" dirty="0" err="1">
                <a:effectLst/>
              </a:rPr>
              <a:t>microbial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diversity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considering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patients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as</a:t>
            </a:r>
            <a:r>
              <a:rPr lang="it-IT" dirty="0">
                <a:effectLst/>
              </a:rPr>
              <a:t> subset and </a:t>
            </a:r>
            <a:r>
              <a:rPr lang="it-IT" b="1" dirty="0" err="1">
                <a:effectLst/>
              </a:rPr>
              <a:t>antibiotic</a:t>
            </a:r>
            <a:r>
              <a:rPr lang="it-IT" b="1" dirty="0">
                <a:effectLst/>
              </a:rPr>
              <a:t> use </a:t>
            </a:r>
            <a:r>
              <a:rPr lang="it-IT" dirty="0">
                <a:effectLst/>
              </a:rPr>
              <a:t>(yes/no) </a:t>
            </a:r>
            <a:r>
              <a:rPr lang="it-IT" dirty="0" err="1">
                <a:effectLst/>
              </a:rPr>
              <a:t>as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variable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at</a:t>
            </a:r>
            <a:r>
              <a:rPr lang="it-IT" dirty="0">
                <a:effectLst/>
              </a:rPr>
              <a:t> the start of therapy. </a:t>
            </a:r>
            <a:r>
              <a:rPr lang="it-IT" dirty="0" err="1">
                <a:effectLst/>
              </a:rPr>
              <a:t>Results</a:t>
            </a:r>
            <a:r>
              <a:rPr lang="it-IT" dirty="0">
                <a:effectLst/>
              </a:rPr>
              <a:t> show </a:t>
            </a:r>
            <a:r>
              <a:rPr lang="it-IT" b="1" dirty="0">
                <a:effectLst/>
              </a:rPr>
              <a:t>no </a:t>
            </a:r>
            <a:r>
              <a:rPr lang="it-IT" b="1" dirty="0" err="1">
                <a:effectLst/>
              </a:rPr>
              <a:t>significant</a:t>
            </a:r>
            <a:r>
              <a:rPr lang="it-IT" b="1" dirty="0">
                <a:effectLst/>
              </a:rPr>
              <a:t> </a:t>
            </a:r>
            <a:r>
              <a:rPr lang="it-IT" b="1" dirty="0" err="1">
                <a:effectLst/>
              </a:rPr>
              <a:t>difference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between</a:t>
            </a:r>
            <a:r>
              <a:rPr lang="it-IT" dirty="0">
                <a:effectLst/>
              </a:rPr>
              <a:t> groups (</a:t>
            </a:r>
            <a:r>
              <a:rPr lang="it-IT" i="1" dirty="0">
                <a:effectLst/>
              </a:rPr>
              <a:t>t</a:t>
            </a:r>
            <a:r>
              <a:rPr lang="it-IT" dirty="0">
                <a:effectLst/>
              </a:rPr>
              <a:t>-test, </a:t>
            </a:r>
            <a:r>
              <a:rPr lang="it-IT" i="1" dirty="0">
                <a:effectLst/>
              </a:rPr>
              <a:t>p</a:t>
            </a:r>
            <a:r>
              <a:rPr lang="it-IT" dirty="0">
                <a:effectLst/>
              </a:rPr>
              <a:t> = 0.336), </a:t>
            </a:r>
            <a:r>
              <a:rPr lang="it-IT" dirty="0" err="1">
                <a:effectLst/>
              </a:rPr>
              <a:t>indicating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that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previous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antibiotic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exposure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does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not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significantly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affect</a:t>
            </a:r>
            <a:r>
              <a:rPr lang="it-IT" dirty="0">
                <a:effectLst/>
              </a:rPr>
              <a:t> baseline </a:t>
            </a:r>
            <a:r>
              <a:rPr lang="it-IT" dirty="0" err="1">
                <a:effectLst/>
              </a:rPr>
              <a:t>microbial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diversity</a:t>
            </a:r>
            <a:r>
              <a:rPr lang="it-IT" dirty="0">
                <a:effectLst/>
              </a:rPr>
              <a:t>.</a:t>
            </a:r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CF0D5A8-F316-CB54-B792-2D1ECE01B734}"/>
              </a:ext>
            </a:extLst>
          </p:cNvPr>
          <p:cNvSpPr txBox="1"/>
          <p:nvPr/>
        </p:nvSpPr>
        <p:spPr>
          <a:xfrm>
            <a:off x="554182" y="3749097"/>
            <a:ext cx="546792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At therapy </a:t>
            </a:r>
            <a:r>
              <a:rPr lang="it-IT" dirty="0" err="1"/>
              <a:t>initiation</a:t>
            </a:r>
            <a:r>
              <a:rPr lang="it-IT" dirty="0"/>
              <a:t>, the microbiota </a:t>
            </a:r>
            <a:r>
              <a:rPr lang="it-IT" dirty="0" err="1"/>
              <a:t>composition</a:t>
            </a:r>
            <a:r>
              <a:rPr lang="it-IT" dirty="0"/>
              <a:t> </a:t>
            </a:r>
            <a:r>
              <a:rPr lang="it-IT" dirty="0" err="1"/>
              <a:t>appears</a:t>
            </a:r>
            <a:r>
              <a:rPr lang="it-IT" dirty="0"/>
              <a:t> comparable </a:t>
            </a:r>
            <a:r>
              <a:rPr lang="it-IT" dirty="0" err="1"/>
              <a:t>between</a:t>
            </a:r>
            <a:r>
              <a:rPr lang="it-IT" dirty="0"/>
              <a:t> </a:t>
            </a:r>
            <a:r>
              <a:rPr lang="it-IT" dirty="0" err="1"/>
              <a:t>antibiotic</a:t>
            </a:r>
            <a:r>
              <a:rPr lang="it-IT" dirty="0"/>
              <a:t> users and non‑users, </a:t>
            </a:r>
            <a:r>
              <a:rPr lang="it-IT" dirty="0" err="1"/>
              <a:t>suggesting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recent</a:t>
            </a:r>
            <a:r>
              <a:rPr lang="it-IT" dirty="0"/>
              <a:t> </a:t>
            </a:r>
            <a:r>
              <a:rPr lang="it-IT" dirty="0" err="1"/>
              <a:t>antibiotic</a:t>
            </a:r>
            <a:r>
              <a:rPr lang="it-IT" dirty="0"/>
              <a:t> use </a:t>
            </a:r>
            <a:r>
              <a:rPr lang="it-IT" dirty="0" err="1"/>
              <a:t>did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lead to </a:t>
            </a:r>
            <a:r>
              <a:rPr lang="it-IT" dirty="0" err="1"/>
              <a:t>persistent</a:t>
            </a:r>
            <a:r>
              <a:rPr lang="it-IT" dirty="0"/>
              <a:t> </a:t>
            </a:r>
            <a:r>
              <a:rPr lang="it-IT" dirty="0" err="1"/>
              <a:t>diversity</a:t>
            </a:r>
            <a:r>
              <a:rPr lang="it-IT" dirty="0"/>
              <a:t> </a:t>
            </a:r>
            <a:r>
              <a:rPr lang="it-IT" dirty="0" err="1"/>
              <a:t>reduction</a:t>
            </a:r>
            <a:r>
              <a:rPr lang="it-IT" dirty="0"/>
              <a:t> in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cohort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612655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9311190A-485C-DCF8-7383-37FE5655A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7653" y="1780887"/>
            <a:ext cx="4937419" cy="3890241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182B539E-FF46-175C-634D-01860B3D5555}"/>
              </a:ext>
            </a:extLst>
          </p:cNvPr>
          <p:cNvSpPr txBox="1"/>
          <p:nvPr/>
        </p:nvSpPr>
        <p:spPr>
          <a:xfrm>
            <a:off x="591127" y="697452"/>
            <a:ext cx="80818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Alpha </a:t>
            </a:r>
            <a:r>
              <a:rPr lang="it-IT" b="1" dirty="0" err="1"/>
              <a:t>diversity</a:t>
            </a:r>
            <a:r>
              <a:rPr lang="it-IT" b="1" dirty="0"/>
              <a:t> (Shannon index) by </a:t>
            </a:r>
            <a:r>
              <a:rPr lang="it-IT" b="1" dirty="0" err="1"/>
              <a:t>disease</a:t>
            </a:r>
            <a:r>
              <a:rPr lang="it-IT" b="1" dirty="0"/>
              <a:t> activity </a:t>
            </a:r>
            <a:r>
              <a:rPr lang="it-IT" b="1" dirty="0" err="1"/>
              <a:t>at</a:t>
            </a:r>
            <a:r>
              <a:rPr lang="it-IT" b="1" dirty="0"/>
              <a:t> therapy </a:t>
            </a:r>
            <a:r>
              <a:rPr lang="it-IT" b="1" dirty="0" err="1"/>
              <a:t>initiation</a:t>
            </a:r>
            <a:r>
              <a:rPr lang="it-IT" dirty="0"/>
              <a:t> 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924B96A1-C70F-9D5B-E540-A92EB2A8AC7E}"/>
              </a:ext>
            </a:extLst>
          </p:cNvPr>
          <p:cNvSpPr txBox="1"/>
          <p:nvPr/>
        </p:nvSpPr>
        <p:spPr>
          <a:xfrm>
            <a:off x="591127" y="1538146"/>
            <a:ext cx="550487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dirty="0">
                <a:effectLst/>
              </a:rPr>
              <a:t>Analysis of </a:t>
            </a:r>
            <a:r>
              <a:rPr lang="it-IT" dirty="0" err="1">
                <a:effectLst/>
              </a:rPr>
              <a:t>microbial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diversity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considering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patients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as</a:t>
            </a:r>
            <a:r>
              <a:rPr lang="it-IT" dirty="0">
                <a:effectLst/>
              </a:rPr>
              <a:t> subset and </a:t>
            </a:r>
            <a:r>
              <a:rPr lang="it-IT" b="1" dirty="0" err="1">
                <a:effectLst/>
              </a:rPr>
              <a:t>disease</a:t>
            </a:r>
            <a:r>
              <a:rPr lang="it-IT" b="1" dirty="0">
                <a:effectLst/>
              </a:rPr>
              <a:t> activity </a:t>
            </a:r>
            <a:r>
              <a:rPr lang="it-IT" dirty="0">
                <a:effectLst/>
              </a:rPr>
              <a:t>(Yes/No) </a:t>
            </a:r>
            <a:r>
              <a:rPr lang="it-IT" dirty="0" err="1">
                <a:effectLst/>
              </a:rPr>
              <a:t>as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variable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at</a:t>
            </a:r>
            <a:r>
              <a:rPr lang="it-IT" dirty="0">
                <a:effectLst/>
              </a:rPr>
              <a:t> the start of therapy. </a:t>
            </a:r>
            <a:r>
              <a:rPr lang="it-IT" dirty="0" err="1">
                <a:effectLst/>
              </a:rPr>
              <a:t>Results</a:t>
            </a:r>
            <a:r>
              <a:rPr lang="it-IT" dirty="0">
                <a:effectLst/>
              </a:rPr>
              <a:t> show </a:t>
            </a:r>
            <a:r>
              <a:rPr lang="it-IT" b="1" dirty="0">
                <a:effectLst/>
              </a:rPr>
              <a:t>no </a:t>
            </a:r>
            <a:r>
              <a:rPr lang="it-IT" b="1" dirty="0" err="1">
                <a:effectLst/>
              </a:rPr>
              <a:t>significant</a:t>
            </a:r>
            <a:r>
              <a:rPr lang="it-IT" b="1" dirty="0">
                <a:effectLst/>
              </a:rPr>
              <a:t> </a:t>
            </a:r>
            <a:r>
              <a:rPr lang="it-IT" b="1" dirty="0" err="1">
                <a:effectLst/>
              </a:rPr>
              <a:t>difference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between</a:t>
            </a:r>
            <a:r>
              <a:rPr lang="it-IT" dirty="0">
                <a:effectLst/>
              </a:rPr>
              <a:t> groups (</a:t>
            </a:r>
            <a:r>
              <a:rPr lang="it-IT" i="1" dirty="0">
                <a:effectLst/>
              </a:rPr>
              <a:t>t</a:t>
            </a:r>
            <a:r>
              <a:rPr lang="it-IT" dirty="0">
                <a:effectLst/>
              </a:rPr>
              <a:t>-test, </a:t>
            </a:r>
            <a:r>
              <a:rPr lang="it-IT" i="1" dirty="0">
                <a:effectLst/>
              </a:rPr>
              <a:t>p</a:t>
            </a:r>
            <a:r>
              <a:rPr lang="it-IT" dirty="0">
                <a:effectLst/>
              </a:rPr>
              <a:t> = 0.0824), </a:t>
            </a:r>
            <a:r>
              <a:rPr lang="it-IT" dirty="0" err="1">
                <a:effectLst/>
              </a:rPr>
              <a:t>although</a:t>
            </a:r>
            <a:r>
              <a:rPr lang="it-IT" dirty="0">
                <a:effectLst/>
              </a:rPr>
              <a:t> a </a:t>
            </a:r>
            <a:r>
              <a:rPr lang="it-IT" b="1" dirty="0" err="1">
                <a:effectLst/>
              </a:rPr>
              <a:t>slight</a:t>
            </a:r>
            <a:r>
              <a:rPr lang="it-IT" b="1" dirty="0">
                <a:effectLst/>
              </a:rPr>
              <a:t> trend </a:t>
            </a:r>
            <a:r>
              <a:rPr lang="it-IT" b="1" dirty="0" err="1">
                <a:effectLst/>
              </a:rPr>
              <a:t>toward</a:t>
            </a:r>
            <a:r>
              <a:rPr lang="it-IT" b="1" dirty="0">
                <a:effectLst/>
              </a:rPr>
              <a:t> </a:t>
            </a:r>
            <a:r>
              <a:rPr lang="it-IT" b="1" dirty="0" err="1">
                <a:effectLst/>
              </a:rPr>
              <a:t>higher</a:t>
            </a:r>
            <a:r>
              <a:rPr lang="it-IT" b="1" dirty="0">
                <a:effectLst/>
              </a:rPr>
              <a:t> </a:t>
            </a:r>
            <a:r>
              <a:rPr lang="it-IT" b="1" dirty="0" err="1">
                <a:effectLst/>
              </a:rPr>
              <a:t>diversity</a:t>
            </a:r>
            <a:r>
              <a:rPr lang="it-IT" dirty="0">
                <a:effectLst/>
              </a:rPr>
              <a:t> </a:t>
            </a:r>
            <a:r>
              <a:rPr lang="it-IT" b="1" dirty="0" err="1">
                <a:effectLst/>
              </a:rPr>
              <a:t>is</a:t>
            </a:r>
            <a:r>
              <a:rPr lang="it-IT" b="1" dirty="0">
                <a:effectLst/>
              </a:rPr>
              <a:t> </a:t>
            </a:r>
            <a:r>
              <a:rPr lang="it-IT" b="1" dirty="0" err="1">
                <a:effectLst/>
              </a:rPr>
              <a:t>observed</a:t>
            </a:r>
            <a:r>
              <a:rPr lang="it-IT" b="1" dirty="0">
                <a:effectLst/>
              </a:rPr>
              <a:t> in </a:t>
            </a:r>
            <a:r>
              <a:rPr lang="it-IT" b="1" dirty="0" err="1">
                <a:effectLst/>
              </a:rPr>
              <a:t>patients</a:t>
            </a:r>
            <a:r>
              <a:rPr lang="it-IT" b="1" dirty="0">
                <a:effectLst/>
              </a:rPr>
              <a:t> with </a:t>
            </a:r>
            <a:r>
              <a:rPr lang="it-IT" b="1" dirty="0" err="1">
                <a:effectLst/>
              </a:rPr>
              <a:t>active</a:t>
            </a:r>
            <a:r>
              <a:rPr lang="it-IT" b="1" dirty="0">
                <a:effectLst/>
              </a:rPr>
              <a:t> </a:t>
            </a:r>
            <a:r>
              <a:rPr lang="it-IT" b="1" dirty="0" err="1">
                <a:effectLst/>
              </a:rPr>
              <a:t>disease</a:t>
            </a:r>
            <a:r>
              <a:rPr lang="it-IT" b="1" dirty="0">
                <a:effectLst/>
              </a:rPr>
              <a:t>.</a:t>
            </a:r>
            <a:endParaRPr lang="it-IT" b="1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878D859-9A58-BA66-AA82-04ECA278CEF9}"/>
              </a:ext>
            </a:extLst>
          </p:cNvPr>
          <p:cNvSpPr txBox="1"/>
          <p:nvPr/>
        </p:nvSpPr>
        <p:spPr>
          <a:xfrm>
            <a:off x="526472" y="3565529"/>
            <a:ext cx="579120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At baseline, </a:t>
            </a:r>
            <a:r>
              <a:rPr lang="it-IT" dirty="0" err="1"/>
              <a:t>microbial</a:t>
            </a:r>
            <a:r>
              <a:rPr lang="it-IT" dirty="0"/>
              <a:t> </a:t>
            </a:r>
            <a:r>
              <a:rPr lang="it-IT" dirty="0" err="1"/>
              <a:t>diversity</a:t>
            </a:r>
            <a:r>
              <a:rPr lang="it-IT" dirty="0"/>
              <a:t> </a:t>
            </a:r>
            <a:r>
              <a:rPr lang="it-IT" dirty="0" err="1"/>
              <a:t>appears</a:t>
            </a:r>
            <a:r>
              <a:rPr lang="it-IT" dirty="0"/>
              <a:t> comparable </a:t>
            </a:r>
            <a:r>
              <a:rPr lang="it-IT" dirty="0" err="1"/>
              <a:t>between</a:t>
            </a:r>
            <a:r>
              <a:rPr lang="it-IT" dirty="0"/>
              <a:t> </a:t>
            </a:r>
            <a:r>
              <a:rPr lang="it-IT" dirty="0" err="1"/>
              <a:t>active</a:t>
            </a:r>
            <a:r>
              <a:rPr lang="it-IT" dirty="0"/>
              <a:t> and </a:t>
            </a:r>
            <a:r>
              <a:rPr lang="it-IT" dirty="0" err="1"/>
              <a:t>inactive</a:t>
            </a:r>
            <a:r>
              <a:rPr lang="it-IT" dirty="0"/>
              <a:t> </a:t>
            </a:r>
            <a:r>
              <a:rPr lang="it-IT" dirty="0" err="1"/>
              <a:t>disease</a:t>
            </a:r>
            <a:r>
              <a:rPr lang="it-IT" dirty="0"/>
              <a:t> </a:t>
            </a:r>
            <a:r>
              <a:rPr lang="it-IT" dirty="0" err="1"/>
              <a:t>states</a:t>
            </a:r>
            <a:r>
              <a:rPr lang="it-IT" dirty="0"/>
              <a:t>, </a:t>
            </a:r>
            <a:r>
              <a:rPr lang="it-IT" dirty="0" err="1"/>
              <a:t>suggesting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initial</a:t>
            </a:r>
            <a:r>
              <a:rPr lang="it-IT" dirty="0"/>
              <a:t> </a:t>
            </a:r>
            <a:r>
              <a:rPr lang="it-IT" dirty="0" err="1"/>
              <a:t>disease</a:t>
            </a:r>
            <a:r>
              <a:rPr lang="it-IT" dirty="0"/>
              <a:t> activity </a:t>
            </a:r>
            <a:r>
              <a:rPr lang="it-IT" dirty="0" err="1"/>
              <a:t>does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strongly</a:t>
            </a:r>
            <a:r>
              <a:rPr lang="it-IT" dirty="0"/>
              <a:t> </a:t>
            </a:r>
            <a:r>
              <a:rPr lang="it-IT" dirty="0" err="1"/>
              <a:t>influence</a:t>
            </a:r>
            <a:r>
              <a:rPr lang="it-IT" dirty="0"/>
              <a:t> overall microbiota </a:t>
            </a:r>
            <a:r>
              <a:rPr lang="it-IT" dirty="0" err="1"/>
              <a:t>composition</a:t>
            </a:r>
            <a:r>
              <a:rPr lang="it-IT" dirty="0"/>
              <a:t>, </a:t>
            </a:r>
            <a:r>
              <a:rPr lang="it-IT" dirty="0" err="1"/>
              <a:t>though</a:t>
            </a:r>
            <a:r>
              <a:rPr lang="it-IT" dirty="0"/>
              <a:t> the mild </a:t>
            </a:r>
            <a:r>
              <a:rPr lang="it-IT" dirty="0" err="1"/>
              <a:t>upward</a:t>
            </a:r>
            <a:r>
              <a:rPr lang="it-IT" dirty="0"/>
              <a:t> trend in </a:t>
            </a:r>
            <a:r>
              <a:rPr lang="it-IT" dirty="0" err="1"/>
              <a:t>active</a:t>
            </a:r>
            <a:r>
              <a:rPr lang="it-IT" dirty="0"/>
              <a:t> </a:t>
            </a:r>
            <a:r>
              <a:rPr lang="it-IT" dirty="0" err="1"/>
              <a:t>cases</a:t>
            </a:r>
            <a:r>
              <a:rPr lang="it-IT" dirty="0"/>
              <a:t> </a:t>
            </a:r>
            <a:r>
              <a:rPr lang="it-IT" dirty="0" err="1"/>
              <a:t>could</a:t>
            </a:r>
            <a:r>
              <a:rPr lang="it-IT" dirty="0"/>
              <a:t> warrant </a:t>
            </a:r>
            <a:r>
              <a:rPr lang="it-IT" dirty="0" err="1"/>
              <a:t>further</a:t>
            </a:r>
            <a:r>
              <a:rPr lang="it-IT" dirty="0"/>
              <a:t> </a:t>
            </a:r>
            <a:r>
              <a:rPr lang="it-IT" dirty="0" err="1"/>
              <a:t>investigation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144317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4A315175-EFF5-3D01-5AB9-13BAD72B9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657" y="3495909"/>
            <a:ext cx="3917028" cy="3110345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FE28F31A-3CC6-484F-805B-60BE91A3E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462454"/>
            <a:ext cx="3996929" cy="3177254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69B71462-139C-8FBF-BF7C-57F91CD80784}"/>
              </a:ext>
            </a:extLst>
          </p:cNvPr>
          <p:cNvSpPr txBox="1"/>
          <p:nvPr/>
        </p:nvSpPr>
        <p:spPr>
          <a:xfrm>
            <a:off x="544944" y="623562"/>
            <a:ext cx="79340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Alpha </a:t>
            </a:r>
            <a:r>
              <a:rPr lang="it-IT" b="1" dirty="0" err="1"/>
              <a:t>diversity</a:t>
            </a:r>
            <a:r>
              <a:rPr lang="it-IT" b="1" dirty="0"/>
              <a:t> (Shannon index) </a:t>
            </a:r>
            <a:r>
              <a:rPr lang="it-IT" b="1" dirty="0" err="1"/>
              <a:t>at</a:t>
            </a:r>
            <a:r>
              <a:rPr lang="it-IT" b="1" dirty="0"/>
              <a:t> baseline (T0) by </a:t>
            </a:r>
            <a:r>
              <a:rPr lang="it-IT" b="1" dirty="0" err="1"/>
              <a:t>lesion</a:t>
            </a:r>
            <a:r>
              <a:rPr lang="it-IT" b="1" dirty="0"/>
              <a:t> location</a:t>
            </a:r>
            <a:r>
              <a:rPr lang="it-IT" dirty="0"/>
              <a:t> 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F1B8607F-9D7C-C508-DCE0-8D3854A8FDB2}"/>
              </a:ext>
            </a:extLst>
          </p:cNvPr>
          <p:cNvSpPr txBox="1"/>
          <p:nvPr/>
        </p:nvSpPr>
        <p:spPr>
          <a:xfrm>
            <a:off x="595741" y="1170960"/>
            <a:ext cx="107188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/>
              <a:t>Comparison</a:t>
            </a:r>
            <a:r>
              <a:rPr lang="it-IT" dirty="0"/>
              <a:t> of </a:t>
            </a:r>
            <a:r>
              <a:rPr lang="it-IT" dirty="0" err="1"/>
              <a:t>microbial</a:t>
            </a:r>
            <a:r>
              <a:rPr lang="it-IT" dirty="0"/>
              <a:t> </a:t>
            </a:r>
            <a:r>
              <a:rPr lang="it-IT" dirty="0" err="1"/>
              <a:t>diversity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</a:t>
            </a:r>
            <a:r>
              <a:rPr lang="it-IT" dirty="0" err="1"/>
              <a:t>subjects</a:t>
            </a:r>
            <a:r>
              <a:rPr lang="it-IT" dirty="0"/>
              <a:t> with (1) and </a:t>
            </a:r>
            <a:r>
              <a:rPr lang="it-IT" dirty="0" err="1"/>
              <a:t>without</a:t>
            </a:r>
            <a:r>
              <a:rPr lang="it-IT" dirty="0"/>
              <a:t> (0) </a:t>
            </a:r>
            <a:r>
              <a:rPr lang="it-IT" dirty="0" err="1"/>
              <a:t>lesions</a:t>
            </a:r>
            <a:r>
              <a:rPr lang="it-IT" dirty="0"/>
              <a:t> in </a:t>
            </a:r>
            <a:r>
              <a:rPr lang="it-IT" dirty="0" err="1"/>
              <a:t>two</a:t>
            </a:r>
            <a:r>
              <a:rPr lang="it-IT" dirty="0"/>
              <a:t> </a:t>
            </a:r>
            <a:r>
              <a:rPr lang="it-IT" dirty="0" err="1"/>
              <a:t>anatomical</a:t>
            </a:r>
            <a:r>
              <a:rPr lang="it-IT" dirty="0"/>
              <a:t> </a:t>
            </a:r>
            <a:r>
              <a:rPr lang="it-IT" dirty="0" err="1"/>
              <a:t>regions</a:t>
            </a:r>
            <a:r>
              <a:rPr lang="it-IT" dirty="0"/>
              <a:t>: </a:t>
            </a:r>
            <a:r>
              <a:rPr lang="it-IT" b="1" dirty="0" err="1"/>
              <a:t>subtentorial</a:t>
            </a:r>
            <a:r>
              <a:rPr lang="it-IT" dirty="0"/>
              <a:t> (</a:t>
            </a:r>
            <a:r>
              <a:rPr lang="it-IT" dirty="0" err="1"/>
              <a:t>left</a:t>
            </a:r>
            <a:r>
              <a:rPr lang="it-IT" dirty="0"/>
              <a:t> panel) and </a:t>
            </a:r>
            <a:r>
              <a:rPr lang="it-IT" b="1" dirty="0" err="1"/>
              <a:t>spinal</a:t>
            </a:r>
            <a:r>
              <a:rPr lang="it-IT" dirty="0"/>
              <a:t> (</a:t>
            </a:r>
            <a:r>
              <a:rPr lang="it-IT" dirty="0" err="1"/>
              <a:t>right</a:t>
            </a:r>
            <a:r>
              <a:rPr lang="it-IT" dirty="0"/>
              <a:t> panel). Both </a:t>
            </a:r>
            <a:r>
              <a:rPr lang="it-IT" dirty="0" err="1"/>
              <a:t>analyses</a:t>
            </a:r>
            <a:r>
              <a:rPr lang="it-IT" dirty="0"/>
              <a:t> show </a:t>
            </a:r>
            <a:r>
              <a:rPr lang="it-IT" b="1" dirty="0"/>
              <a:t>no </a:t>
            </a:r>
            <a:r>
              <a:rPr lang="it-IT" b="1" dirty="0" err="1"/>
              <a:t>significant</a:t>
            </a:r>
            <a:r>
              <a:rPr lang="it-IT" b="1" dirty="0"/>
              <a:t> </a:t>
            </a:r>
            <a:r>
              <a:rPr lang="it-IT" b="1" dirty="0" err="1"/>
              <a:t>differences</a:t>
            </a:r>
            <a:r>
              <a:rPr lang="it-IT" dirty="0"/>
              <a:t> (</a:t>
            </a:r>
            <a:r>
              <a:rPr lang="it-IT" i="1" dirty="0"/>
              <a:t>t</a:t>
            </a:r>
            <a:r>
              <a:rPr lang="it-IT" dirty="0"/>
              <a:t>-test, </a:t>
            </a:r>
            <a:r>
              <a:rPr lang="it-IT" i="1" dirty="0"/>
              <a:t>p</a:t>
            </a:r>
            <a:r>
              <a:rPr lang="it-IT" dirty="0"/>
              <a:t> = 0.479 and </a:t>
            </a:r>
            <a:r>
              <a:rPr lang="it-IT" i="1" dirty="0"/>
              <a:t>p</a:t>
            </a:r>
            <a:r>
              <a:rPr lang="it-IT" dirty="0"/>
              <a:t> = 0.716 </a:t>
            </a:r>
            <a:r>
              <a:rPr lang="it-IT" dirty="0" err="1"/>
              <a:t>respectively</a:t>
            </a:r>
            <a:r>
              <a:rPr lang="it-IT" dirty="0"/>
              <a:t>), </a:t>
            </a:r>
            <a:r>
              <a:rPr lang="it-IT" dirty="0" err="1"/>
              <a:t>indicating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the </a:t>
            </a:r>
            <a:r>
              <a:rPr lang="it-IT" dirty="0" err="1"/>
              <a:t>presence</a:t>
            </a:r>
            <a:r>
              <a:rPr lang="it-IT" dirty="0"/>
              <a:t> of </a:t>
            </a:r>
            <a:r>
              <a:rPr lang="it-IT" dirty="0" err="1"/>
              <a:t>subtentorial</a:t>
            </a:r>
            <a:r>
              <a:rPr lang="it-IT" dirty="0"/>
              <a:t> or </a:t>
            </a:r>
            <a:r>
              <a:rPr lang="it-IT" dirty="0" err="1"/>
              <a:t>spinal</a:t>
            </a:r>
            <a:r>
              <a:rPr lang="it-IT" dirty="0"/>
              <a:t> </a:t>
            </a:r>
            <a:r>
              <a:rPr lang="it-IT" dirty="0" err="1"/>
              <a:t>lesions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baseline </a:t>
            </a:r>
            <a:r>
              <a:rPr lang="it-IT" dirty="0" err="1"/>
              <a:t>does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influence</a:t>
            </a:r>
            <a:r>
              <a:rPr lang="it-IT" dirty="0"/>
              <a:t> </a:t>
            </a:r>
            <a:r>
              <a:rPr lang="it-IT" dirty="0" err="1"/>
              <a:t>microbial</a:t>
            </a:r>
            <a:r>
              <a:rPr lang="it-IT" dirty="0"/>
              <a:t> </a:t>
            </a:r>
            <a:r>
              <a:rPr lang="it-IT" dirty="0" err="1"/>
              <a:t>diversity</a:t>
            </a:r>
            <a:r>
              <a:rPr lang="it-IT" dirty="0"/>
              <a:t>.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A5E92C2-70EB-8A63-4929-57E26B011124}"/>
              </a:ext>
            </a:extLst>
          </p:cNvPr>
          <p:cNvSpPr txBox="1"/>
          <p:nvPr/>
        </p:nvSpPr>
        <p:spPr>
          <a:xfrm>
            <a:off x="595741" y="2549355"/>
            <a:ext cx="106429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At therapy </a:t>
            </a:r>
            <a:r>
              <a:rPr lang="it-IT" dirty="0" err="1"/>
              <a:t>initiation</a:t>
            </a:r>
            <a:r>
              <a:rPr lang="it-IT" dirty="0"/>
              <a:t>, </a:t>
            </a:r>
            <a:r>
              <a:rPr lang="it-IT" dirty="0" err="1"/>
              <a:t>microbial</a:t>
            </a:r>
            <a:r>
              <a:rPr lang="it-IT" dirty="0"/>
              <a:t> </a:t>
            </a:r>
            <a:r>
              <a:rPr lang="it-IT" dirty="0" err="1"/>
              <a:t>diversity</a:t>
            </a:r>
            <a:r>
              <a:rPr lang="it-IT" dirty="0"/>
              <a:t> </a:t>
            </a:r>
            <a:r>
              <a:rPr lang="it-IT" dirty="0" err="1"/>
              <a:t>remains</a:t>
            </a:r>
            <a:r>
              <a:rPr lang="it-IT" dirty="0"/>
              <a:t> </a:t>
            </a:r>
            <a:r>
              <a:rPr lang="it-IT" dirty="0" err="1"/>
              <a:t>consistent</a:t>
            </a:r>
            <a:r>
              <a:rPr lang="it-IT" dirty="0"/>
              <a:t> </a:t>
            </a:r>
            <a:r>
              <a:rPr lang="it-IT" dirty="0" err="1"/>
              <a:t>across</a:t>
            </a:r>
            <a:r>
              <a:rPr lang="it-IT" dirty="0"/>
              <a:t> </a:t>
            </a:r>
            <a:r>
              <a:rPr lang="it-IT" dirty="0" err="1"/>
              <a:t>lesion</a:t>
            </a:r>
            <a:r>
              <a:rPr lang="it-IT" dirty="0"/>
              <a:t> locations, </a:t>
            </a:r>
            <a:r>
              <a:rPr lang="it-IT" dirty="0" err="1"/>
              <a:t>suggesting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lesion</a:t>
            </a:r>
            <a:r>
              <a:rPr lang="it-IT" dirty="0"/>
              <a:t> </a:t>
            </a:r>
            <a:r>
              <a:rPr lang="it-IT" dirty="0" err="1"/>
              <a:t>distribution</a:t>
            </a:r>
            <a:r>
              <a:rPr lang="it-IT" dirty="0"/>
              <a:t> </a:t>
            </a:r>
            <a:r>
              <a:rPr lang="it-IT" dirty="0" err="1"/>
              <a:t>within</a:t>
            </a:r>
            <a:r>
              <a:rPr lang="it-IT" dirty="0"/>
              <a:t> the CNS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associated</a:t>
            </a:r>
            <a:r>
              <a:rPr lang="it-IT" dirty="0"/>
              <a:t> with baseline microbiota </a:t>
            </a:r>
            <a:r>
              <a:rPr lang="it-IT" dirty="0" err="1"/>
              <a:t>composition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791727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0CF877B6-5487-AAEE-E99E-AF277F9793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49" t="1630"/>
          <a:stretch>
            <a:fillRect/>
          </a:stretch>
        </p:blipFill>
        <p:spPr>
          <a:xfrm>
            <a:off x="6720052" y="1763867"/>
            <a:ext cx="5115029" cy="4138169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61448C7B-4724-7CB8-4414-4EFF955BE49C}"/>
              </a:ext>
            </a:extLst>
          </p:cNvPr>
          <p:cNvSpPr txBox="1"/>
          <p:nvPr/>
        </p:nvSpPr>
        <p:spPr>
          <a:xfrm>
            <a:off x="646545" y="678981"/>
            <a:ext cx="94949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Alpha </a:t>
            </a:r>
            <a:r>
              <a:rPr lang="it-IT" b="1" dirty="0" err="1"/>
              <a:t>diversity</a:t>
            </a:r>
            <a:r>
              <a:rPr lang="it-IT" b="1" dirty="0"/>
              <a:t> (Shannon index) </a:t>
            </a:r>
            <a:r>
              <a:rPr lang="it-IT" b="1" dirty="0" err="1"/>
              <a:t>at</a:t>
            </a:r>
            <a:r>
              <a:rPr lang="it-IT" b="1" dirty="0"/>
              <a:t> baseline (T0) by </a:t>
            </a:r>
            <a:r>
              <a:rPr lang="it-IT" b="1" dirty="0" err="1"/>
              <a:t>gadolinium</a:t>
            </a:r>
            <a:r>
              <a:rPr lang="it-IT" b="1" dirty="0"/>
              <a:t> </a:t>
            </a:r>
            <a:r>
              <a:rPr lang="it-IT" b="1" dirty="0" err="1"/>
              <a:t>contrast</a:t>
            </a:r>
            <a:r>
              <a:rPr lang="it-IT" b="1" dirty="0"/>
              <a:t> use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B042B66-E1F7-980A-A749-26E4705434DB}"/>
              </a:ext>
            </a:extLst>
          </p:cNvPr>
          <p:cNvSpPr txBox="1"/>
          <p:nvPr/>
        </p:nvSpPr>
        <p:spPr>
          <a:xfrm>
            <a:off x="635298" y="1713868"/>
            <a:ext cx="569883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dirty="0" err="1">
                <a:effectLst/>
              </a:rPr>
              <a:t>Comparison</a:t>
            </a:r>
            <a:r>
              <a:rPr lang="it-IT" dirty="0">
                <a:effectLst/>
              </a:rPr>
              <a:t> of </a:t>
            </a:r>
            <a:r>
              <a:rPr lang="it-IT" dirty="0" err="1">
                <a:effectLst/>
              </a:rPr>
              <a:t>microbial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diversity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between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subjects</a:t>
            </a:r>
            <a:r>
              <a:rPr lang="it-IT" dirty="0">
                <a:effectLst/>
              </a:rPr>
              <a:t> with (1) and </a:t>
            </a:r>
            <a:r>
              <a:rPr lang="it-IT" dirty="0" err="1">
                <a:effectLst/>
              </a:rPr>
              <a:t>without</a:t>
            </a:r>
            <a:r>
              <a:rPr lang="it-IT" dirty="0">
                <a:effectLst/>
              </a:rPr>
              <a:t> (0) </a:t>
            </a:r>
            <a:r>
              <a:rPr lang="it-IT" b="1" dirty="0" err="1">
                <a:effectLst/>
              </a:rPr>
              <a:t>gadolinium</a:t>
            </a:r>
            <a:r>
              <a:rPr lang="it-IT" b="1" dirty="0">
                <a:effectLst/>
              </a:rPr>
              <a:t> </a:t>
            </a:r>
            <a:r>
              <a:rPr lang="it-IT" b="1" dirty="0" err="1">
                <a:effectLst/>
              </a:rPr>
              <a:t>contrast</a:t>
            </a:r>
            <a:r>
              <a:rPr lang="it-IT" b="1" dirty="0">
                <a:effectLst/>
              </a:rPr>
              <a:t> </a:t>
            </a:r>
            <a:r>
              <a:rPr lang="it-IT" dirty="0" err="1">
                <a:effectLst/>
              </a:rPr>
              <a:t>administration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at</a:t>
            </a:r>
            <a:r>
              <a:rPr lang="it-IT" dirty="0">
                <a:effectLst/>
              </a:rPr>
              <a:t> baseline. </a:t>
            </a:r>
            <a:r>
              <a:rPr lang="it-IT" dirty="0" err="1">
                <a:effectLst/>
              </a:rPr>
              <a:t>Results</a:t>
            </a:r>
            <a:r>
              <a:rPr lang="it-IT" dirty="0">
                <a:effectLst/>
              </a:rPr>
              <a:t> show </a:t>
            </a:r>
            <a:r>
              <a:rPr lang="it-IT" b="1" dirty="0">
                <a:effectLst/>
              </a:rPr>
              <a:t>no </a:t>
            </a:r>
            <a:r>
              <a:rPr lang="it-IT" b="1" dirty="0" err="1">
                <a:effectLst/>
              </a:rPr>
              <a:t>significant</a:t>
            </a:r>
            <a:r>
              <a:rPr lang="it-IT" b="1" dirty="0">
                <a:effectLst/>
              </a:rPr>
              <a:t> </a:t>
            </a:r>
            <a:r>
              <a:rPr lang="it-IT" b="1" dirty="0" err="1">
                <a:effectLst/>
              </a:rPr>
              <a:t>difference</a:t>
            </a:r>
            <a:r>
              <a:rPr lang="it-IT" dirty="0">
                <a:effectLst/>
              </a:rPr>
              <a:t> (</a:t>
            </a:r>
            <a:r>
              <a:rPr lang="it-IT" i="1" dirty="0">
                <a:effectLst/>
              </a:rPr>
              <a:t>t</a:t>
            </a:r>
            <a:r>
              <a:rPr lang="it-IT" dirty="0">
                <a:effectLst/>
              </a:rPr>
              <a:t>-test, </a:t>
            </a:r>
            <a:r>
              <a:rPr lang="it-IT" i="1" dirty="0">
                <a:effectLst/>
              </a:rPr>
              <a:t>p</a:t>
            </a:r>
            <a:r>
              <a:rPr lang="it-IT" dirty="0">
                <a:effectLst/>
              </a:rPr>
              <a:t> = 0.238), </a:t>
            </a:r>
            <a:r>
              <a:rPr lang="it-IT" dirty="0" err="1">
                <a:effectLst/>
              </a:rPr>
              <a:t>indicating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that</a:t>
            </a:r>
            <a:r>
              <a:rPr lang="it-IT" dirty="0">
                <a:effectLst/>
              </a:rPr>
              <a:t> the use of </a:t>
            </a:r>
            <a:r>
              <a:rPr lang="it-IT" dirty="0" err="1">
                <a:effectLst/>
              </a:rPr>
              <a:t>gadolinium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contrast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does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not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influence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microbial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diversity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at</a:t>
            </a:r>
            <a:r>
              <a:rPr lang="it-IT" dirty="0">
                <a:effectLst/>
              </a:rPr>
              <a:t> the start of therapy.</a:t>
            </a:r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76AAE7F-069E-DFE2-E91D-D720128693A1}"/>
              </a:ext>
            </a:extLst>
          </p:cNvPr>
          <p:cNvSpPr txBox="1"/>
          <p:nvPr/>
        </p:nvSpPr>
        <p:spPr>
          <a:xfrm>
            <a:off x="635298" y="3638955"/>
            <a:ext cx="530167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At T0, the microbiota </a:t>
            </a:r>
            <a:r>
              <a:rPr lang="it-IT" dirty="0" err="1"/>
              <a:t>composition</a:t>
            </a:r>
            <a:r>
              <a:rPr lang="it-IT" dirty="0"/>
              <a:t> </a:t>
            </a:r>
            <a:r>
              <a:rPr lang="it-IT" dirty="0" err="1"/>
              <a:t>appears</a:t>
            </a:r>
            <a:r>
              <a:rPr lang="it-IT" dirty="0"/>
              <a:t> </a:t>
            </a:r>
            <a:r>
              <a:rPr lang="it-IT" dirty="0" err="1"/>
              <a:t>similar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</a:t>
            </a:r>
            <a:r>
              <a:rPr lang="it-IT" dirty="0" err="1"/>
              <a:t>patients</a:t>
            </a:r>
            <a:r>
              <a:rPr lang="it-IT" dirty="0"/>
              <a:t> </a:t>
            </a:r>
            <a:r>
              <a:rPr lang="it-IT" dirty="0" err="1"/>
              <a:t>who</a:t>
            </a:r>
            <a:r>
              <a:rPr lang="it-IT" dirty="0"/>
              <a:t> </a:t>
            </a:r>
            <a:r>
              <a:rPr lang="it-IT" dirty="0" err="1"/>
              <a:t>received</a:t>
            </a:r>
            <a:r>
              <a:rPr lang="it-IT" dirty="0"/>
              <a:t> </a:t>
            </a:r>
            <a:r>
              <a:rPr lang="it-IT" dirty="0" err="1"/>
              <a:t>gadolinium</a:t>
            </a:r>
            <a:r>
              <a:rPr lang="it-IT" dirty="0"/>
              <a:t> and </a:t>
            </a:r>
            <a:r>
              <a:rPr lang="it-IT" dirty="0" err="1"/>
              <a:t>those</a:t>
            </a:r>
            <a:r>
              <a:rPr lang="it-IT" dirty="0"/>
              <a:t> </a:t>
            </a:r>
            <a:r>
              <a:rPr lang="it-IT" dirty="0" err="1"/>
              <a:t>who</a:t>
            </a:r>
            <a:r>
              <a:rPr lang="it-IT" dirty="0"/>
              <a:t> </a:t>
            </a:r>
            <a:r>
              <a:rPr lang="it-IT" dirty="0" err="1"/>
              <a:t>did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, </a:t>
            </a:r>
            <a:r>
              <a:rPr lang="it-IT" dirty="0" err="1"/>
              <a:t>suggesting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contrast</a:t>
            </a:r>
            <a:r>
              <a:rPr lang="it-IT" dirty="0"/>
              <a:t> use — </a:t>
            </a:r>
            <a:r>
              <a:rPr lang="it-IT" dirty="0" err="1"/>
              <a:t>typically</a:t>
            </a:r>
            <a:r>
              <a:rPr lang="it-IT" dirty="0"/>
              <a:t> </a:t>
            </a:r>
            <a:r>
              <a:rPr lang="it-IT" dirty="0" err="1"/>
              <a:t>reflecting</a:t>
            </a:r>
            <a:r>
              <a:rPr lang="it-IT" dirty="0"/>
              <a:t> </a:t>
            </a:r>
            <a:r>
              <a:rPr lang="it-IT" dirty="0" err="1"/>
              <a:t>disease</a:t>
            </a:r>
            <a:r>
              <a:rPr lang="it-IT" dirty="0"/>
              <a:t> activity —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associated</a:t>
            </a:r>
            <a:r>
              <a:rPr lang="it-IT" dirty="0"/>
              <a:t> with baseline </a:t>
            </a:r>
            <a:r>
              <a:rPr lang="it-IT" dirty="0" err="1"/>
              <a:t>diversity</a:t>
            </a:r>
            <a:r>
              <a:rPr lang="it-IT" dirty="0"/>
              <a:t> </a:t>
            </a:r>
            <a:r>
              <a:rPr lang="it-IT" dirty="0" err="1"/>
              <a:t>changes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187129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2247E8EB-9BBE-6FC0-4F50-2AD1ABA55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02" y="3429000"/>
            <a:ext cx="3542932" cy="2893190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ACD203BD-4A12-46F8-CDD2-3E6A035824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7298" y="3377428"/>
            <a:ext cx="3658446" cy="2996334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0495DB24-F358-0C63-F662-B386FFDD60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0808" y="3308448"/>
            <a:ext cx="3741638" cy="3013742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B8E4D98C-046A-D921-DB0E-193C09DF756F}"/>
              </a:ext>
            </a:extLst>
          </p:cNvPr>
          <p:cNvSpPr txBox="1"/>
          <p:nvPr/>
        </p:nvSpPr>
        <p:spPr>
          <a:xfrm>
            <a:off x="434109" y="48423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Alpha </a:t>
            </a:r>
            <a:r>
              <a:rPr lang="it-IT" b="1" dirty="0" err="1"/>
              <a:t>diversity</a:t>
            </a:r>
            <a:r>
              <a:rPr lang="it-IT" b="1" dirty="0"/>
              <a:t> over time (T0, T1, T12)</a:t>
            </a:r>
            <a:r>
              <a:rPr lang="it-IT" dirty="0"/>
              <a:t> 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2BB12DE-A278-6166-B5C9-CFDEB00F4E97}"/>
              </a:ext>
            </a:extLst>
          </p:cNvPr>
          <p:cNvSpPr txBox="1"/>
          <p:nvPr/>
        </p:nvSpPr>
        <p:spPr>
          <a:xfrm>
            <a:off x="434109" y="965492"/>
            <a:ext cx="110836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/>
              <a:t>Comparison</a:t>
            </a:r>
            <a:r>
              <a:rPr lang="it-IT" dirty="0"/>
              <a:t> of </a:t>
            </a:r>
            <a:r>
              <a:rPr lang="it-IT" dirty="0" err="1"/>
              <a:t>microbial</a:t>
            </a:r>
            <a:r>
              <a:rPr lang="it-IT" dirty="0"/>
              <a:t> </a:t>
            </a:r>
            <a:r>
              <a:rPr lang="it-IT" dirty="0" err="1"/>
              <a:t>diversity</a:t>
            </a:r>
            <a:r>
              <a:rPr lang="it-IT" dirty="0"/>
              <a:t> </a:t>
            </a:r>
            <a:r>
              <a:rPr lang="it-IT" dirty="0" err="1"/>
              <a:t>indices</a:t>
            </a:r>
            <a:r>
              <a:rPr lang="it-IT" dirty="0"/>
              <a:t> — Shannon, Simpson, and </a:t>
            </a:r>
            <a:r>
              <a:rPr lang="it-IT" dirty="0" err="1"/>
              <a:t>Observed</a:t>
            </a:r>
            <a:r>
              <a:rPr lang="it-IT" dirty="0"/>
              <a:t> </a:t>
            </a:r>
            <a:r>
              <a:rPr lang="it-IT" dirty="0" err="1"/>
              <a:t>species</a:t>
            </a:r>
            <a:r>
              <a:rPr lang="it-IT" dirty="0"/>
              <a:t> </a:t>
            </a:r>
            <a:r>
              <a:rPr lang="it-IT" dirty="0" err="1"/>
              <a:t>richness</a:t>
            </a:r>
            <a:r>
              <a:rPr lang="it-IT" dirty="0"/>
              <a:t> — </a:t>
            </a:r>
            <a:r>
              <a:rPr lang="it-IT" dirty="0" err="1"/>
              <a:t>across</a:t>
            </a:r>
            <a:r>
              <a:rPr lang="it-IT" dirty="0"/>
              <a:t> </a:t>
            </a:r>
            <a:r>
              <a:rPr lang="it-IT" dirty="0" err="1"/>
              <a:t>all</a:t>
            </a:r>
            <a:r>
              <a:rPr lang="it-IT" dirty="0"/>
              <a:t> time points </a:t>
            </a:r>
            <a:r>
              <a:rPr lang="it-IT" dirty="0" err="1"/>
              <a:t>using</a:t>
            </a:r>
            <a:r>
              <a:rPr lang="it-IT" dirty="0"/>
              <a:t> </a:t>
            </a:r>
            <a:r>
              <a:rPr lang="it-IT" dirty="0" err="1"/>
              <a:t>timepoints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subset. All </a:t>
            </a:r>
            <a:r>
              <a:rPr lang="it-IT" dirty="0" err="1"/>
              <a:t>indices</a:t>
            </a:r>
            <a:r>
              <a:rPr lang="it-IT" dirty="0"/>
              <a:t> show </a:t>
            </a:r>
            <a:r>
              <a:rPr lang="it-IT" b="1" dirty="0"/>
              <a:t>no </a:t>
            </a:r>
            <a:r>
              <a:rPr lang="it-IT" b="1" dirty="0" err="1"/>
              <a:t>significant</a:t>
            </a:r>
            <a:r>
              <a:rPr lang="it-IT" b="1" dirty="0"/>
              <a:t> </a:t>
            </a:r>
            <a:r>
              <a:rPr lang="it-IT" b="1" dirty="0" err="1"/>
              <a:t>differences</a:t>
            </a:r>
            <a:r>
              <a:rPr lang="it-IT" dirty="0"/>
              <a:t> (</a:t>
            </a:r>
            <a:r>
              <a:rPr lang="it-IT" i="1" dirty="0"/>
              <a:t>NS</a:t>
            </a:r>
            <a:r>
              <a:rPr lang="it-IT" dirty="0"/>
              <a:t> for </a:t>
            </a:r>
            <a:r>
              <a:rPr lang="it-IT" dirty="0" err="1"/>
              <a:t>all</a:t>
            </a:r>
            <a:r>
              <a:rPr lang="it-IT" dirty="0"/>
              <a:t> </a:t>
            </a:r>
            <a:r>
              <a:rPr lang="it-IT" dirty="0" err="1"/>
              <a:t>pairwise</a:t>
            </a:r>
            <a:r>
              <a:rPr lang="it-IT" dirty="0"/>
              <a:t> </a:t>
            </a:r>
            <a:r>
              <a:rPr lang="it-IT" dirty="0" err="1"/>
              <a:t>comparisons</a:t>
            </a:r>
            <a:r>
              <a:rPr lang="it-IT" dirty="0"/>
              <a:t>), </a:t>
            </a:r>
            <a:r>
              <a:rPr lang="it-IT" dirty="0" err="1"/>
              <a:t>indicating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b="1" dirty="0" err="1"/>
              <a:t>microbial</a:t>
            </a:r>
            <a:r>
              <a:rPr lang="it-IT" b="1" dirty="0"/>
              <a:t> </a:t>
            </a:r>
            <a:r>
              <a:rPr lang="it-IT" b="1" dirty="0" err="1"/>
              <a:t>diversity</a:t>
            </a:r>
            <a:r>
              <a:rPr lang="it-IT" b="1" dirty="0"/>
              <a:t> </a:t>
            </a:r>
            <a:r>
              <a:rPr lang="it-IT" b="1" dirty="0" err="1"/>
              <a:t>remains</a:t>
            </a:r>
            <a:r>
              <a:rPr lang="it-IT" b="1" dirty="0"/>
              <a:t> </a:t>
            </a:r>
            <a:r>
              <a:rPr lang="it-IT" b="1" dirty="0" err="1"/>
              <a:t>stable</a:t>
            </a:r>
            <a:r>
              <a:rPr lang="it-IT" b="1" dirty="0"/>
              <a:t> </a:t>
            </a:r>
            <a:r>
              <a:rPr lang="it-IT" b="1" dirty="0" err="1"/>
              <a:t>throughout</a:t>
            </a:r>
            <a:r>
              <a:rPr lang="it-IT" b="1" dirty="0"/>
              <a:t> the study </a:t>
            </a:r>
            <a:r>
              <a:rPr lang="it-IT" b="1" dirty="0" err="1"/>
              <a:t>period</a:t>
            </a:r>
            <a:r>
              <a:rPr lang="it-IT" dirty="0"/>
              <a:t>.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784EF615-2620-6E9A-4F63-6A64EE856D02}"/>
              </a:ext>
            </a:extLst>
          </p:cNvPr>
          <p:cNvSpPr txBox="1"/>
          <p:nvPr/>
        </p:nvSpPr>
        <p:spPr>
          <a:xfrm>
            <a:off x="434108" y="2177099"/>
            <a:ext cx="108342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/>
              <a:t>Across</a:t>
            </a:r>
            <a:r>
              <a:rPr lang="it-IT" dirty="0"/>
              <a:t> T0, T1, and T12, the microbiota </a:t>
            </a:r>
            <a:r>
              <a:rPr lang="it-IT" dirty="0" err="1"/>
              <a:t>composition</a:t>
            </a:r>
            <a:r>
              <a:rPr lang="it-IT" dirty="0"/>
              <a:t> </a:t>
            </a:r>
            <a:r>
              <a:rPr lang="it-IT" dirty="0" err="1"/>
              <a:t>appears</a:t>
            </a:r>
            <a:r>
              <a:rPr lang="it-IT" dirty="0"/>
              <a:t> </a:t>
            </a:r>
            <a:r>
              <a:rPr lang="it-IT" dirty="0" err="1"/>
              <a:t>consistent</a:t>
            </a:r>
            <a:r>
              <a:rPr lang="it-IT" dirty="0"/>
              <a:t>, </a:t>
            </a:r>
            <a:r>
              <a:rPr lang="it-IT" dirty="0" err="1"/>
              <a:t>suggesting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therapy and </a:t>
            </a:r>
            <a:r>
              <a:rPr lang="it-IT" dirty="0" err="1"/>
              <a:t>disease</a:t>
            </a:r>
            <a:r>
              <a:rPr lang="it-IT" dirty="0"/>
              <a:t> </a:t>
            </a:r>
            <a:r>
              <a:rPr lang="it-IT" dirty="0" err="1"/>
              <a:t>progression</a:t>
            </a:r>
            <a:r>
              <a:rPr lang="it-IT" dirty="0"/>
              <a:t> do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significantly</a:t>
            </a:r>
            <a:r>
              <a:rPr lang="it-IT" dirty="0"/>
              <a:t> impact overall </a:t>
            </a:r>
            <a:r>
              <a:rPr lang="it-IT" dirty="0" err="1"/>
              <a:t>diversity</a:t>
            </a:r>
            <a:r>
              <a:rPr lang="it-IT" dirty="0"/>
              <a:t> over time.</a:t>
            </a:r>
          </a:p>
        </p:txBody>
      </p:sp>
    </p:spTree>
    <p:extLst>
      <p:ext uri="{BB962C8B-B14F-4D97-AF65-F5344CB8AC3E}">
        <p14:creationId xmlns:p14="http://schemas.microsoft.com/office/powerpoint/2010/main" val="9660768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4A8954-4C4D-5D14-99D1-473272078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Interpretation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60934D6-5BCD-2CDD-27D9-3D55DAC0B6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Microbial</a:t>
            </a:r>
            <a:r>
              <a:rPr lang="it-IT" dirty="0"/>
              <a:t> </a:t>
            </a:r>
            <a:r>
              <a:rPr lang="it-IT" dirty="0" err="1"/>
              <a:t>diversity</a:t>
            </a:r>
            <a:r>
              <a:rPr lang="it-IT" dirty="0"/>
              <a:t> </a:t>
            </a:r>
            <a:r>
              <a:rPr lang="it-IT" b="1" dirty="0" err="1"/>
              <a:t>does</a:t>
            </a:r>
            <a:r>
              <a:rPr lang="it-IT" b="1" dirty="0"/>
              <a:t> </a:t>
            </a:r>
            <a:r>
              <a:rPr lang="it-IT" b="1" dirty="0" err="1"/>
              <a:t>not</a:t>
            </a:r>
            <a:r>
              <a:rPr lang="it-IT" b="1" dirty="0"/>
              <a:t> </a:t>
            </a:r>
            <a:r>
              <a:rPr lang="it-IT" b="1" dirty="0" err="1"/>
              <a:t>significantly</a:t>
            </a:r>
            <a:r>
              <a:rPr lang="it-IT" b="1" dirty="0"/>
              <a:t> </a:t>
            </a:r>
            <a:r>
              <a:rPr lang="it-IT" b="1" dirty="0" err="1"/>
              <a:t>differ</a:t>
            </a:r>
            <a:r>
              <a:rPr lang="it-IT" dirty="0"/>
              <a:t> </a:t>
            </a:r>
            <a:r>
              <a:rPr lang="it-IT" dirty="0" err="1"/>
              <a:t>across</a:t>
            </a:r>
            <a:r>
              <a:rPr lang="it-IT" dirty="0"/>
              <a:t> clinical groups. The microbiota </a:t>
            </a:r>
            <a:r>
              <a:rPr lang="it-IT" dirty="0" err="1"/>
              <a:t>appears</a:t>
            </a:r>
            <a:r>
              <a:rPr lang="it-IT" dirty="0"/>
              <a:t> </a:t>
            </a:r>
            <a:r>
              <a:rPr lang="it-IT" b="1" dirty="0" err="1"/>
              <a:t>stable</a:t>
            </a:r>
            <a:r>
              <a:rPr lang="it-IT" dirty="0"/>
              <a:t>, with no </a:t>
            </a:r>
            <a:r>
              <a:rPr lang="it-IT" dirty="0" err="1"/>
              <a:t>marked</a:t>
            </a:r>
            <a:r>
              <a:rPr lang="it-IT" dirty="0"/>
              <a:t> </a:t>
            </a:r>
            <a:r>
              <a:rPr lang="it-IT" dirty="0" err="1"/>
              <a:t>dysbiosis</a:t>
            </a:r>
            <a:r>
              <a:rPr lang="it-IT" dirty="0"/>
              <a:t> </a:t>
            </a:r>
            <a:r>
              <a:rPr lang="it-IT" dirty="0" err="1"/>
              <a:t>associated</a:t>
            </a:r>
            <a:r>
              <a:rPr lang="it-IT" dirty="0"/>
              <a:t> with the </a:t>
            </a:r>
            <a:r>
              <a:rPr lang="it-IT" dirty="0" err="1"/>
              <a:t>variables</a:t>
            </a:r>
            <a:r>
              <a:rPr lang="it-IT" dirty="0"/>
              <a:t> </a:t>
            </a:r>
            <a:r>
              <a:rPr lang="it-IT" dirty="0" err="1"/>
              <a:t>analyzed</a:t>
            </a:r>
            <a:r>
              <a:rPr lang="it-IT" dirty="0"/>
              <a:t>.</a:t>
            </a:r>
          </a:p>
          <a:p>
            <a:r>
              <a:rPr lang="it-IT" dirty="0"/>
              <a:t>No </a:t>
            </a:r>
            <a:r>
              <a:rPr lang="it-IT" dirty="0" err="1"/>
              <a:t>significant</a:t>
            </a:r>
            <a:r>
              <a:rPr lang="it-IT" dirty="0"/>
              <a:t> </a:t>
            </a:r>
            <a:r>
              <a:rPr lang="it-IT" dirty="0" err="1"/>
              <a:t>changes</a:t>
            </a:r>
            <a:r>
              <a:rPr lang="it-IT" dirty="0"/>
              <a:t> in </a:t>
            </a:r>
            <a:r>
              <a:rPr lang="it-IT" dirty="0" err="1"/>
              <a:t>diversity</a:t>
            </a:r>
            <a:r>
              <a:rPr lang="it-IT" dirty="0"/>
              <a:t> </a:t>
            </a:r>
            <a:r>
              <a:rPr lang="it-IT" dirty="0" err="1"/>
              <a:t>across</a:t>
            </a:r>
            <a:r>
              <a:rPr lang="it-IT" dirty="0"/>
              <a:t> </a:t>
            </a:r>
            <a:r>
              <a:rPr lang="it-IT" dirty="0" err="1"/>
              <a:t>timepoints</a:t>
            </a:r>
            <a:r>
              <a:rPr lang="it-IT" dirty="0"/>
              <a:t>.</a:t>
            </a:r>
          </a:p>
          <a:p>
            <a:r>
              <a:rPr lang="it-IT" dirty="0" err="1"/>
              <a:t>Exception</a:t>
            </a:r>
            <a:r>
              <a:rPr lang="it-IT" dirty="0"/>
              <a:t>: Relapse </a:t>
            </a:r>
            <a:r>
              <a:rPr lang="it-IT" dirty="0" err="1"/>
              <a:t>across</a:t>
            </a:r>
            <a:r>
              <a:rPr lang="it-IT" dirty="0"/>
              <a:t> </a:t>
            </a:r>
            <a:r>
              <a:rPr lang="it-IT" dirty="0" err="1"/>
              <a:t>all</a:t>
            </a:r>
            <a:r>
              <a:rPr lang="it-IT" dirty="0"/>
              <a:t> follow‑up times </a:t>
            </a:r>
            <a:endParaRPr lang="it-IT" dirty="0">
              <a:effectLst/>
            </a:endParaRPr>
          </a:p>
          <a:p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573556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FB11838-EC79-6B0C-CDF6-159C754B3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Beta </a:t>
            </a:r>
            <a:r>
              <a:rPr lang="it-IT" dirty="0" err="1"/>
              <a:t>Diversity</a:t>
            </a:r>
            <a:r>
              <a:rPr lang="it-IT" dirty="0"/>
              <a:t>: Key Concepts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F53154E-AAA8-0AC2-FE0C-296F96552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>
                <a:effectLst/>
              </a:rPr>
              <a:t>Based on </a:t>
            </a:r>
            <a:r>
              <a:rPr lang="it-IT" dirty="0" err="1">
                <a:effectLst/>
              </a:rPr>
              <a:t>distance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matrices</a:t>
            </a:r>
            <a:r>
              <a:rPr lang="it-IT" dirty="0">
                <a:effectLst/>
              </a:rPr>
              <a:t> (Bray‑Curtis, Jaccard). </a:t>
            </a:r>
            <a:r>
              <a:rPr lang="it-IT" dirty="0" err="1">
                <a:effectLst/>
              </a:rPr>
              <a:t>PCoA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visualizes</a:t>
            </a:r>
            <a:r>
              <a:rPr lang="it-IT" dirty="0">
                <a:effectLst/>
              </a:rPr>
              <a:t> clustering or </a:t>
            </a:r>
            <a:r>
              <a:rPr lang="it-IT" dirty="0" err="1">
                <a:effectLst/>
              </a:rPr>
              <a:t>overlap</a:t>
            </a:r>
            <a:r>
              <a:rPr lang="it-IT" dirty="0">
                <a:effectLst/>
              </a:rPr>
              <a:t>.</a:t>
            </a:r>
            <a:endParaRPr lang="it-IT" dirty="0"/>
          </a:p>
          <a:p>
            <a:endParaRPr lang="it-IT" dirty="0">
              <a:effectLst/>
            </a:endParaRPr>
          </a:p>
          <a:p>
            <a:pPr marL="0" indent="0">
              <a:buNone/>
            </a:pPr>
            <a:r>
              <a:rPr lang="it-IT" dirty="0">
                <a:effectLst/>
              </a:rPr>
              <a:t>Beta </a:t>
            </a:r>
            <a:r>
              <a:rPr lang="it-IT" dirty="0" err="1">
                <a:effectLst/>
              </a:rPr>
              <a:t>diversity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measures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how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different</a:t>
            </a:r>
            <a:r>
              <a:rPr lang="it-IT" dirty="0">
                <a:effectLst/>
              </a:rPr>
              <a:t> microbiota </a:t>
            </a:r>
            <a:r>
              <a:rPr lang="it-IT" dirty="0" err="1">
                <a:effectLst/>
              </a:rPr>
              <a:t>profiles</a:t>
            </a:r>
            <a:r>
              <a:rPr lang="it-IT" dirty="0">
                <a:effectLst/>
              </a:rPr>
              <a:t> are </a:t>
            </a:r>
            <a:r>
              <a:rPr lang="it-IT" dirty="0" err="1">
                <a:effectLst/>
              </a:rPr>
              <a:t>across</a:t>
            </a:r>
            <a:r>
              <a:rPr lang="it-IT" dirty="0">
                <a:effectLst/>
              </a:rPr>
              <a:t> samples.</a:t>
            </a:r>
            <a:endParaRPr lang="it-IT" dirty="0"/>
          </a:p>
          <a:p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E8548E7-BDE9-1AC1-FD82-656D84BAA2AD}"/>
              </a:ext>
            </a:extLst>
          </p:cNvPr>
          <p:cNvSpPr txBox="1"/>
          <p:nvPr/>
        </p:nvSpPr>
        <p:spPr>
          <a:xfrm>
            <a:off x="838200" y="4813738"/>
            <a:ext cx="91124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Analysis of </a:t>
            </a:r>
            <a:r>
              <a:rPr lang="it-IT" sz="2000" b="1" dirty="0" err="1"/>
              <a:t>microbial</a:t>
            </a:r>
            <a:r>
              <a:rPr lang="it-IT" sz="2000" b="1" dirty="0"/>
              <a:t> community </a:t>
            </a:r>
            <a:r>
              <a:rPr lang="it-IT" sz="2000" b="1" dirty="0" err="1"/>
              <a:t>composition</a:t>
            </a:r>
            <a:r>
              <a:rPr lang="it-IT" sz="2000" b="1" dirty="0"/>
              <a:t> </a:t>
            </a:r>
            <a:r>
              <a:rPr lang="it-IT" sz="2000" dirty="0" err="1"/>
              <a:t>using</a:t>
            </a:r>
            <a:r>
              <a:rPr lang="it-IT" sz="2000" dirty="0"/>
              <a:t> </a:t>
            </a:r>
            <a:r>
              <a:rPr lang="it-IT" sz="2000" b="1" dirty="0"/>
              <a:t>Bray–Curtis </a:t>
            </a:r>
            <a:r>
              <a:rPr lang="it-IT" sz="2000" b="1" dirty="0" err="1"/>
              <a:t>dissimilarity</a:t>
            </a:r>
            <a:r>
              <a:rPr lang="it-IT" sz="2000" dirty="0"/>
              <a:t> and </a:t>
            </a:r>
            <a:r>
              <a:rPr lang="it-IT" sz="2000" b="1" dirty="0" err="1"/>
              <a:t>PCoA</a:t>
            </a:r>
            <a:r>
              <a:rPr lang="it-IT" sz="2000" b="1" dirty="0"/>
              <a:t> </a:t>
            </a:r>
            <a:r>
              <a:rPr lang="it-IT" sz="2000" b="1" dirty="0" err="1"/>
              <a:t>visualization</a:t>
            </a:r>
            <a:r>
              <a:rPr lang="it-IT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148954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42B882E9-0BF7-1FA7-2D88-F7AD82FED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7435" y="1360170"/>
            <a:ext cx="5781845" cy="4318254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A36ED33-781B-6A9F-2B9D-90CD57D5139A}"/>
              </a:ext>
            </a:extLst>
          </p:cNvPr>
          <p:cNvSpPr txBox="1"/>
          <p:nvPr/>
        </p:nvSpPr>
        <p:spPr>
          <a:xfrm>
            <a:off x="532720" y="798786"/>
            <a:ext cx="4908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Beta </a:t>
            </a:r>
            <a:r>
              <a:rPr lang="it-IT" b="1" dirty="0" err="1"/>
              <a:t>diversity</a:t>
            </a:r>
            <a:r>
              <a:rPr lang="it-IT" b="1" dirty="0"/>
              <a:t> by sex</a:t>
            </a:r>
            <a:r>
              <a:rPr lang="it-IT" dirty="0"/>
              <a:t> 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6F5C859-948C-3ED5-52F1-E6EAA4D59675}"/>
              </a:ext>
            </a:extLst>
          </p:cNvPr>
          <p:cNvSpPr txBox="1"/>
          <p:nvPr/>
        </p:nvSpPr>
        <p:spPr>
          <a:xfrm>
            <a:off x="532720" y="2306101"/>
            <a:ext cx="534471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Samples are </a:t>
            </a:r>
            <a:r>
              <a:rPr lang="it-IT" dirty="0" err="1"/>
              <a:t>grouped</a:t>
            </a:r>
            <a:r>
              <a:rPr lang="it-IT" dirty="0"/>
              <a:t> by </a:t>
            </a:r>
            <a:r>
              <a:rPr lang="it-IT" b="1" dirty="0"/>
              <a:t>sex (F vs M)</a:t>
            </a:r>
            <a:r>
              <a:rPr lang="it-IT" dirty="0"/>
              <a:t>, </a:t>
            </a:r>
            <a:r>
              <a:rPr lang="it-IT" dirty="0" err="1"/>
              <a:t>showing</a:t>
            </a:r>
            <a:r>
              <a:rPr lang="it-IT" dirty="0"/>
              <a:t> </a:t>
            </a:r>
            <a:r>
              <a:rPr lang="it-IT" dirty="0" err="1"/>
              <a:t>overlapping</a:t>
            </a:r>
            <a:r>
              <a:rPr lang="it-IT" dirty="0"/>
              <a:t> clusters and </a:t>
            </a:r>
            <a:r>
              <a:rPr lang="it-IT" b="1" dirty="0"/>
              <a:t>no </a:t>
            </a:r>
            <a:r>
              <a:rPr lang="it-IT" b="1" dirty="0" err="1"/>
              <a:t>significant</a:t>
            </a:r>
            <a:r>
              <a:rPr lang="it-IT" b="1" dirty="0"/>
              <a:t> </a:t>
            </a:r>
            <a:r>
              <a:rPr lang="it-IT" b="1" dirty="0" err="1"/>
              <a:t>separation</a:t>
            </a:r>
            <a:r>
              <a:rPr lang="it-IT" dirty="0"/>
              <a:t> (</a:t>
            </a:r>
            <a:r>
              <a:rPr lang="it-IT" i="1" dirty="0"/>
              <a:t>PERMANOVA</a:t>
            </a:r>
            <a:r>
              <a:rPr lang="it-IT" dirty="0"/>
              <a:t>, </a:t>
            </a:r>
            <a:r>
              <a:rPr lang="it-IT" i="1" dirty="0"/>
              <a:t>p</a:t>
            </a:r>
            <a:r>
              <a:rPr lang="it-IT" dirty="0"/>
              <a:t> = 0.114).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indicates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microbiota </a:t>
            </a:r>
            <a:r>
              <a:rPr lang="it-IT" dirty="0" err="1"/>
              <a:t>composition</a:t>
            </a:r>
            <a:r>
              <a:rPr lang="it-IT" dirty="0"/>
              <a:t> </a:t>
            </a:r>
            <a:r>
              <a:rPr lang="it-IT" dirty="0" err="1"/>
              <a:t>does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differ</a:t>
            </a:r>
            <a:r>
              <a:rPr lang="it-IT" dirty="0"/>
              <a:t> </a:t>
            </a:r>
            <a:r>
              <a:rPr lang="it-IT" dirty="0" err="1"/>
              <a:t>significantly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male and </a:t>
            </a:r>
            <a:r>
              <a:rPr lang="it-IT" dirty="0" err="1"/>
              <a:t>female</a:t>
            </a:r>
            <a:r>
              <a:rPr lang="it-IT" dirty="0"/>
              <a:t> </a:t>
            </a:r>
            <a:r>
              <a:rPr lang="it-IT" dirty="0" err="1"/>
              <a:t>subjects</a:t>
            </a:r>
            <a:r>
              <a:rPr lang="it-IT" dirty="0"/>
              <a:t>.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CFA5AF71-134D-9521-237A-6CAD17894C2A}"/>
              </a:ext>
            </a:extLst>
          </p:cNvPr>
          <p:cNvSpPr txBox="1"/>
          <p:nvPr/>
        </p:nvSpPr>
        <p:spPr>
          <a:xfrm>
            <a:off x="532720" y="4020503"/>
            <a:ext cx="49957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The </a:t>
            </a:r>
            <a:r>
              <a:rPr lang="it-IT" dirty="0" err="1"/>
              <a:t>elliptical</a:t>
            </a:r>
            <a:r>
              <a:rPr lang="it-IT" dirty="0"/>
              <a:t> </a:t>
            </a:r>
            <a:r>
              <a:rPr lang="it-IT" dirty="0" err="1"/>
              <a:t>overlap</a:t>
            </a:r>
            <a:r>
              <a:rPr lang="it-IT" dirty="0"/>
              <a:t> highlights </a:t>
            </a:r>
            <a:r>
              <a:rPr lang="it-IT" dirty="0" err="1"/>
              <a:t>that</a:t>
            </a:r>
            <a:r>
              <a:rPr lang="it-IT" dirty="0"/>
              <a:t> intra‑group </a:t>
            </a:r>
            <a:r>
              <a:rPr lang="it-IT" dirty="0" err="1"/>
              <a:t>variability</a:t>
            </a:r>
            <a:r>
              <a:rPr lang="it-IT" dirty="0"/>
              <a:t> </a:t>
            </a:r>
            <a:r>
              <a:rPr lang="it-IT" dirty="0" err="1"/>
              <a:t>exceeds</a:t>
            </a:r>
            <a:r>
              <a:rPr lang="it-IT" dirty="0"/>
              <a:t> inter‑group </a:t>
            </a:r>
            <a:r>
              <a:rPr lang="it-IT" dirty="0" err="1"/>
              <a:t>differences</a:t>
            </a:r>
            <a:r>
              <a:rPr lang="it-IT" dirty="0"/>
              <a:t>, </a:t>
            </a:r>
            <a:r>
              <a:rPr lang="it-IT" dirty="0" err="1"/>
              <a:t>suggesting</a:t>
            </a:r>
            <a:r>
              <a:rPr lang="it-IT" dirty="0"/>
              <a:t> sex </a:t>
            </a:r>
            <a:r>
              <a:rPr lang="it-IT" dirty="0" err="1"/>
              <a:t>has</a:t>
            </a:r>
            <a:r>
              <a:rPr lang="it-IT" dirty="0"/>
              <a:t> minimal </a:t>
            </a:r>
            <a:r>
              <a:rPr lang="it-IT" dirty="0" err="1"/>
              <a:t>influence</a:t>
            </a:r>
            <a:r>
              <a:rPr lang="it-IT" dirty="0"/>
              <a:t> on overall </a:t>
            </a:r>
            <a:r>
              <a:rPr lang="it-IT" dirty="0" err="1"/>
              <a:t>microbial</a:t>
            </a:r>
            <a:r>
              <a:rPr lang="it-IT" dirty="0"/>
              <a:t> </a:t>
            </a:r>
            <a:r>
              <a:rPr lang="it-IT" dirty="0" err="1"/>
              <a:t>structure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327946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F8DB2-15D0-BCEC-2AF6-1ECDBEFC1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374D7589-E958-1945-D856-0E0F7DA8E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988427"/>
            <a:ext cx="4519338" cy="3394710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1098691D-45F0-65C7-1F45-C9A8BA57DC3F}"/>
              </a:ext>
            </a:extLst>
          </p:cNvPr>
          <p:cNvSpPr txBox="1"/>
          <p:nvPr/>
        </p:nvSpPr>
        <p:spPr>
          <a:xfrm>
            <a:off x="740664" y="768096"/>
            <a:ext cx="5495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Beta </a:t>
            </a:r>
            <a:r>
              <a:rPr lang="it-IT" b="1" dirty="0" err="1"/>
              <a:t>diversity</a:t>
            </a:r>
            <a:r>
              <a:rPr lang="it-IT" b="1" dirty="0"/>
              <a:t> by </a:t>
            </a:r>
            <a:r>
              <a:rPr lang="it-IT" b="1" dirty="0" err="1"/>
              <a:t>lesion</a:t>
            </a:r>
            <a:r>
              <a:rPr lang="it-IT" b="1" dirty="0"/>
              <a:t> </a:t>
            </a:r>
            <a:r>
              <a:rPr lang="it-IT" b="1" dirty="0" err="1"/>
              <a:t>presence</a:t>
            </a:r>
            <a:r>
              <a:rPr lang="it-IT" b="1" dirty="0"/>
              <a:t> </a:t>
            </a:r>
            <a:r>
              <a:rPr lang="it-IT" b="1" dirty="0" err="1"/>
              <a:t>during</a:t>
            </a:r>
            <a:r>
              <a:rPr lang="it-IT" b="1" dirty="0"/>
              <a:t> follow‑up</a:t>
            </a:r>
            <a:r>
              <a:rPr lang="it-IT" dirty="0"/>
              <a:t> 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1DFCC3D-20F9-4C7A-49DF-57C43AF1C3A1}"/>
              </a:ext>
            </a:extLst>
          </p:cNvPr>
          <p:cNvSpPr txBox="1"/>
          <p:nvPr/>
        </p:nvSpPr>
        <p:spPr>
          <a:xfrm>
            <a:off x="740664" y="1931456"/>
            <a:ext cx="5029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Samples are </a:t>
            </a:r>
            <a:r>
              <a:rPr lang="it-IT" dirty="0" err="1"/>
              <a:t>grouped</a:t>
            </a:r>
            <a:r>
              <a:rPr lang="it-IT" dirty="0"/>
              <a:t> by </a:t>
            </a:r>
            <a:r>
              <a:rPr lang="it-IT" dirty="0" err="1"/>
              <a:t>presence</a:t>
            </a:r>
            <a:r>
              <a:rPr lang="it-IT" dirty="0"/>
              <a:t> (1) or </a:t>
            </a:r>
            <a:r>
              <a:rPr lang="it-IT" dirty="0" err="1"/>
              <a:t>absence</a:t>
            </a:r>
            <a:r>
              <a:rPr lang="it-IT" dirty="0"/>
              <a:t> (0) of </a:t>
            </a:r>
            <a:r>
              <a:rPr lang="it-IT" b="1" dirty="0" err="1"/>
              <a:t>lesions</a:t>
            </a:r>
            <a:r>
              <a:rPr lang="it-IT" dirty="0"/>
              <a:t>, </a:t>
            </a:r>
            <a:r>
              <a:rPr lang="it-IT" dirty="0" err="1"/>
              <a:t>showing</a:t>
            </a:r>
            <a:r>
              <a:rPr lang="it-IT" dirty="0"/>
              <a:t> </a:t>
            </a:r>
            <a:r>
              <a:rPr lang="it-IT" dirty="0" err="1"/>
              <a:t>overlapping</a:t>
            </a:r>
            <a:r>
              <a:rPr lang="it-IT" dirty="0"/>
              <a:t> clusters and </a:t>
            </a:r>
            <a:r>
              <a:rPr lang="it-IT" b="1" dirty="0"/>
              <a:t>no </a:t>
            </a:r>
            <a:r>
              <a:rPr lang="it-IT" b="1" dirty="0" err="1"/>
              <a:t>significant</a:t>
            </a:r>
            <a:r>
              <a:rPr lang="it-IT" b="1" dirty="0"/>
              <a:t> </a:t>
            </a:r>
            <a:r>
              <a:rPr lang="it-IT" b="1" dirty="0" err="1"/>
              <a:t>separation</a:t>
            </a:r>
            <a:r>
              <a:rPr lang="it-IT" dirty="0"/>
              <a:t> (</a:t>
            </a:r>
            <a:r>
              <a:rPr lang="it-IT" i="1" dirty="0"/>
              <a:t>PERMANOVA</a:t>
            </a:r>
            <a:r>
              <a:rPr lang="it-IT" dirty="0"/>
              <a:t>, </a:t>
            </a:r>
            <a:r>
              <a:rPr lang="it-IT" i="1" dirty="0"/>
              <a:t>p</a:t>
            </a:r>
            <a:r>
              <a:rPr lang="it-IT" dirty="0"/>
              <a:t> = 0.335).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indicates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lesion</a:t>
            </a:r>
            <a:r>
              <a:rPr lang="it-IT" dirty="0"/>
              <a:t> </a:t>
            </a:r>
            <a:r>
              <a:rPr lang="it-IT" dirty="0" err="1"/>
              <a:t>occurrence</a:t>
            </a:r>
            <a:r>
              <a:rPr lang="it-IT" dirty="0"/>
              <a:t> </a:t>
            </a:r>
            <a:r>
              <a:rPr lang="it-IT" dirty="0" err="1"/>
              <a:t>during</a:t>
            </a:r>
            <a:r>
              <a:rPr lang="it-IT" dirty="0"/>
              <a:t> follow‑up </a:t>
            </a:r>
            <a:r>
              <a:rPr lang="it-IT" dirty="0" err="1"/>
              <a:t>does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significantly</a:t>
            </a:r>
            <a:r>
              <a:rPr lang="it-IT" dirty="0"/>
              <a:t> </a:t>
            </a:r>
            <a:r>
              <a:rPr lang="it-IT" dirty="0" err="1"/>
              <a:t>influence</a:t>
            </a:r>
            <a:r>
              <a:rPr lang="it-IT" dirty="0"/>
              <a:t> overall microbiota </a:t>
            </a:r>
            <a:r>
              <a:rPr lang="it-IT" dirty="0" err="1"/>
              <a:t>composition</a:t>
            </a:r>
            <a:r>
              <a:rPr lang="it-IT" dirty="0"/>
              <a:t>.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BD82BB7D-6F41-542B-BF45-638C3A051775}"/>
              </a:ext>
            </a:extLst>
          </p:cNvPr>
          <p:cNvSpPr txBox="1"/>
          <p:nvPr/>
        </p:nvSpPr>
        <p:spPr>
          <a:xfrm>
            <a:off x="740664" y="3962781"/>
            <a:ext cx="48920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The </a:t>
            </a:r>
            <a:r>
              <a:rPr lang="it-IT" dirty="0" err="1"/>
              <a:t>consistent</a:t>
            </a:r>
            <a:r>
              <a:rPr lang="it-IT" dirty="0"/>
              <a:t> </a:t>
            </a:r>
            <a:r>
              <a:rPr lang="it-IT" dirty="0" err="1"/>
              <a:t>overlap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groups </a:t>
            </a:r>
            <a:r>
              <a:rPr lang="it-IT" dirty="0" err="1"/>
              <a:t>suggests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microbial</a:t>
            </a:r>
            <a:r>
              <a:rPr lang="it-IT" dirty="0"/>
              <a:t> community </a:t>
            </a:r>
            <a:r>
              <a:rPr lang="it-IT" dirty="0" err="1"/>
              <a:t>structure</a:t>
            </a:r>
            <a:r>
              <a:rPr lang="it-IT" dirty="0"/>
              <a:t> </a:t>
            </a:r>
            <a:r>
              <a:rPr lang="it-IT" dirty="0" err="1"/>
              <a:t>remains</a:t>
            </a:r>
            <a:r>
              <a:rPr lang="it-IT" dirty="0"/>
              <a:t> </a:t>
            </a:r>
            <a:r>
              <a:rPr lang="it-IT" dirty="0" err="1"/>
              <a:t>stable</a:t>
            </a:r>
            <a:r>
              <a:rPr lang="it-IT" dirty="0"/>
              <a:t> over time, </a:t>
            </a:r>
            <a:r>
              <a:rPr lang="it-IT" dirty="0" err="1"/>
              <a:t>regardless</a:t>
            </a:r>
            <a:r>
              <a:rPr lang="it-IT" dirty="0"/>
              <a:t> of </a:t>
            </a:r>
            <a:r>
              <a:rPr lang="it-IT" dirty="0" err="1"/>
              <a:t>lesion</a:t>
            </a:r>
            <a:r>
              <a:rPr lang="it-IT" dirty="0"/>
              <a:t> </a:t>
            </a:r>
            <a:r>
              <a:rPr lang="it-IT" dirty="0" err="1"/>
              <a:t>development</a:t>
            </a:r>
            <a:r>
              <a:rPr lang="it-IT" dirty="0"/>
              <a:t> or </a:t>
            </a:r>
            <a:r>
              <a:rPr lang="it-IT" dirty="0" err="1"/>
              <a:t>progression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669964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0C257-CC52-5713-600E-5BC281BAB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CCD359A1-FB54-A1D8-21CB-F32F9F7A1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47" y="3160632"/>
            <a:ext cx="4031243" cy="2998851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8A6BBD24-C671-7E72-63F4-A4184A9B5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1790" y="3160632"/>
            <a:ext cx="3996928" cy="2998851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A81231AE-CB15-8486-27CA-AB0B4C217C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3133" y="3199835"/>
            <a:ext cx="3916828" cy="2959648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E236A658-46B5-0FE3-BCEB-CEEA85E92847}"/>
              </a:ext>
            </a:extLst>
          </p:cNvPr>
          <p:cNvSpPr txBox="1"/>
          <p:nvPr/>
        </p:nvSpPr>
        <p:spPr>
          <a:xfrm>
            <a:off x="528970" y="698517"/>
            <a:ext cx="8321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Beta </a:t>
            </a:r>
            <a:r>
              <a:rPr lang="it-IT" b="1" dirty="0" err="1"/>
              <a:t>diversity</a:t>
            </a:r>
            <a:r>
              <a:rPr lang="it-IT" b="1" dirty="0"/>
              <a:t> by </a:t>
            </a:r>
            <a:r>
              <a:rPr lang="it-IT" b="1" dirty="0" err="1"/>
              <a:t>lesion</a:t>
            </a:r>
            <a:r>
              <a:rPr lang="it-IT" b="1" dirty="0"/>
              <a:t> </a:t>
            </a:r>
            <a:r>
              <a:rPr lang="it-IT" b="1" dirty="0" err="1"/>
              <a:t>presence</a:t>
            </a:r>
            <a:r>
              <a:rPr lang="it-IT" b="1" dirty="0"/>
              <a:t> </a:t>
            </a:r>
            <a:r>
              <a:rPr lang="it-IT" b="1" dirty="0" err="1"/>
              <a:t>across</a:t>
            </a:r>
            <a:r>
              <a:rPr lang="it-IT" b="1" dirty="0"/>
              <a:t> time points (T0, T1, T12)</a:t>
            </a:r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CF62BA78-0E9C-B949-FC5F-3A3FE13BF0D7}"/>
              </a:ext>
            </a:extLst>
          </p:cNvPr>
          <p:cNvSpPr txBox="1"/>
          <p:nvPr/>
        </p:nvSpPr>
        <p:spPr>
          <a:xfrm>
            <a:off x="528970" y="1521345"/>
            <a:ext cx="103268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Samples are </a:t>
            </a:r>
            <a:r>
              <a:rPr lang="it-IT" dirty="0" err="1"/>
              <a:t>grouped</a:t>
            </a:r>
            <a:r>
              <a:rPr lang="it-IT" dirty="0"/>
              <a:t> by </a:t>
            </a:r>
            <a:r>
              <a:rPr lang="it-IT" dirty="0" err="1"/>
              <a:t>presence</a:t>
            </a:r>
            <a:r>
              <a:rPr lang="it-IT" dirty="0"/>
              <a:t> (1) or </a:t>
            </a:r>
            <a:r>
              <a:rPr lang="it-IT" dirty="0" err="1"/>
              <a:t>absence</a:t>
            </a:r>
            <a:r>
              <a:rPr lang="it-IT" dirty="0"/>
              <a:t> (0) of </a:t>
            </a:r>
            <a:r>
              <a:rPr lang="it-IT" dirty="0" err="1"/>
              <a:t>lesions</a:t>
            </a:r>
            <a:r>
              <a:rPr lang="it-IT" dirty="0"/>
              <a:t>, </a:t>
            </a:r>
            <a:r>
              <a:rPr lang="it-IT" dirty="0" err="1"/>
              <a:t>showing</a:t>
            </a:r>
            <a:r>
              <a:rPr lang="it-IT" dirty="0"/>
              <a:t> </a:t>
            </a:r>
            <a:r>
              <a:rPr lang="it-IT" dirty="0" err="1"/>
              <a:t>overlapping</a:t>
            </a:r>
            <a:r>
              <a:rPr lang="it-IT" dirty="0"/>
              <a:t> clusters and </a:t>
            </a:r>
            <a:r>
              <a:rPr lang="it-IT" b="1" dirty="0"/>
              <a:t>no </a:t>
            </a:r>
            <a:r>
              <a:rPr lang="it-IT" b="1" dirty="0" err="1"/>
              <a:t>significant</a:t>
            </a:r>
            <a:r>
              <a:rPr lang="it-IT" b="1" dirty="0"/>
              <a:t> </a:t>
            </a:r>
            <a:r>
              <a:rPr lang="it-IT" b="1" dirty="0" err="1"/>
              <a:t>separation</a:t>
            </a:r>
            <a:r>
              <a:rPr lang="it-IT" dirty="0"/>
              <a:t> (</a:t>
            </a:r>
            <a:r>
              <a:rPr lang="it-IT" i="1" dirty="0"/>
              <a:t>PERMANOVA</a:t>
            </a:r>
            <a:r>
              <a:rPr lang="it-IT" dirty="0"/>
              <a:t>, </a:t>
            </a:r>
            <a:r>
              <a:rPr lang="it-IT" i="1" dirty="0"/>
              <a:t>p</a:t>
            </a:r>
            <a:r>
              <a:rPr lang="it-IT" dirty="0"/>
              <a:t> = 0.222, 0.218, and 0.61 </a:t>
            </a:r>
            <a:r>
              <a:rPr lang="it-IT" dirty="0" err="1"/>
              <a:t>respectively</a:t>
            </a:r>
            <a:r>
              <a:rPr lang="it-IT" dirty="0"/>
              <a:t>). </a:t>
            </a:r>
            <a:r>
              <a:rPr lang="it-IT" dirty="0" err="1"/>
              <a:t>These</a:t>
            </a:r>
            <a:r>
              <a:rPr lang="it-IT" dirty="0"/>
              <a:t> </a:t>
            </a:r>
            <a:r>
              <a:rPr lang="it-IT" dirty="0" err="1"/>
              <a:t>results</a:t>
            </a:r>
            <a:r>
              <a:rPr lang="it-IT" dirty="0"/>
              <a:t> indicate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lesion</a:t>
            </a:r>
            <a:r>
              <a:rPr lang="it-IT" dirty="0"/>
              <a:t> </a:t>
            </a:r>
            <a:r>
              <a:rPr lang="it-IT" dirty="0" err="1"/>
              <a:t>presence</a:t>
            </a:r>
            <a:r>
              <a:rPr lang="it-IT" dirty="0"/>
              <a:t> </a:t>
            </a:r>
            <a:r>
              <a:rPr lang="it-IT" dirty="0" err="1"/>
              <a:t>does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significantly</a:t>
            </a:r>
            <a:r>
              <a:rPr lang="it-IT" dirty="0"/>
              <a:t> </a:t>
            </a:r>
            <a:r>
              <a:rPr lang="it-IT" dirty="0" err="1"/>
              <a:t>influence</a:t>
            </a:r>
            <a:r>
              <a:rPr lang="it-IT" dirty="0"/>
              <a:t> microbiota </a:t>
            </a:r>
            <a:r>
              <a:rPr lang="it-IT" dirty="0" err="1"/>
              <a:t>composition</a:t>
            </a:r>
            <a:r>
              <a:rPr lang="it-IT" dirty="0"/>
              <a:t> over time.</a:t>
            </a:r>
          </a:p>
        </p:txBody>
      </p:sp>
    </p:spTree>
    <p:extLst>
      <p:ext uri="{BB962C8B-B14F-4D97-AF65-F5344CB8AC3E}">
        <p14:creationId xmlns:p14="http://schemas.microsoft.com/office/powerpoint/2010/main" val="588010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4E009FCB-54CC-31EC-7FF2-C2AB34291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616" y="1924203"/>
            <a:ext cx="3991159" cy="3009593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28B3A350-F03B-7C1B-AECE-818BCFDCBEBD}"/>
              </a:ext>
            </a:extLst>
          </p:cNvPr>
          <p:cNvSpPr txBox="1"/>
          <p:nvPr/>
        </p:nvSpPr>
        <p:spPr>
          <a:xfrm>
            <a:off x="697230" y="69315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Beta </a:t>
            </a:r>
            <a:r>
              <a:rPr lang="it-IT" b="1" dirty="0" err="1"/>
              <a:t>diversity</a:t>
            </a:r>
            <a:r>
              <a:rPr lang="it-IT" b="1" dirty="0"/>
              <a:t> by relapse </a:t>
            </a:r>
            <a:r>
              <a:rPr lang="it-IT" b="1" dirty="0" err="1"/>
              <a:t>occurrence</a:t>
            </a:r>
            <a:r>
              <a:rPr lang="it-IT" b="1" dirty="0"/>
              <a:t> </a:t>
            </a:r>
            <a:r>
              <a:rPr lang="it-IT" b="1" dirty="0" err="1"/>
              <a:t>during</a:t>
            </a:r>
            <a:r>
              <a:rPr lang="it-IT" b="1" dirty="0"/>
              <a:t> follow‑up</a:t>
            </a:r>
            <a:r>
              <a:rPr lang="it-IT" dirty="0"/>
              <a:t> 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EE1FF59-A125-784F-64BF-DEAE589BFD0B}"/>
              </a:ext>
            </a:extLst>
          </p:cNvPr>
          <p:cNvSpPr txBox="1"/>
          <p:nvPr/>
        </p:nvSpPr>
        <p:spPr>
          <a:xfrm>
            <a:off x="697230" y="1480186"/>
            <a:ext cx="590473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Samples are </a:t>
            </a:r>
            <a:r>
              <a:rPr lang="it-IT" dirty="0" err="1"/>
              <a:t>grouped</a:t>
            </a:r>
            <a:r>
              <a:rPr lang="it-IT" dirty="0"/>
              <a:t> by </a:t>
            </a:r>
            <a:r>
              <a:rPr lang="it-IT" b="1" dirty="0"/>
              <a:t>relapse status </a:t>
            </a:r>
            <a:r>
              <a:rPr lang="it-IT" dirty="0"/>
              <a:t>(0 = no relapse, 1 = relapse), </a:t>
            </a:r>
            <a:r>
              <a:rPr lang="it-IT" dirty="0" err="1"/>
              <a:t>showing</a:t>
            </a:r>
            <a:r>
              <a:rPr lang="it-IT" dirty="0"/>
              <a:t> </a:t>
            </a:r>
            <a:r>
              <a:rPr lang="it-IT" dirty="0" err="1"/>
              <a:t>overlapping</a:t>
            </a:r>
            <a:r>
              <a:rPr lang="it-IT" dirty="0"/>
              <a:t> clusters and </a:t>
            </a:r>
            <a:r>
              <a:rPr lang="it-IT" b="1" dirty="0"/>
              <a:t>no </a:t>
            </a:r>
            <a:r>
              <a:rPr lang="it-IT" b="1" dirty="0" err="1"/>
              <a:t>significant</a:t>
            </a:r>
            <a:r>
              <a:rPr lang="it-IT" b="1" dirty="0"/>
              <a:t> </a:t>
            </a:r>
            <a:r>
              <a:rPr lang="it-IT" b="1" dirty="0" err="1"/>
              <a:t>separation</a:t>
            </a:r>
            <a:r>
              <a:rPr lang="it-IT" dirty="0"/>
              <a:t> (</a:t>
            </a:r>
            <a:r>
              <a:rPr lang="it-IT" i="1" dirty="0"/>
              <a:t>PERMANOVA</a:t>
            </a:r>
            <a:r>
              <a:rPr lang="it-IT" dirty="0"/>
              <a:t>, </a:t>
            </a:r>
            <a:r>
              <a:rPr lang="it-IT" i="1" dirty="0"/>
              <a:t>p</a:t>
            </a:r>
            <a:r>
              <a:rPr lang="it-IT" dirty="0"/>
              <a:t> = 0.1).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indicates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relapse events are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associated</a:t>
            </a:r>
            <a:r>
              <a:rPr lang="it-IT" dirty="0"/>
              <a:t> with </a:t>
            </a:r>
            <a:r>
              <a:rPr lang="it-IT" dirty="0" err="1"/>
              <a:t>significant</a:t>
            </a:r>
            <a:r>
              <a:rPr lang="it-IT" dirty="0"/>
              <a:t> </a:t>
            </a:r>
            <a:r>
              <a:rPr lang="it-IT" dirty="0" err="1"/>
              <a:t>changes</a:t>
            </a:r>
            <a:r>
              <a:rPr lang="it-IT" dirty="0"/>
              <a:t> in overall microbiota </a:t>
            </a:r>
            <a:r>
              <a:rPr lang="it-IT" dirty="0" err="1"/>
              <a:t>composition</a:t>
            </a:r>
            <a:r>
              <a:rPr lang="it-IT" dirty="0"/>
              <a:t> </a:t>
            </a:r>
            <a:r>
              <a:rPr lang="it-IT" dirty="0" err="1"/>
              <a:t>during</a:t>
            </a:r>
            <a:r>
              <a:rPr lang="it-IT" dirty="0"/>
              <a:t> follow‑up.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7A05DFB-7C5F-2110-A324-D15FA9B4E81C}"/>
              </a:ext>
            </a:extLst>
          </p:cNvPr>
          <p:cNvSpPr txBox="1"/>
          <p:nvPr/>
        </p:nvSpPr>
        <p:spPr>
          <a:xfrm>
            <a:off x="697230" y="3533746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The </a:t>
            </a:r>
            <a:r>
              <a:rPr lang="it-IT" dirty="0" err="1"/>
              <a:t>substantial</a:t>
            </a:r>
            <a:r>
              <a:rPr lang="it-IT" dirty="0"/>
              <a:t> </a:t>
            </a:r>
            <a:r>
              <a:rPr lang="it-IT" dirty="0" err="1"/>
              <a:t>overlap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groups </a:t>
            </a:r>
            <a:r>
              <a:rPr lang="it-IT" dirty="0" err="1"/>
              <a:t>suggests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microbial</a:t>
            </a:r>
            <a:r>
              <a:rPr lang="it-IT" dirty="0"/>
              <a:t> community </a:t>
            </a:r>
            <a:r>
              <a:rPr lang="it-IT" dirty="0" err="1"/>
              <a:t>structure</a:t>
            </a:r>
            <a:r>
              <a:rPr lang="it-IT" dirty="0"/>
              <a:t> </a:t>
            </a:r>
            <a:r>
              <a:rPr lang="it-IT" dirty="0" err="1"/>
              <a:t>remains</a:t>
            </a:r>
            <a:r>
              <a:rPr lang="it-IT" dirty="0"/>
              <a:t> </a:t>
            </a:r>
            <a:r>
              <a:rPr lang="it-IT" dirty="0" err="1"/>
              <a:t>stable</a:t>
            </a:r>
            <a:r>
              <a:rPr lang="it-IT" dirty="0"/>
              <a:t>, </a:t>
            </a:r>
            <a:r>
              <a:rPr lang="it-IT" dirty="0" err="1"/>
              <a:t>even</a:t>
            </a:r>
            <a:r>
              <a:rPr lang="it-IT" dirty="0"/>
              <a:t> in </a:t>
            </a:r>
            <a:r>
              <a:rPr lang="it-IT" dirty="0" err="1"/>
              <a:t>patients</a:t>
            </a:r>
            <a:r>
              <a:rPr lang="it-IT" dirty="0"/>
              <a:t> </a:t>
            </a:r>
            <a:r>
              <a:rPr lang="it-IT" dirty="0" err="1"/>
              <a:t>experiencing</a:t>
            </a:r>
            <a:r>
              <a:rPr lang="it-IT" dirty="0"/>
              <a:t> relapse, </a:t>
            </a:r>
            <a:r>
              <a:rPr lang="it-IT" dirty="0" err="1"/>
              <a:t>supporting</a:t>
            </a:r>
            <a:r>
              <a:rPr lang="it-IT" dirty="0"/>
              <a:t> the idea </a:t>
            </a:r>
            <a:r>
              <a:rPr lang="it-IT" dirty="0" err="1"/>
              <a:t>that</a:t>
            </a:r>
            <a:r>
              <a:rPr lang="it-IT" dirty="0"/>
              <a:t> clinical </a:t>
            </a:r>
            <a:r>
              <a:rPr lang="it-IT" dirty="0" err="1"/>
              <a:t>recurrence</a:t>
            </a:r>
            <a:r>
              <a:rPr lang="it-IT" dirty="0"/>
              <a:t> </a:t>
            </a:r>
            <a:r>
              <a:rPr lang="it-IT" dirty="0" err="1"/>
              <a:t>does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correspond</a:t>
            </a:r>
            <a:r>
              <a:rPr lang="it-IT" dirty="0"/>
              <a:t> to major </a:t>
            </a:r>
            <a:r>
              <a:rPr lang="it-IT" dirty="0" err="1"/>
              <a:t>compositional</a:t>
            </a:r>
            <a:r>
              <a:rPr lang="it-IT" dirty="0"/>
              <a:t> shifts.</a:t>
            </a:r>
          </a:p>
        </p:txBody>
      </p:sp>
    </p:spTree>
    <p:extLst>
      <p:ext uri="{BB962C8B-B14F-4D97-AF65-F5344CB8AC3E}">
        <p14:creationId xmlns:p14="http://schemas.microsoft.com/office/powerpoint/2010/main" val="7657507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186C4-086C-14F2-36FB-A33079421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F2A99536-FFBF-0FEA-F165-FC02C7B3B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274" y="3169419"/>
            <a:ext cx="3860523" cy="2887481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8BCE1575-F080-5064-EAEA-4874F0288F5C}"/>
              </a:ext>
            </a:extLst>
          </p:cNvPr>
          <p:cNvSpPr txBox="1"/>
          <p:nvPr/>
        </p:nvSpPr>
        <p:spPr>
          <a:xfrm>
            <a:off x="546538" y="546538"/>
            <a:ext cx="7809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Beta </a:t>
            </a:r>
            <a:r>
              <a:rPr lang="it-IT" b="1" dirty="0" err="1"/>
              <a:t>diversity</a:t>
            </a:r>
            <a:r>
              <a:rPr lang="it-IT" b="1" dirty="0"/>
              <a:t> by relapse </a:t>
            </a:r>
            <a:r>
              <a:rPr lang="it-IT" b="1" dirty="0" err="1"/>
              <a:t>occurrence</a:t>
            </a:r>
            <a:r>
              <a:rPr lang="it-IT" b="1" dirty="0"/>
              <a:t> </a:t>
            </a:r>
            <a:r>
              <a:rPr lang="it-IT" b="1" dirty="0" err="1"/>
              <a:t>at</a:t>
            </a:r>
            <a:r>
              <a:rPr lang="it-IT" b="1" dirty="0"/>
              <a:t> T1 and T12</a:t>
            </a:r>
            <a:r>
              <a:rPr lang="it-IT" dirty="0"/>
              <a:t> 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8875DF8-C764-4A9B-F55D-4EEC888FA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9476" y="3169419"/>
            <a:ext cx="3818546" cy="2887481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31D625DE-563F-CD7C-F990-1BCEF9A5129A}"/>
              </a:ext>
            </a:extLst>
          </p:cNvPr>
          <p:cNvSpPr txBox="1"/>
          <p:nvPr/>
        </p:nvSpPr>
        <p:spPr>
          <a:xfrm>
            <a:off x="546538" y="1232422"/>
            <a:ext cx="108285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Samples are </a:t>
            </a:r>
            <a:r>
              <a:rPr lang="it-IT" dirty="0" err="1"/>
              <a:t>grouped</a:t>
            </a:r>
            <a:r>
              <a:rPr lang="it-IT" dirty="0"/>
              <a:t> by relapse status (0 = no relapse, 1 = relapse), </a:t>
            </a:r>
            <a:r>
              <a:rPr lang="it-IT" dirty="0" err="1"/>
              <a:t>showing</a:t>
            </a:r>
            <a:r>
              <a:rPr lang="it-IT" dirty="0"/>
              <a:t> </a:t>
            </a:r>
            <a:r>
              <a:rPr lang="it-IT" dirty="0" err="1"/>
              <a:t>overlapping</a:t>
            </a:r>
            <a:r>
              <a:rPr lang="it-IT" dirty="0"/>
              <a:t> clusters and no </a:t>
            </a:r>
            <a:r>
              <a:rPr lang="it-IT" dirty="0" err="1"/>
              <a:t>significant</a:t>
            </a:r>
            <a:r>
              <a:rPr lang="it-IT" dirty="0"/>
              <a:t> </a:t>
            </a:r>
            <a:r>
              <a:rPr lang="it-IT" dirty="0" err="1"/>
              <a:t>separation</a:t>
            </a:r>
            <a:r>
              <a:rPr lang="it-IT" dirty="0"/>
              <a:t> (</a:t>
            </a:r>
            <a:r>
              <a:rPr lang="it-IT" i="1" dirty="0"/>
              <a:t>PERMANOVA</a:t>
            </a:r>
            <a:r>
              <a:rPr lang="it-IT" dirty="0"/>
              <a:t>, </a:t>
            </a:r>
            <a:r>
              <a:rPr lang="it-IT" i="1" dirty="0"/>
              <a:t>p</a:t>
            </a:r>
            <a:r>
              <a:rPr lang="it-IT" dirty="0"/>
              <a:t> = 0.09 and </a:t>
            </a:r>
            <a:r>
              <a:rPr lang="it-IT" i="1" dirty="0"/>
              <a:t>p</a:t>
            </a:r>
            <a:r>
              <a:rPr lang="it-IT" dirty="0"/>
              <a:t> = 0.163 </a:t>
            </a:r>
            <a:r>
              <a:rPr lang="it-IT" dirty="0" err="1"/>
              <a:t>respectively</a:t>
            </a:r>
            <a:r>
              <a:rPr lang="it-IT" dirty="0"/>
              <a:t>). </a:t>
            </a:r>
            <a:r>
              <a:rPr lang="it-IT" b="1" dirty="0"/>
              <a:t>Beta </a:t>
            </a:r>
            <a:r>
              <a:rPr lang="it-IT" b="1" dirty="0" err="1"/>
              <a:t>diversity</a:t>
            </a:r>
            <a:r>
              <a:rPr lang="it-IT" b="1" dirty="0"/>
              <a:t> </a:t>
            </a:r>
            <a:r>
              <a:rPr lang="it-IT" b="1" dirty="0" err="1"/>
              <a:t>at</a:t>
            </a:r>
            <a:r>
              <a:rPr lang="it-IT" b="1" dirty="0"/>
              <a:t> T0 </a:t>
            </a:r>
            <a:r>
              <a:rPr lang="it-IT" b="1" dirty="0" err="1"/>
              <a:t>could</a:t>
            </a:r>
            <a:r>
              <a:rPr lang="it-IT" b="1" dirty="0"/>
              <a:t> </a:t>
            </a:r>
            <a:r>
              <a:rPr lang="it-IT" b="1" dirty="0" err="1"/>
              <a:t>not</a:t>
            </a:r>
            <a:r>
              <a:rPr lang="it-IT" b="1" dirty="0"/>
              <a:t> be </a:t>
            </a:r>
            <a:r>
              <a:rPr lang="it-IT" b="1" dirty="0" err="1"/>
              <a:t>calculated</a:t>
            </a:r>
            <a:r>
              <a:rPr lang="it-IT" dirty="0"/>
              <a:t> due to the </a:t>
            </a:r>
            <a:r>
              <a:rPr lang="it-IT" b="1" dirty="0"/>
              <a:t>limited </a:t>
            </a:r>
            <a:r>
              <a:rPr lang="it-IT" b="1" dirty="0" err="1"/>
              <a:t>number</a:t>
            </a:r>
            <a:r>
              <a:rPr lang="it-IT" b="1" dirty="0"/>
              <a:t> of </a:t>
            </a:r>
            <a:r>
              <a:rPr lang="it-IT" b="1" dirty="0" err="1"/>
              <a:t>available</a:t>
            </a:r>
            <a:r>
              <a:rPr lang="it-IT" b="1" dirty="0"/>
              <a:t> reports</a:t>
            </a:r>
            <a:r>
              <a:rPr lang="it-IT" dirty="0"/>
              <a:t>. Overall, </a:t>
            </a:r>
            <a:r>
              <a:rPr lang="it-IT" dirty="0" err="1"/>
              <a:t>these</a:t>
            </a:r>
            <a:r>
              <a:rPr lang="it-IT" dirty="0"/>
              <a:t> </a:t>
            </a:r>
            <a:r>
              <a:rPr lang="it-IT" dirty="0" err="1"/>
              <a:t>results</a:t>
            </a:r>
            <a:r>
              <a:rPr lang="it-IT" dirty="0"/>
              <a:t> indicate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b="1" dirty="0"/>
              <a:t>relapse events do </a:t>
            </a:r>
            <a:r>
              <a:rPr lang="it-IT" b="1" dirty="0" err="1"/>
              <a:t>not</a:t>
            </a:r>
            <a:r>
              <a:rPr lang="it-IT" b="1" dirty="0"/>
              <a:t> </a:t>
            </a:r>
            <a:r>
              <a:rPr lang="it-IT" b="1" dirty="0" err="1"/>
              <a:t>significantly</a:t>
            </a:r>
            <a:r>
              <a:rPr lang="it-IT" b="1" dirty="0"/>
              <a:t> </a:t>
            </a:r>
            <a:r>
              <a:rPr lang="it-IT" b="1" dirty="0" err="1"/>
              <a:t>affect</a:t>
            </a:r>
            <a:r>
              <a:rPr lang="it-IT" b="1" dirty="0"/>
              <a:t> microbiota </a:t>
            </a:r>
            <a:r>
              <a:rPr lang="it-IT" b="1" dirty="0" err="1"/>
              <a:t>composition</a:t>
            </a:r>
            <a:r>
              <a:rPr lang="it-IT" dirty="0"/>
              <a:t> </a:t>
            </a:r>
            <a:r>
              <a:rPr lang="it-IT" dirty="0" err="1"/>
              <a:t>during</a:t>
            </a:r>
            <a:r>
              <a:rPr lang="it-IT" dirty="0"/>
              <a:t> follow‑up.</a:t>
            </a:r>
          </a:p>
        </p:txBody>
      </p:sp>
    </p:spTree>
    <p:extLst>
      <p:ext uri="{BB962C8B-B14F-4D97-AF65-F5344CB8AC3E}">
        <p14:creationId xmlns:p14="http://schemas.microsoft.com/office/powerpoint/2010/main" val="11092744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70CF9-035E-C9C5-560F-F8ED788A1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D48544D7-E53F-7C1C-3FC5-2855FC68D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1515046"/>
            <a:ext cx="5159128" cy="3827907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E62D7655-0438-F481-264A-B66ABA9FB21B}"/>
              </a:ext>
            </a:extLst>
          </p:cNvPr>
          <p:cNvSpPr txBox="1"/>
          <p:nvPr/>
        </p:nvSpPr>
        <p:spPr>
          <a:xfrm>
            <a:off x="697230" y="1215474"/>
            <a:ext cx="514578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Samples are </a:t>
            </a:r>
            <a:r>
              <a:rPr lang="it-IT" dirty="0" err="1"/>
              <a:t>grouped</a:t>
            </a:r>
            <a:r>
              <a:rPr lang="it-IT" dirty="0"/>
              <a:t> by </a:t>
            </a:r>
            <a:r>
              <a:rPr lang="it-IT" b="1" dirty="0"/>
              <a:t>duration of cortisone treatment (0, 1, 3, 4 days)</a:t>
            </a:r>
            <a:r>
              <a:rPr lang="it-IT" dirty="0"/>
              <a:t>, </a:t>
            </a:r>
            <a:r>
              <a:rPr lang="it-IT" dirty="0" err="1"/>
              <a:t>showing</a:t>
            </a:r>
            <a:r>
              <a:rPr lang="it-IT" dirty="0"/>
              <a:t> </a:t>
            </a:r>
            <a:r>
              <a:rPr lang="it-IT" dirty="0" err="1"/>
              <a:t>overlapping</a:t>
            </a:r>
            <a:r>
              <a:rPr lang="it-IT" dirty="0"/>
              <a:t> clusters and </a:t>
            </a:r>
            <a:r>
              <a:rPr lang="it-IT" b="1" dirty="0"/>
              <a:t>no </a:t>
            </a:r>
            <a:r>
              <a:rPr lang="it-IT" b="1" dirty="0" err="1"/>
              <a:t>significant</a:t>
            </a:r>
            <a:r>
              <a:rPr lang="it-IT" b="1" dirty="0"/>
              <a:t> </a:t>
            </a:r>
            <a:r>
              <a:rPr lang="it-IT" b="1" dirty="0" err="1"/>
              <a:t>separation</a:t>
            </a:r>
            <a:r>
              <a:rPr lang="it-IT" dirty="0"/>
              <a:t> (</a:t>
            </a:r>
            <a:r>
              <a:rPr lang="it-IT" i="1" dirty="0"/>
              <a:t>PERMANOVA</a:t>
            </a:r>
            <a:r>
              <a:rPr lang="it-IT" dirty="0"/>
              <a:t>, </a:t>
            </a:r>
            <a:r>
              <a:rPr lang="it-IT" i="1" dirty="0"/>
              <a:t>p</a:t>
            </a:r>
            <a:r>
              <a:rPr lang="it-IT" dirty="0"/>
              <a:t> = 0.351).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indicates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episodic</a:t>
            </a:r>
            <a:r>
              <a:rPr lang="it-IT" dirty="0"/>
              <a:t> cortisone </a:t>
            </a:r>
            <a:r>
              <a:rPr lang="it-IT" dirty="0" err="1"/>
              <a:t>administration</a:t>
            </a:r>
            <a:r>
              <a:rPr lang="it-IT" dirty="0"/>
              <a:t> — </a:t>
            </a:r>
            <a:r>
              <a:rPr lang="it-IT" dirty="0" err="1"/>
              <a:t>typically</a:t>
            </a:r>
            <a:r>
              <a:rPr lang="it-IT" dirty="0"/>
              <a:t> </a:t>
            </a:r>
            <a:r>
              <a:rPr lang="it-IT" dirty="0" err="1"/>
              <a:t>prescribed</a:t>
            </a:r>
            <a:r>
              <a:rPr lang="it-IT" dirty="0"/>
              <a:t> in </a:t>
            </a:r>
            <a:r>
              <a:rPr lang="it-IT" dirty="0" err="1"/>
              <a:t>response</a:t>
            </a:r>
            <a:r>
              <a:rPr lang="it-IT" dirty="0"/>
              <a:t> to clinical </a:t>
            </a:r>
            <a:r>
              <a:rPr lang="it-IT" dirty="0" err="1"/>
              <a:t>worsening</a:t>
            </a:r>
            <a:r>
              <a:rPr lang="it-IT" dirty="0"/>
              <a:t> or relapse — </a:t>
            </a:r>
            <a:r>
              <a:rPr lang="it-IT" dirty="0" err="1"/>
              <a:t>does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significantly</a:t>
            </a:r>
            <a:r>
              <a:rPr lang="it-IT" dirty="0"/>
              <a:t> alter overall microbiota </a:t>
            </a:r>
            <a:r>
              <a:rPr lang="it-IT" dirty="0" err="1"/>
              <a:t>composition</a:t>
            </a:r>
            <a:r>
              <a:rPr lang="it-IT" dirty="0"/>
              <a:t>.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06225F3-F011-78A8-D8A9-7687135BE5AC}"/>
              </a:ext>
            </a:extLst>
          </p:cNvPr>
          <p:cNvSpPr txBox="1"/>
          <p:nvPr/>
        </p:nvSpPr>
        <p:spPr>
          <a:xfrm>
            <a:off x="697230" y="3761542"/>
            <a:ext cx="503605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The </a:t>
            </a:r>
            <a:r>
              <a:rPr lang="it-IT" dirty="0" err="1"/>
              <a:t>broad</a:t>
            </a:r>
            <a:r>
              <a:rPr lang="it-IT" dirty="0"/>
              <a:t> </a:t>
            </a:r>
            <a:r>
              <a:rPr lang="it-IT" dirty="0" err="1"/>
              <a:t>overlap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groups </a:t>
            </a:r>
            <a:r>
              <a:rPr lang="it-IT" dirty="0" err="1"/>
              <a:t>suggests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short‑</a:t>
            </a:r>
            <a:r>
              <a:rPr lang="it-IT" dirty="0" err="1"/>
              <a:t>term</a:t>
            </a:r>
            <a:r>
              <a:rPr lang="it-IT" dirty="0"/>
              <a:t> </a:t>
            </a:r>
            <a:r>
              <a:rPr lang="it-IT" dirty="0" err="1"/>
              <a:t>corticosteroid</a:t>
            </a:r>
            <a:r>
              <a:rPr lang="it-IT" dirty="0"/>
              <a:t> use </a:t>
            </a:r>
            <a:r>
              <a:rPr lang="it-IT" dirty="0" err="1"/>
              <a:t>has</a:t>
            </a:r>
            <a:r>
              <a:rPr lang="it-IT" dirty="0"/>
              <a:t> minimal impact on </a:t>
            </a:r>
            <a:r>
              <a:rPr lang="it-IT" dirty="0" err="1"/>
              <a:t>microbial</a:t>
            </a:r>
            <a:r>
              <a:rPr lang="it-IT" dirty="0"/>
              <a:t> community </a:t>
            </a:r>
            <a:r>
              <a:rPr lang="it-IT" dirty="0" err="1"/>
              <a:t>structure</a:t>
            </a:r>
            <a:r>
              <a:rPr lang="it-IT" dirty="0"/>
              <a:t>, </a:t>
            </a:r>
            <a:r>
              <a:rPr lang="it-IT" dirty="0" err="1"/>
              <a:t>supporting</a:t>
            </a:r>
            <a:r>
              <a:rPr lang="it-IT" dirty="0"/>
              <a:t> </a:t>
            </a:r>
            <a:r>
              <a:rPr lang="it-IT" dirty="0" err="1"/>
              <a:t>its</a:t>
            </a:r>
            <a:r>
              <a:rPr lang="it-IT" dirty="0"/>
              <a:t> </a:t>
            </a:r>
            <a:r>
              <a:rPr lang="it-IT" dirty="0" err="1"/>
              <a:t>role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b="1" dirty="0"/>
              <a:t>a temporary anti‑</a:t>
            </a:r>
            <a:r>
              <a:rPr lang="it-IT" b="1" dirty="0" err="1"/>
              <a:t>inflammatory</a:t>
            </a:r>
            <a:r>
              <a:rPr lang="it-IT" b="1" dirty="0"/>
              <a:t> </a:t>
            </a:r>
            <a:r>
              <a:rPr lang="it-IT" b="1" dirty="0" err="1"/>
              <a:t>intervention</a:t>
            </a:r>
            <a:r>
              <a:rPr lang="it-IT" b="1" dirty="0"/>
              <a:t> </a:t>
            </a:r>
            <a:r>
              <a:rPr lang="it-IT" dirty="0" err="1"/>
              <a:t>rather</a:t>
            </a:r>
            <a:r>
              <a:rPr lang="it-IT" dirty="0"/>
              <a:t> </a:t>
            </a:r>
            <a:r>
              <a:rPr lang="it-IT" dirty="0" err="1"/>
              <a:t>than</a:t>
            </a:r>
            <a:r>
              <a:rPr lang="it-IT" dirty="0"/>
              <a:t> a long‑</a:t>
            </a:r>
            <a:r>
              <a:rPr lang="it-IT" dirty="0" err="1"/>
              <a:t>term</a:t>
            </a:r>
            <a:r>
              <a:rPr lang="it-IT" dirty="0"/>
              <a:t> modulator of </a:t>
            </a:r>
            <a:r>
              <a:rPr lang="it-IT" dirty="0" err="1"/>
              <a:t>diversity</a:t>
            </a:r>
            <a:r>
              <a:rPr lang="it-IT" dirty="0"/>
              <a:t>.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3EACE6B-D2AF-9317-9CBC-FD7AA23D6C53}"/>
              </a:ext>
            </a:extLst>
          </p:cNvPr>
          <p:cNvSpPr txBox="1"/>
          <p:nvPr/>
        </p:nvSpPr>
        <p:spPr>
          <a:xfrm>
            <a:off x="697230" y="54260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Beta </a:t>
            </a:r>
            <a:r>
              <a:rPr lang="it-IT" b="1" dirty="0" err="1"/>
              <a:t>diversity</a:t>
            </a:r>
            <a:r>
              <a:rPr lang="it-IT" b="1" dirty="0"/>
              <a:t> by cortisone use </a:t>
            </a:r>
            <a:r>
              <a:rPr lang="it-IT" b="1" dirty="0" err="1"/>
              <a:t>during</a:t>
            </a:r>
            <a:r>
              <a:rPr lang="it-IT" b="1" dirty="0"/>
              <a:t> follow‑up</a:t>
            </a:r>
            <a:r>
              <a:rPr lang="it-IT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911663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26EF6-B985-AFA8-E83C-5A1443082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24E6D808-9BE2-ED4F-B4BB-89BDECA9B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45" y="3081528"/>
            <a:ext cx="3899056" cy="2915308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E4072239-38E9-29B9-F4BA-D3E3B2BA5676}"/>
              </a:ext>
            </a:extLst>
          </p:cNvPr>
          <p:cNvSpPr txBox="1"/>
          <p:nvPr/>
        </p:nvSpPr>
        <p:spPr>
          <a:xfrm>
            <a:off x="346841" y="441434"/>
            <a:ext cx="975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Beta </a:t>
            </a:r>
            <a:r>
              <a:rPr lang="it-IT" b="1" dirty="0" err="1"/>
              <a:t>diversity</a:t>
            </a:r>
            <a:r>
              <a:rPr lang="it-IT" b="1" dirty="0"/>
              <a:t> by cortisone use </a:t>
            </a:r>
            <a:r>
              <a:rPr lang="it-IT" b="1" dirty="0" err="1"/>
              <a:t>at</a:t>
            </a:r>
            <a:r>
              <a:rPr lang="it-IT" b="1" dirty="0"/>
              <a:t> T0, T1, and T12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55555830-4C54-3AF8-D5C0-A8D1C21E9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5301" y="3002794"/>
            <a:ext cx="3976819" cy="2994042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9EC0EC47-D2F5-7D95-E782-BC88BC6A2B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1930" y="3002794"/>
            <a:ext cx="3858540" cy="2921784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40EC33E5-0A7E-5E13-A0C4-9B39B0721741}"/>
              </a:ext>
            </a:extLst>
          </p:cNvPr>
          <p:cNvSpPr txBox="1"/>
          <p:nvPr/>
        </p:nvSpPr>
        <p:spPr>
          <a:xfrm>
            <a:off x="346841" y="933422"/>
            <a:ext cx="1120203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dirty="0">
                <a:effectLst/>
              </a:rPr>
              <a:t>Samples are </a:t>
            </a:r>
            <a:r>
              <a:rPr lang="it-IT" dirty="0" err="1">
                <a:effectLst/>
              </a:rPr>
              <a:t>grouped</a:t>
            </a:r>
            <a:r>
              <a:rPr lang="it-IT" dirty="0">
                <a:effectLst/>
              </a:rPr>
              <a:t> by cortisone use (0 = no use, 1–4 = days of </a:t>
            </a:r>
            <a:r>
              <a:rPr lang="it-IT" dirty="0" err="1">
                <a:effectLst/>
              </a:rPr>
              <a:t>administration</a:t>
            </a:r>
            <a:r>
              <a:rPr lang="it-IT" dirty="0">
                <a:effectLst/>
              </a:rPr>
              <a:t>). </a:t>
            </a:r>
          </a:p>
          <a:p>
            <a:pPr>
              <a:buNone/>
            </a:pPr>
            <a:r>
              <a:rPr lang="it-IT" dirty="0">
                <a:effectLst/>
              </a:rPr>
              <a:t>At T0, a </a:t>
            </a:r>
            <a:r>
              <a:rPr lang="it-IT" dirty="0" err="1">
                <a:effectLst/>
              </a:rPr>
              <a:t>slight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separation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is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observed</a:t>
            </a:r>
            <a:r>
              <a:rPr lang="it-IT" dirty="0">
                <a:effectLst/>
              </a:rPr>
              <a:t> (</a:t>
            </a:r>
            <a:r>
              <a:rPr lang="it-IT" i="1" dirty="0">
                <a:effectLst/>
              </a:rPr>
              <a:t>PERMANOVA</a:t>
            </a:r>
            <a:r>
              <a:rPr lang="it-IT" dirty="0">
                <a:effectLst/>
              </a:rPr>
              <a:t>, </a:t>
            </a:r>
            <a:r>
              <a:rPr lang="it-IT" i="1" dirty="0">
                <a:effectLst/>
              </a:rPr>
              <a:t>p</a:t>
            </a:r>
            <a:r>
              <a:rPr lang="it-IT" dirty="0">
                <a:effectLst/>
              </a:rPr>
              <a:t> = 0.038), </a:t>
            </a:r>
            <a:r>
              <a:rPr lang="it-IT" dirty="0" err="1">
                <a:effectLst/>
              </a:rPr>
              <a:t>while</a:t>
            </a:r>
            <a:r>
              <a:rPr lang="it-IT" dirty="0">
                <a:effectLst/>
              </a:rPr>
              <a:t> T1 and T12 show </a:t>
            </a:r>
            <a:r>
              <a:rPr lang="it-IT" b="1" dirty="0">
                <a:effectLst/>
              </a:rPr>
              <a:t>no </a:t>
            </a:r>
            <a:r>
              <a:rPr lang="it-IT" b="1" dirty="0" err="1">
                <a:effectLst/>
              </a:rPr>
              <a:t>significant</a:t>
            </a:r>
            <a:r>
              <a:rPr lang="it-IT" b="1" dirty="0">
                <a:effectLst/>
              </a:rPr>
              <a:t> </a:t>
            </a:r>
            <a:r>
              <a:rPr lang="it-IT" b="1" dirty="0" err="1">
                <a:effectLst/>
              </a:rPr>
              <a:t>differences</a:t>
            </a:r>
            <a:r>
              <a:rPr lang="it-IT" dirty="0">
                <a:effectLst/>
              </a:rPr>
              <a:t> (</a:t>
            </a:r>
            <a:r>
              <a:rPr lang="it-IT" i="1" dirty="0">
                <a:effectLst/>
              </a:rPr>
              <a:t>p</a:t>
            </a:r>
            <a:r>
              <a:rPr lang="it-IT" dirty="0">
                <a:effectLst/>
              </a:rPr>
              <a:t> = 0.09 and </a:t>
            </a:r>
            <a:r>
              <a:rPr lang="it-IT" i="1" dirty="0">
                <a:effectLst/>
              </a:rPr>
              <a:t>p</a:t>
            </a:r>
            <a:r>
              <a:rPr lang="it-IT" dirty="0">
                <a:effectLst/>
              </a:rPr>
              <a:t> = 0.237 </a:t>
            </a:r>
            <a:r>
              <a:rPr lang="it-IT" dirty="0" err="1">
                <a:effectLst/>
              </a:rPr>
              <a:t>respectively</a:t>
            </a:r>
            <a:r>
              <a:rPr lang="it-IT" dirty="0">
                <a:effectLst/>
              </a:rPr>
              <a:t>). </a:t>
            </a:r>
          </a:p>
          <a:p>
            <a:pPr>
              <a:buNone/>
            </a:pPr>
            <a:r>
              <a:rPr lang="it-IT" dirty="0" err="1">
                <a:effectLst/>
              </a:rPr>
              <a:t>These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results</a:t>
            </a:r>
            <a:r>
              <a:rPr lang="it-IT" dirty="0">
                <a:effectLst/>
              </a:rPr>
              <a:t> indicate </a:t>
            </a:r>
            <a:r>
              <a:rPr lang="it-IT" dirty="0" err="1">
                <a:effectLst/>
              </a:rPr>
              <a:t>that</a:t>
            </a:r>
            <a:r>
              <a:rPr lang="it-IT" dirty="0">
                <a:effectLst/>
              </a:rPr>
              <a:t> short‑</a:t>
            </a:r>
            <a:r>
              <a:rPr lang="it-IT" dirty="0" err="1">
                <a:effectLst/>
              </a:rPr>
              <a:t>term</a:t>
            </a:r>
            <a:r>
              <a:rPr lang="it-IT" dirty="0">
                <a:effectLst/>
              </a:rPr>
              <a:t> cortisone </a:t>
            </a:r>
            <a:r>
              <a:rPr lang="it-IT" dirty="0" err="1">
                <a:effectLst/>
              </a:rPr>
              <a:t>administration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may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transiently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influence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microbial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composition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at</a:t>
            </a:r>
            <a:r>
              <a:rPr lang="it-IT" dirty="0">
                <a:effectLst/>
              </a:rPr>
              <a:t> baseline, </a:t>
            </a:r>
            <a:r>
              <a:rPr lang="it-IT" dirty="0" err="1">
                <a:effectLst/>
              </a:rPr>
              <a:t>but</a:t>
            </a:r>
            <a:r>
              <a:rPr lang="it-IT" dirty="0">
                <a:effectLst/>
              </a:rPr>
              <a:t> no </a:t>
            </a:r>
            <a:r>
              <a:rPr lang="it-IT" dirty="0" err="1">
                <a:effectLst/>
              </a:rPr>
              <a:t>sustained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effect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is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observed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during</a:t>
            </a:r>
            <a:r>
              <a:rPr lang="it-IT" dirty="0">
                <a:effectLst/>
              </a:rPr>
              <a:t> follow‑up.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350246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2E959-66AD-B820-0B33-2E46133D0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E516E1AE-5D26-22CA-6D61-2B11A0ADC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02461"/>
            <a:ext cx="5459702" cy="4053078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5395FAE5-588E-833A-8FE1-0B6B465C7F92}"/>
              </a:ext>
            </a:extLst>
          </p:cNvPr>
          <p:cNvSpPr txBox="1"/>
          <p:nvPr/>
        </p:nvSpPr>
        <p:spPr>
          <a:xfrm>
            <a:off x="843534" y="1033129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Beta </a:t>
            </a:r>
            <a:r>
              <a:rPr lang="it-IT" b="1" dirty="0" err="1"/>
              <a:t>diversity</a:t>
            </a:r>
            <a:r>
              <a:rPr lang="it-IT" b="1" dirty="0"/>
              <a:t> by naïve status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4C04A64-D4D3-7E0C-48E2-8B5387538FF1}"/>
              </a:ext>
            </a:extLst>
          </p:cNvPr>
          <p:cNvSpPr txBox="1"/>
          <p:nvPr/>
        </p:nvSpPr>
        <p:spPr>
          <a:xfrm>
            <a:off x="843534" y="1858232"/>
            <a:ext cx="482574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Samples are </a:t>
            </a:r>
            <a:r>
              <a:rPr lang="it-IT" dirty="0" err="1"/>
              <a:t>grouped</a:t>
            </a:r>
            <a:r>
              <a:rPr lang="it-IT" dirty="0"/>
              <a:t> by </a:t>
            </a:r>
            <a:r>
              <a:rPr lang="it-IT" b="1" dirty="0"/>
              <a:t>naïve status (yes/no)</a:t>
            </a:r>
            <a:r>
              <a:rPr lang="it-IT" dirty="0"/>
              <a:t>, </a:t>
            </a:r>
            <a:r>
              <a:rPr lang="it-IT" dirty="0" err="1"/>
              <a:t>showing</a:t>
            </a:r>
            <a:r>
              <a:rPr lang="it-IT" dirty="0"/>
              <a:t> </a:t>
            </a:r>
            <a:r>
              <a:rPr lang="it-IT" dirty="0" err="1"/>
              <a:t>overlapping</a:t>
            </a:r>
            <a:r>
              <a:rPr lang="it-IT" dirty="0"/>
              <a:t> clusters and </a:t>
            </a:r>
            <a:r>
              <a:rPr lang="it-IT" b="1" dirty="0"/>
              <a:t>no </a:t>
            </a:r>
            <a:r>
              <a:rPr lang="it-IT" b="1" dirty="0" err="1"/>
              <a:t>significant</a:t>
            </a:r>
            <a:r>
              <a:rPr lang="it-IT" b="1" dirty="0"/>
              <a:t> </a:t>
            </a:r>
            <a:r>
              <a:rPr lang="it-IT" b="1" dirty="0" err="1"/>
              <a:t>separation</a:t>
            </a:r>
            <a:r>
              <a:rPr lang="it-IT" dirty="0"/>
              <a:t> (</a:t>
            </a:r>
            <a:r>
              <a:rPr lang="it-IT" i="1" dirty="0"/>
              <a:t>PERMANOVA</a:t>
            </a:r>
            <a:r>
              <a:rPr lang="it-IT" dirty="0"/>
              <a:t>, </a:t>
            </a:r>
            <a:r>
              <a:rPr lang="it-IT" i="1" dirty="0"/>
              <a:t>p</a:t>
            </a:r>
            <a:r>
              <a:rPr lang="it-IT" dirty="0"/>
              <a:t> = 0.324).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indicates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prior</a:t>
            </a:r>
            <a:r>
              <a:rPr lang="it-IT" dirty="0"/>
              <a:t> </a:t>
            </a:r>
            <a:r>
              <a:rPr lang="it-IT" dirty="0" err="1"/>
              <a:t>exposure</a:t>
            </a:r>
            <a:r>
              <a:rPr lang="it-IT" dirty="0"/>
              <a:t> to therapy </a:t>
            </a:r>
            <a:r>
              <a:rPr lang="it-IT" dirty="0" err="1"/>
              <a:t>does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significantly</a:t>
            </a:r>
            <a:r>
              <a:rPr lang="it-IT" dirty="0"/>
              <a:t> </a:t>
            </a:r>
            <a:r>
              <a:rPr lang="it-IT" dirty="0" err="1"/>
              <a:t>influence</a:t>
            </a:r>
            <a:r>
              <a:rPr lang="it-IT" dirty="0"/>
              <a:t> overall microbiota </a:t>
            </a:r>
            <a:r>
              <a:rPr lang="it-IT" dirty="0" err="1"/>
              <a:t>composition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baseline.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7463713-5C94-B855-00F6-F61B9D888156}"/>
              </a:ext>
            </a:extLst>
          </p:cNvPr>
          <p:cNvSpPr txBox="1"/>
          <p:nvPr/>
        </p:nvSpPr>
        <p:spPr>
          <a:xfrm>
            <a:off x="843534" y="3815636"/>
            <a:ext cx="482574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The </a:t>
            </a:r>
            <a:r>
              <a:rPr lang="it-IT" dirty="0" err="1"/>
              <a:t>broad</a:t>
            </a:r>
            <a:r>
              <a:rPr lang="it-IT" dirty="0"/>
              <a:t> </a:t>
            </a:r>
            <a:r>
              <a:rPr lang="it-IT" dirty="0" err="1"/>
              <a:t>overlap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naïve and non‑naïve </a:t>
            </a:r>
            <a:r>
              <a:rPr lang="it-IT" dirty="0" err="1"/>
              <a:t>patients</a:t>
            </a:r>
            <a:r>
              <a:rPr lang="it-IT" dirty="0"/>
              <a:t> </a:t>
            </a:r>
            <a:r>
              <a:rPr lang="it-IT" dirty="0" err="1"/>
              <a:t>suggests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microbial</a:t>
            </a:r>
            <a:r>
              <a:rPr lang="it-IT" dirty="0"/>
              <a:t> community </a:t>
            </a:r>
            <a:r>
              <a:rPr lang="it-IT" dirty="0" err="1"/>
              <a:t>structure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comparable, </a:t>
            </a:r>
            <a:r>
              <a:rPr lang="it-IT" dirty="0" err="1"/>
              <a:t>supporting</a:t>
            </a:r>
            <a:r>
              <a:rPr lang="it-IT" dirty="0"/>
              <a:t> the idea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previous</a:t>
            </a:r>
            <a:r>
              <a:rPr lang="it-IT" dirty="0"/>
              <a:t> treatment history </a:t>
            </a:r>
            <a:r>
              <a:rPr lang="it-IT" dirty="0" err="1"/>
              <a:t>has</a:t>
            </a:r>
            <a:r>
              <a:rPr lang="it-IT" dirty="0"/>
              <a:t> minimal impact on baseline </a:t>
            </a:r>
            <a:r>
              <a:rPr lang="it-IT" dirty="0" err="1"/>
              <a:t>diversity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715085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72548-B36C-05ED-200E-1FB924346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B7C90643-C98A-3EA6-C1C5-96BA00A55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5347" y="1723796"/>
            <a:ext cx="5275119" cy="3994329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D71BCB11-1545-50B6-0216-9D399A7CEA9F}"/>
              </a:ext>
            </a:extLst>
          </p:cNvPr>
          <p:cNvSpPr txBox="1"/>
          <p:nvPr/>
        </p:nvSpPr>
        <p:spPr>
          <a:xfrm>
            <a:off x="636366" y="600379"/>
            <a:ext cx="6980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Beta </a:t>
            </a:r>
            <a:r>
              <a:rPr lang="it-IT" b="1" dirty="0" err="1"/>
              <a:t>diversity</a:t>
            </a:r>
            <a:r>
              <a:rPr lang="it-IT" b="1" dirty="0"/>
              <a:t> by </a:t>
            </a:r>
            <a:r>
              <a:rPr lang="it-IT" b="1" dirty="0" err="1"/>
              <a:t>Mediterranean</a:t>
            </a:r>
            <a:r>
              <a:rPr lang="it-IT" b="1" dirty="0"/>
              <a:t> </a:t>
            </a:r>
            <a:r>
              <a:rPr lang="it-IT" b="1" dirty="0" err="1"/>
              <a:t>diet</a:t>
            </a:r>
            <a:r>
              <a:rPr lang="it-IT" b="1" dirty="0"/>
              <a:t> </a:t>
            </a:r>
            <a:r>
              <a:rPr lang="it-IT" b="1" dirty="0" err="1"/>
              <a:t>adherence</a:t>
            </a:r>
            <a:r>
              <a:rPr lang="it-IT" b="1" dirty="0"/>
              <a:t> (MEDAS)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D7D29DE5-1DD4-1321-C60B-D5566669792A}"/>
              </a:ext>
            </a:extLst>
          </p:cNvPr>
          <p:cNvSpPr txBox="1"/>
          <p:nvPr/>
        </p:nvSpPr>
        <p:spPr>
          <a:xfrm>
            <a:off x="636366" y="2378101"/>
            <a:ext cx="517921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Samples </a:t>
            </a:r>
            <a:r>
              <a:rPr lang="it-IT" dirty="0" err="1"/>
              <a:t>grouped</a:t>
            </a:r>
            <a:r>
              <a:rPr lang="it-IT" dirty="0"/>
              <a:t> by </a:t>
            </a:r>
            <a:r>
              <a:rPr lang="it-IT" b="1" dirty="0"/>
              <a:t>MEDAS score (High vs Low)</a:t>
            </a:r>
            <a:r>
              <a:rPr lang="it-IT" dirty="0"/>
              <a:t> show a </a:t>
            </a:r>
            <a:r>
              <a:rPr lang="it-IT" b="1" dirty="0" err="1"/>
              <a:t>significant</a:t>
            </a:r>
            <a:r>
              <a:rPr lang="it-IT" b="1" dirty="0"/>
              <a:t> </a:t>
            </a:r>
            <a:r>
              <a:rPr lang="it-IT" b="1" dirty="0" err="1"/>
              <a:t>separation</a:t>
            </a:r>
            <a:r>
              <a:rPr lang="it-IT" dirty="0"/>
              <a:t> (</a:t>
            </a:r>
            <a:r>
              <a:rPr lang="it-IT" i="1" dirty="0"/>
              <a:t>PERMANOVA</a:t>
            </a:r>
            <a:r>
              <a:rPr lang="it-IT" dirty="0"/>
              <a:t>, </a:t>
            </a:r>
            <a:r>
              <a:rPr lang="it-IT" b="1" i="1" u="sng" dirty="0"/>
              <a:t>p</a:t>
            </a:r>
            <a:r>
              <a:rPr lang="it-IT" b="1" u="sng" dirty="0"/>
              <a:t> = 0.024</a:t>
            </a:r>
            <a:r>
              <a:rPr lang="it-IT" dirty="0"/>
              <a:t>).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suggests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higher</a:t>
            </a:r>
            <a:r>
              <a:rPr lang="it-IT" dirty="0"/>
              <a:t> </a:t>
            </a:r>
            <a:r>
              <a:rPr lang="it-IT" dirty="0" err="1"/>
              <a:t>adherence</a:t>
            </a:r>
            <a:r>
              <a:rPr lang="it-IT" dirty="0"/>
              <a:t> to the </a:t>
            </a:r>
            <a:r>
              <a:rPr lang="it-IT" dirty="0" err="1"/>
              <a:t>Mediterranean</a:t>
            </a:r>
            <a:r>
              <a:rPr lang="it-IT" dirty="0"/>
              <a:t> </a:t>
            </a:r>
            <a:r>
              <a:rPr lang="it-IT" dirty="0" err="1"/>
              <a:t>diet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associated</a:t>
            </a:r>
            <a:r>
              <a:rPr lang="it-IT" dirty="0"/>
              <a:t> with </a:t>
            </a:r>
            <a:r>
              <a:rPr lang="it-IT" dirty="0" err="1"/>
              <a:t>distinct</a:t>
            </a:r>
            <a:r>
              <a:rPr lang="it-IT" dirty="0"/>
              <a:t> </a:t>
            </a:r>
            <a:r>
              <a:rPr lang="it-IT" dirty="0" err="1"/>
              <a:t>microbial</a:t>
            </a:r>
            <a:r>
              <a:rPr lang="it-IT" dirty="0"/>
              <a:t> community </a:t>
            </a:r>
            <a:r>
              <a:rPr lang="it-IT" dirty="0" err="1"/>
              <a:t>profiles</a:t>
            </a:r>
            <a:r>
              <a:rPr lang="it-IT" dirty="0"/>
              <a:t>, </a:t>
            </a:r>
            <a:r>
              <a:rPr lang="it-IT" dirty="0" err="1"/>
              <a:t>highlighting</a:t>
            </a:r>
            <a:r>
              <a:rPr lang="it-IT" dirty="0"/>
              <a:t> the impact of </a:t>
            </a:r>
            <a:r>
              <a:rPr lang="it-IT" dirty="0" err="1"/>
              <a:t>dietary</a:t>
            </a:r>
            <a:r>
              <a:rPr lang="it-IT" dirty="0"/>
              <a:t> patterns on </a:t>
            </a:r>
            <a:r>
              <a:rPr lang="it-IT" dirty="0" err="1"/>
              <a:t>gut</a:t>
            </a:r>
            <a:r>
              <a:rPr lang="it-IT" dirty="0"/>
              <a:t> microbiota </a:t>
            </a:r>
            <a:r>
              <a:rPr lang="it-IT" dirty="0" err="1"/>
              <a:t>structure</a:t>
            </a:r>
            <a:r>
              <a:rPr lang="it-IT" dirty="0"/>
              <a:t>.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5F151847-BF43-C70C-05D6-96362CD6AE61}"/>
              </a:ext>
            </a:extLst>
          </p:cNvPr>
          <p:cNvSpPr txBox="1"/>
          <p:nvPr/>
        </p:nvSpPr>
        <p:spPr>
          <a:xfrm>
            <a:off x="636366" y="977421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i="1" dirty="0" err="1"/>
              <a:t>Diet</a:t>
            </a:r>
            <a:r>
              <a:rPr lang="it-IT" i="1" dirty="0"/>
              <a:t> </a:t>
            </a:r>
            <a:r>
              <a:rPr lang="it-IT" i="1" dirty="0" err="1"/>
              <a:t>as</a:t>
            </a:r>
            <a:r>
              <a:rPr lang="it-IT" i="1" dirty="0"/>
              <a:t> a key modulator of microbiota </a:t>
            </a:r>
            <a:r>
              <a:rPr lang="it-IT" i="1" dirty="0" err="1"/>
              <a:t>diversity</a:t>
            </a:r>
            <a:endParaRPr lang="it-IT" i="1" dirty="0"/>
          </a:p>
        </p:txBody>
      </p:sp>
    </p:spTree>
    <p:extLst>
      <p:ext uri="{BB962C8B-B14F-4D97-AF65-F5344CB8AC3E}">
        <p14:creationId xmlns:p14="http://schemas.microsoft.com/office/powerpoint/2010/main" val="28195676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A1DC1-446C-4650-BAE1-0593C72B7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84C85381-73D3-154B-7624-2FD0438E12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25"/>
          <a:stretch>
            <a:fillRect/>
          </a:stretch>
        </p:blipFill>
        <p:spPr>
          <a:xfrm>
            <a:off x="6720840" y="1616364"/>
            <a:ext cx="4872907" cy="3663214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2C69EADA-C057-19EC-872B-7189B54F8D11}"/>
              </a:ext>
            </a:extLst>
          </p:cNvPr>
          <p:cNvSpPr txBox="1"/>
          <p:nvPr/>
        </p:nvSpPr>
        <p:spPr>
          <a:xfrm>
            <a:off x="852678" y="720590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Beta </a:t>
            </a:r>
            <a:r>
              <a:rPr lang="it-IT" b="1" dirty="0" err="1"/>
              <a:t>diversity</a:t>
            </a:r>
            <a:r>
              <a:rPr lang="it-IT" b="1" dirty="0"/>
              <a:t> by BMI group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7E2D1573-0F72-25B9-64C2-7797BBFF25EF}"/>
              </a:ext>
            </a:extLst>
          </p:cNvPr>
          <p:cNvSpPr txBox="1"/>
          <p:nvPr/>
        </p:nvSpPr>
        <p:spPr>
          <a:xfrm>
            <a:off x="852678" y="2413337"/>
            <a:ext cx="487290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Beta </a:t>
            </a:r>
            <a:r>
              <a:rPr lang="it-IT" dirty="0" err="1"/>
              <a:t>diversity</a:t>
            </a:r>
            <a:r>
              <a:rPr lang="it-IT" dirty="0"/>
              <a:t> </a:t>
            </a:r>
            <a:r>
              <a:rPr lang="it-IT" dirty="0" err="1"/>
              <a:t>analysis</a:t>
            </a:r>
            <a:r>
              <a:rPr lang="it-IT" dirty="0"/>
              <a:t> </a:t>
            </a:r>
            <a:r>
              <a:rPr lang="it-IT" dirty="0" err="1"/>
              <a:t>based</a:t>
            </a:r>
            <a:r>
              <a:rPr lang="it-IT" dirty="0"/>
              <a:t> on </a:t>
            </a:r>
            <a:r>
              <a:rPr lang="it-IT" b="1" dirty="0"/>
              <a:t>BMI </a:t>
            </a:r>
            <a:r>
              <a:rPr lang="it-IT" b="1" dirty="0" err="1"/>
              <a:t>category</a:t>
            </a:r>
            <a:r>
              <a:rPr lang="it-IT" b="1" dirty="0"/>
              <a:t> </a:t>
            </a:r>
            <a:r>
              <a:rPr lang="it-IT" dirty="0"/>
              <a:t>(Normal vs </a:t>
            </a:r>
            <a:r>
              <a:rPr lang="it-IT" dirty="0" err="1"/>
              <a:t>Overweight</a:t>
            </a:r>
            <a:r>
              <a:rPr lang="it-IT" dirty="0"/>
              <a:t>) </a:t>
            </a:r>
            <a:r>
              <a:rPr lang="it-IT" dirty="0" err="1"/>
              <a:t>reveals</a:t>
            </a:r>
            <a:r>
              <a:rPr lang="it-IT" dirty="0"/>
              <a:t> a </a:t>
            </a:r>
            <a:r>
              <a:rPr lang="it-IT" b="1" dirty="0" err="1"/>
              <a:t>significant</a:t>
            </a:r>
            <a:r>
              <a:rPr lang="it-IT" b="1" dirty="0"/>
              <a:t> </a:t>
            </a:r>
            <a:r>
              <a:rPr lang="it-IT" b="1" dirty="0" err="1"/>
              <a:t>difference</a:t>
            </a:r>
            <a:r>
              <a:rPr lang="it-IT" dirty="0"/>
              <a:t> (</a:t>
            </a:r>
            <a:r>
              <a:rPr lang="it-IT" i="1" dirty="0"/>
              <a:t>PERMANOVA</a:t>
            </a:r>
            <a:r>
              <a:rPr lang="it-IT" b="1" u="sng" dirty="0"/>
              <a:t>, </a:t>
            </a:r>
            <a:r>
              <a:rPr lang="it-IT" b="1" i="1" u="sng" dirty="0"/>
              <a:t>p</a:t>
            </a:r>
            <a:r>
              <a:rPr lang="it-IT" b="1" u="sng" dirty="0"/>
              <a:t> = 0.019</a:t>
            </a:r>
            <a:r>
              <a:rPr lang="it-IT" dirty="0"/>
              <a:t>). </a:t>
            </a:r>
            <a:r>
              <a:rPr lang="it-IT" dirty="0" err="1"/>
              <a:t>These</a:t>
            </a:r>
            <a:r>
              <a:rPr lang="it-IT" dirty="0"/>
              <a:t> </a:t>
            </a:r>
            <a:r>
              <a:rPr lang="it-IT" dirty="0" err="1"/>
              <a:t>findings</a:t>
            </a:r>
            <a:r>
              <a:rPr lang="it-IT" dirty="0"/>
              <a:t> indicate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b="1" dirty="0"/>
              <a:t>body weight </a:t>
            </a:r>
            <a:r>
              <a:rPr lang="it-IT" b="1" dirty="0" err="1"/>
              <a:t>influences</a:t>
            </a:r>
            <a:r>
              <a:rPr lang="it-IT" b="1" dirty="0"/>
              <a:t> </a:t>
            </a:r>
            <a:r>
              <a:rPr lang="it-IT" b="1" dirty="0" err="1"/>
              <a:t>microbial</a:t>
            </a:r>
            <a:r>
              <a:rPr lang="it-IT" b="1" dirty="0"/>
              <a:t> community </a:t>
            </a:r>
            <a:r>
              <a:rPr lang="it-IT" b="1" dirty="0" err="1"/>
              <a:t>structure</a:t>
            </a:r>
            <a:r>
              <a:rPr lang="it-IT" dirty="0"/>
              <a:t>, </a:t>
            </a:r>
            <a:r>
              <a:rPr lang="it-IT" dirty="0" err="1"/>
              <a:t>suggesting</a:t>
            </a:r>
            <a:r>
              <a:rPr lang="it-IT" dirty="0"/>
              <a:t> a link </a:t>
            </a:r>
            <a:r>
              <a:rPr lang="it-IT" dirty="0" err="1"/>
              <a:t>between</a:t>
            </a:r>
            <a:r>
              <a:rPr lang="it-IT" dirty="0"/>
              <a:t> </a:t>
            </a:r>
            <a:r>
              <a:rPr lang="it-IT" dirty="0" err="1"/>
              <a:t>metabolic</a:t>
            </a:r>
            <a:r>
              <a:rPr lang="it-IT" dirty="0"/>
              <a:t> status and </a:t>
            </a:r>
            <a:r>
              <a:rPr lang="it-IT" dirty="0" err="1"/>
              <a:t>gut</a:t>
            </a:r>
            <a:r>
              <a:rPr lang="it-IT" dirty="0"/>
              <a:t> </a:t>
            </a:r>
            <a:r>
              <a:rPr lang="it-IT" dirty="0" err="1"/>
              <a:t>ecosystem</a:t>
            </a:r>
            <a:r>
              <a:rPr lang="it-IT" dirty="0"/>
              <a:t> balance.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D5C83A9-B20B-E5A2-ED66-E9495BB3D23A}"/>
              </a:ext>
            </a:extLst>
          </p:cNvPr>
          <p:cNvSpPr txBox="1"/>
          <p:nvPr/>
        </p:nvSpPr>
        <p:spPr>
          <a:xfrm>
            <a:off x="852678" y="1089922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i="1" dirty="0"/>
              <a:t>Lifestyle </a:t>
            </a:r>
            <a:r>
              <a:rPr lang="it-IT" i="1" dirty="0" err="1"/>
              <a:t>factors</a:t>
            </a:r>
            <a:r>
              <a:rPr lang="it-IT" i="1" dirty="0"/>
              <a:t> emerge </a:t>
            </a:r>
            <a:r>
              <a:rPr lang="it-IT" i="1" dirty="0" err="1"/>
              <a:t>as</a:t>
            </a:r>
            <a:r>
              <a:rPr lang="it-IT" i="1" dirty="0"/>
              <a:t> major microbiota </a:t>
            </a:r>
            <a:r>
              <a:rPr lang="it-IT" i="1" dirty="0" err="1"/>
              <a:t>modulators</a:t>
            </a:r>
            <a:endParaRPr lang="it-IT" i="1" dirty="0"/>
          </a:p>
        </p:txBody>
      </p:sp>
    </p:spTree>
    <p:extLst>
      <p:ext uri="{BB962C8B-B14F-4D97-AF65-F5344CB8AC3E}">
        <p14:creationId xmlns:p14="http://schemas.microsoft.com/office/powerpoint/2010/main" val="19163951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E046F927-B220-0004-C0A1-374C1A0957AB}"/>
              </a:ext>
            </a:extLst>
          </p:cNvPr>
          <p:cNvSpPr txBox="1"/>
          <p:nvPr/>
        </p:nvSpPr>
        <p:spPr>
          <a:xfrm>
            <a:off x="837282" y="1862094"/>
            <a:ext cx="1091771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2400" dirty="0" err="1">
                <a:effectLst/>
              </a:rPr>
              <a:t>Stacked</a:t>
            </a:r>
            <a:r>
              <a:rPr lang="it-IT" sz="2400" dirty="0">
                <a:effectLst/>
              </a:rPr>
              <a:t> bar plots </a:t>
            </a:r>
            <a:r>
              <a:rPr lang="it-IT" sz="2400" dirty="0" err="1">
                <a:effectLst/>
              </a:rPr>
              <a:t>represent</a:t>
            </a:r>
            <a:r>
              <a:rPr lang="it-IT" sz="2400" dirty="0">
                <a:effectLst/>
              </a:rPr>
              <a:t> the </a:t>
            </a:r>
            <a:r>
              <a:rPr lang="it-IT" sz="2400" b="1" dirty="0">
                <a:effectLst/>
              </a:rPr>
              <a:t>relative </a:t>
            </a:r>
            <a:r>
              <a:rPr lang="it-IT" sz="2400" b="1" dirty="0" err="1">
                <a:effectLst/>
              </a:rPr>
              <a:t>proportion</a:t>
            </a:r>
            <a:r>
              <a:rPr lang="it-IT" sz="2400" b="1" dirty="0">
                <a:effectLst/>
              </a:rPr>
              <a:t> of taxa</a:t>
            </a:r>
            <a:r>
              <a:rPr lang="it-IT" sz="2400" dirty="0">
                <a:effectLst/>
              </a:rPr>
              <a:t> (Phylum, Genus, etc.) in </a:t>
            </a:r>
            <a:r>
              <a:rPr lang="it-IT" sz="2400" dirty="0" err="1">
                <a:effectLst/>
              </a:rPr>
              <a:t>each</a:t>
            </a:r>
            <a:r>
              <a:rPr lang="it-IT" sz="2400" dirty="0">
                <a:effectLst/>
              </a:rPr>
              <a:t> sample or group. </a:t>
            </a:r>
            <a:r>
              <a:rPr lang="it-IT" sz="2400" dirty="0" err="1">
                <a:effectLst/>
              </a:rPr>
              <a:t>They</a:t>
            </a:r>
            <a:r>
              <a:rPr lang="it-IT" sz="2400" dirty="0">
                <a:effectLst/>
              </a:rPr>
              <a:t> provide an immediate visual </a:t>
            </a:r>
            <a:r>
              <a:rPr lang="it-IT" sz="2400" dirty="0" err="1">
                <a:effectLst/>
              </a:rPr>
              <a:t>overview</a:t>
            </a:r>
            <a:r>
              <a:rPr lang="it-IT" sz="2400" dirty="0">
                <a:effectLst/>
              </a:rPr>
              <a:t> of “</a:t>
            </a:r>
            <a:r>
              <a:rPr lang="it-IT" sz="2400" dirty="0" err="1">
                <a:effectLst/>
              </a:rPr>
              <a:t>who</a:t>
            </a:r>
            <a:r>
              <a:rPr lang="it-IT" sz="2400" dirty="0">
                <a:effectLst/>
              </a:rPr>
              <a:t> makes up” the microbiota and </a:t>
            </a:r>
            <a:r>
              <a:rPr lang="it-IT" sz="2400" dirty="0" err="1">
                <a:effectLst/>
              </a:rPr>
              <a:t>how</a:t>
            </a:r>
            <a:r>
              <a:rPr lang="it-IT" sz="2400" dirty="0">
                <a:effectLst/>
              </a:rPr>
              <a:t> </a:t>
            </a:r>
            <a:r>
              <a:rPr lang="it-IT" sz="2400" dirty="0" err="1">
                <a:effectLst/>
              </a:rPr>
              <a:t>much</a:t>
            </a:r>
            <a:r>
              <a:rPr lang="it-IT" sz="2400" dirty="0">
                <a:effectLst/>
              </a:rPr>
              <a:t> </a:t>
            </a:r>
            <a:r>
              <a:rPr lang="it-IT" sz="2400" dirty="0" err="1">
                <a:effectLst/>
              </a:rPr>
              <a:t>each</a:t>
            </a:r>
            <a:r>
              <a:rPr lang="it-IT" sz="2400" dirty="0">
                <a:effectLst/>
              </a:rPr>
              <a:t> </a:t>
            </a:r>
            <a:r>
              <a:rPr lang="it-IT" sz="2400" dirty="0" err="1">
                <a:effectLst/>
              </a:rPr>
              <a:t>microbial</a:t>
            </a:r>
            <a:r>
              <a:rPr lang="it-IT" sz="2400" dirty="0">
                <a:effectLst/>
              </a:rPr>
              <a:t> group </a:t>
            </a:r>
            <a:r>
              <a:rPr lang="it-IT" sz="2400" dirty="0" err="1">
                <a:effectLst/>
              </a:rPr>
              <a:t>contributes</a:t>
            </a:r>
            <a:r>
              <a:rPr lang="it-IT" sz="2400" dirty="0">
                <a:effectLst/>
              </a:rPr>
              <a:t>.</a:t>
            </a:r>
          </a:p>
          <a:p>
            <a:pPr>
              <a:buNone/>
            </a:pPr>
            <a:endParaRPr lang="it-IT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it-IT" sz="2400" b="1" dirty="0">
                <a:effectLst/>
              </a:rPr>
              <a:t>Relative </a:t>
            </a:r>
            <a:r>
              <a:rPr lang="it-IT" sz="2400" b="1" dirty="0" err="1">
                <a:effectLst/>
              </a:rPr>
              <a:t>abundance</a:t>
            </a:r>
            <a:r>
              <a:rPr lang="it-IT" sz="2400" dirty="0">
                <a:effectLst/>
              </a:rPr>
              <a:t> — </a:t>
            </a:r>
            <a:r>
              <a:rPr lang="it-IT" sz="2400" dirty="0" err="1">
                <a:effectLst/>
              </a:rPr>
              <a:t>each</a:t>
            </a:r>
            <a:r>
              <a:rPr lang="it-IT" sz="2400" dirty="0">
                <a:effectLst/>
              </a:rPr>
              <a:t> </a:t>
            </a:r>
            <a:r>
              <a:rPr lang="it-IT" sz="2400" dirty="0" err="1">
                <a:effectLst/>
              </a:rPr>
              <a:t>colored</a:t>
            </a:r>
            <a:r>
              <a:rPr lang="it-IT" sz="2400" dirty="0">
                <a:effectLst/>
              </a:rPr>
              <a:t> </a:t>
            </a:r>
            <a:r>
              <a:rPr lang="it-IT" sz="2400" dirty="0" err="1">
                <a:effectLst/>
              </a:rPr>
              <a:t>segment</a:t>
            </a:r>
            <a:r>
              <a:rPr lang="it-IT" sz="2400" dirty="0">
                <a:effectLst/>
              </a:rPr>
              <a:t> shows </a:t>
            </a:r>
            <a:r>
              <a:rPr lang="it-IT" sz="2400" dirty="0" err="1">
                <a:effectLst/>
              </a:rPr>
              <a:t>how</a:t>
            </a:r>
            <a:r>
              <a:rPr lang="it-IT" sz="2400" dirty="0">
                <a:effectLst/>
              </a:rPr>
              <a:t> </a:t>
            </a:r>
            <a:r>
              <a:rPr lang="it-IT" sz="2400" dirty="0" err="1">
                <a:effectLst/>
              </a:rPr>
              <a:t>much</a:t>
            </a:r>
            <a:r>
              <a:rPr lang="it-IT" sz="2400" dirty="0">
                <a:effectLst/>
              </a:rPr>
              <a:t> a taxon </a:t>
            </a:r>
            <a:r>
              <a:rPr lang="it-IT" sz="2400" dirty="0" err="1">
                <a:effectLst/>
              </a:rPr>
              <a:t>contributes</a:t>
            </a:r>
            <a:r>
              <a:rPr lang="it-IT" sz="2400" dirty="0">
                <a:effectLst/>
              </a:rPr>
              <a:t> to the sample.</a:t>
            </a:r>
            <a:endParaRPr lang="it-IT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it-IT" sz="2400" b="1" dirty="0">
                <a:effectLst/>
              </a:rPr>
              <a:t>Sample </a:t>
            </a:r>
            <a:r>
              <a:rPr lang="it-IT" sz="2400" b="1" dirty="0" err="1">
                <a:effectLst/>
              </a:rPr>
              <a:t>composition</a:t>
            </a:r>
            <a:r>
              <a:rPr lang="it-IT" sz="2400" dirty="0">
                <a:effectLst/>
              </a:rPr>
              <a:t> — the sum of </a:t>
            </a:r>
            <a:r>
              <a:rPr lang="it-IT" sz="2400" dirty="0" err="1">
                <a:effectLst/>
              </a:rPr>
              <a:t>all</a:t>
            </a:r>
            <a:r>
              <a:rPr lang="it-IT" sz="2400" dirty="0">
                <a:effectLst/>
              </a:rPr>
              <a:t> </a:t>
            </a:r>
            <a:r>
              <a:rPr lang="it-IT" sz="2400" dirty="0" err="1">
                <a:effectLst/>
              </a:rPr>
              <a:t>segments</a:t>
            </a:r>
            <a:r>
              <a:rPr lang="it-IT" sz="2400" dirty="0">
                <a:effectLst/>
              </a:rPr>
              <a:t> </a:t>
            </a:r>
            <a:r>
              <a:rPr lang="it-IT" sz="2400" dirty="0" err="1">
                <a:effectLst/>
              </a:rPr>
              <a:t>is</a:t>
            </a:r>
            <a:r>
              <a:rPr lang="it-IT" sz="2400" dirty="0">
                <a:effectLst/>
              </a:rPr>
              <a:t> </a:t>
            </a:r>
            <a:r>
              <a:rPr lang="it-IT" sz="2400" b="1" dirty="0">
                <a:effectLst/>
              </a:rPr>
              <a:t>100%</a:t>
            </a:r>
            <a:r>
              <a:rPr lang="it-IT" sz="2400" dirty="0">
                <a:effectLst/>
              </a:rPr>
              <a:t>, </a:t>
            </a:r>
            <a:r>
              <a:rPr lang="it-IT" sz="2400" dirty="0" err="1">
                <a:effectLst/>
              </a:rPr>
              <a:t>representing</a:t>
            </a:r>
            <a:r>
              <a:rPr lang="it-IT" sz="2400" dirty="0">
                <a:effectLst/>
              </a:rPr>
              <a:t> the </a:t>
            </a:r>
            <a:r>
              <a:rPr lang="it-IT" sz="2400" b="1" dirty="0" err="1">
                <a:effectLst/>
              </a:rPr>
              <a:t>total</a:t>
            </a:r>
            <a:r>
              <a:rPr lang="it-IT" sz="2400" b="1" dirty="0">
                <a:effectLst/>
              </a:rPr>
              <a:t> microbiota </a:t>
            </a:r>
            <a:r>
              <a:rPr lang="it-IT" sz="2400" b="1" dirty="0" err="1">
                <a:effectLst/>
              </a:rPr>
              <a:t>composition</a:t>
            </a:r>
            <a:r>
              <a:rPr lang="it-IT" sz="2400" dirty="0">
                <a:effectLst/>
              </a:rPr>
              <a:t>.</a:t>
            </a:r>
            <a:endParaRPr lang="it-IT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it-IT" sz="2400" b="1" dirty="0" err="1">
                <a:effectLst/>
              </a:rPr>
              <a:t>Taxonomic</a:t>
            </a:r>
            <a:r>
              <a:rPr lang="it-IT" sz="2400" b="1" dirty="0">
                <a:effectLst/>
              </a:rPr>
              <a:t> </a:t>
            </a:r>
            <a:r>
              <a:rPr lang="it-IT" sz="2400" b="1" dirty="0" err="1">
                <a:effectLst/>
              </a:rPr>
              <a:t>levels</a:t>
            </a:r>
            <a:r>
              <a:rPr lang="it-IT" sz="2400" dirty="0">
                <a:effectLst/>
              </a:rPr>
              <a:t> — patterns can be </a:t>
            </a:r>
            <a:r>
              <a:rPr lang="it-IT" sz="2400" dirty="0" err="1">
                <a:effectLst/>
              </a:rPr>
              <a:t>explored</a:t>
            </a:r>
            <a:r>
              <a:rPr lang="it-IT" sz="2400" dirty="0">
                <a:effectLst/>
              </a:rPr>
              <a:t> </a:t>
            </a:r>
            <a:r>
              <a:rPr lang="it-IT" sz="2400" dirty="0" err="1">
                <a:effectLst/>
              </a:rPr>
              <a:t>at</a:t>
            </a:r>
            <a:r>
              <a:rPr lang="it-IT" sz="2400" dirty="0">
                <a:effectLst/>
              </a:rPr>
              <a:t> </a:t>
            </a:r>
            <a:r>
              <a:rPr lang="it-IT" sz="2400" dirty="0" err="1">
                <a:effectLst/>
              </a:rPr>
              <a:t>different</a:t>
            </a:r>
            <a:r>
              <a:rPr lang="it-IT" sz="2400" dirty="0">
                <a:effectLst/>
              </a:rPr>
              <a:t> </a:t>
            </a:r>
            <a:r>
              <a:rPr lang="it-IT" sz="2400" dirty="0" err="1">
                <a:effectLst/>
              </a:rPr>
              <a:t>taxonomic</a:t>
            </a:r>
            <a:r>
              <a:rPr lang="it-IT" sz="2400" dirty="0">
                <a:effectLst/>
              </a:rPr>
              <a:t> </a:t>
            </a:r>
            <a:r>
              <a:rPr lang="it-IT" sz="2400" dirty="0" err="1">
                <a:effectLst/>
              </a:rPr>
              <a:t>ranks</a:t>
            </a:r>
            <a:r>
              <a:rPr lang="it-IT" sz="2400" dirty="0">
                <a:effectLst/>
              </a:rPr>
              <a:t> (Phylum, Genus, etc.).</a:t>
            </a:r>
            <a:endParaRPr lang="it-IT" sz="2400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C5F5EE0-AE4F-851D-AA18-AFABAB1AEA3E}"/>
              </a:ext>
            </a:extLst>
          </p:cNvPr>
          <p:cNvSpPr txBox="1"/>
          <p:nvPr/>
        </p:nvSpPr>
        <p:spPr>
          <a:xfrm>
            <a:off x="837282" y="840922"/>
            <a:ext cx="109177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600" b="1" dirty="0" err="1"/>
              <a:t>What</a:t>
            </a:r>
            <a:r>
              <a:rPr lang="it-IT" sz="3600" b="1" dirty="0"/>
              <a:t> </a:t>
            </a:r>
            <a:r>
              <a:rPr lang="it-IT" sz="3600" b="1" dirty="0" err="1"/>
              <a:t>stacked</a:t>
            </a:r>
            <a:r>
              <a:rPr lang="it-IT" sz="3600" b="1" dirty="0"/>
              <a:t> bar plots show in microbiota </a:t>
            </a:r>
            <a:r>
              <a:rPr lang="it-IT" sz="3600" b="1" dirty="0" err="1"/>
              <a:t>analysis</a:t>
            </a:r>
            <a:endParaRPr lang="it-IT" sz="3600" b="1" dirty="0"/>
          </a:p>
        </p:txBody>
      </p:sp>
    </p:spTree>
    <p:extLst>
      <p:ext uri="{BB962C8B-B14F-4D97-AF65-F5344CB8AC3E}">
        <p14:creationId xmlns:p14="http://schemas.microsoft.com/office/powerpoint/2010/main" val="31923653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E97892A9-E833-5231-089D-8EB3FEDF8E8C}"/>
              </a:ext>
            </a:extLst>
          </p:cNvPr>
          <p:cNvSpPr txBox="1"/>
          <p:nvPr/>
        </p:nvSpPr>
        <p:spPr>
          <a:xfrm>
            <a:off x="760163" y="1012954"/>
            <a:ext cx="11082969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2800" dirty="0" err="1">
                <a:effectLst/>
              </a:rPr>
              <a:t>Stacked</a:t>
            </a:r>
            <a:r>
              <a:rPr lang="it-IT" sz="2800" dirty="0">
                <a:effectLst/>
              </a:rPr>
              <a:t> bar plots are </a:t>
            </a:r>
            <a:r>
              <a:rPr lang="it-IT" sz="2800" dirty="0" err="1">
                <a:effectLst/>
              </a:rPr>
              <a:t>essential</a:t>
            </a:r>
            <a:r>
              <a:rPr lang="it-IT" sz="2800" dirty="0">
                <a:effectLst/>
              </a:rPr>
              <a:t> for an </a:t>
            </a:r>
            <a:r>
              <a:rPr lang="it-IT" sz="2800" dirty="0" err="1">
                <a:effectLst/>
              </a:rPr>
              <a:t>initial</a:t>
            </a:r>
            <a:r>
              <a:rPr lang="it-IT" sz="2800" dirty="0">
                <a:effectLst/>
              </a:rPr>
              <a:t> qualitative </a:t>
            </a:r>
            <a:r>
              <a:rPr lang="it-IT" sz="2800" dirty="0" err="1">
                <a:effectLst/>
              </a:rPr>
              <a:t>interpretation</a:t>
            </a:r>
            <a:r>
              <a:rPr lang="it-IT" sz="2800" dirty="0">
                <a:effectLst/>
              </a:rPr>
              <a:t> of microbiota data </a:t>
            </a:r>
            <a:r>
              <a:rPr lang="it-IT" sz="2800" dirty="0" err="1">
                <a:effectLst/>
              </a:rPr>
              <a:t>because</a:t>
            </a:r>
            <a:r>
              <a:rPr lang="it-IT" sz="2800" dirty="0">
                <a:effectLst/>
              </a:rPr>
              <a:t> </a:t>
            </a:r>
            <a:r>
              <a:rPr lang="it-IT" sz="2800" dirty="0" err="1">
                <a:effectLst/>
              </a:rPr>
              <a:t>they</a:t>
            </a:r>
            <a:r>
              <a:rPr lang="it-IT" sz="2800" dirty="0">
                <a:effectLst/>
              </a:rPr>
              <a:t> </a:t>
            </a:r>
            <a:r>
              <a:rPr lang="it-IT" sz="2800" dirty="0" err="1">
                <a:effectLst/>
              </a:rPr>
              <a:t>allow</a:t>
            </a:r>
            <a:r>
              <a:rPr lang="it-IT" sz="2800" dirty="0">
                <a:effectLst/>
              </a:rPr>
              <a:t> </a:t>
            </a:r>
            <a:r>
              <a:rPr lang="it-IT" sz="2800" dirty="0" err="1">
                <a:effectLst/>
              </a:rPr>
              <a:t>us</a:t>
            </a:r>
            <a:r>
              <a:rPr lang="it-IT" sz="2800" dirty="0">
                <a:effectLst/>
              </a:rPr>
              <a:t> to:</a:t>
            </a:r>
            <a:endParaRPr lang="it-IT" sz="2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it-IT" sz="2800" b="1" dirty="0" err="1">
                <a:effectLst/>
              </a:rPr>
              <a:t>Identify</a:t>
            </a:r>
            <a:r>
              <a:rPr lang="it-IT" sz="2800" b="1" dirty="0">
                <a:effectLst/>
              </a:rPr>
              <a:t> </a:t>
            </a:r>
            <a:r>
              <a:rPr lang="it-IT" sz="2800" b="1" dirty="0" err="1">
                <a:effectLst/>
              </a:rPr>
              <a:t>dominant</a:t>
            </a:r>
            <a:r>
              <a:rPr lang="it-IT" sz="2800" b="1" dirty="0">
                <a:effectLst/>
              </a:rPr>
              <a:t> taxa</a:t>
            </a:r>
            <a:r>
              <a:rPr lang="it-IT" sz="2800" dirty="0">
                <a:effectLst/>
              </a:rPr>
              <a:t> — </a:t>
            </a:r>
            <a:r>
              <a:rPr lang="it-IT" sz="2800" dirty="0" err="1">
                <a:effectLst/>
              </a:rPr>
              <a:t>see</a:t>
            </a:r>
            <a:r>
              <a:rPr lang="it-IT" sz="2800" dirty="0">
                <a:effectLst/>
              </a:rPr>
              <a:t> </a:t>
            </a:r>
            <a:r>
              <a:rPr lang="it-IT" sz="2800" dirty="0" err="1">
                <a:effectLst/>
              </a:rPr>
              <a:t>which</a:t>
            </a:r>
            <a:r>
              <a:rPr lang="it-IT" sz="2800" dirty="0">
                <a:effectLst/>
              </a:rPr>
              <a:t> </a:t>
            </a:r>
            <a:r>
              <a:rPr lang="it-IT" sz="2800" dirty="0" err="1">
                <a:effectLst/>
              </a:rPr>
              <a:t>microbial</a:t>
            </a:r>
            <a:r>
              <a:rPr lang="it-IT" sz="2800" dirty="0">
                <a:effectLst/>
              </a:rPr>
              <a:t> groups </a:t>
            </a:r>
            <a:r>
              <a:rPr lang="it-IT" sz="2800" dirty="0" err="1">
                <a:effectLst/>
              </a:rPr>
              <a:t>prevail</a:t>
            </a:r>
            <a:r>
              <a:rPr lang="it-IT" sz="2800" dirty="0">
                <a:effectLst/>
              </a:rPr>
              <a:t> </a:t>
            </a:r>
            <a:r>
              <a:rPr lang="it-IT" sz="2800" dirty="0" err="1">
                <a:effectLst/>
              </a:rPr>
              <a:t>across</a:t>
            </a:r>
            <a:r>
              <a:rPr lang="it-IT" sz="2800" dirty="0">
                <a:effectLst/>
              </a:rPr>
              <a:t> samples or </a:t>
            </a:r>
            <a:r>
              <a:rPr lang="it-IT" sz="2800" dirty="0" err="1">
                <a:effectLst/>
              </a:rPr>
              <a:t>conditions</a:t>
            </a:r>
            <a:r>
              <a:rPr lang="it-IT" sz="2800" dirty="0">
                <a:effectLst/>
              </a:rPr>
              <a:t>.</a:t>
            </a:r>
            <a:endParaRPr lang="it-IT" sz="2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it-IT" sz="2800" b="1" dirty="0">
                <a:effectLst/>
              </a:rPr>
              <a:t>Compare </a:t>
            </a:r>
            <a:r>
              <a:rPr lang="it-IT" sz="2800" b="1" dirty="0" err="1">
                <a:effectLst/>
              </a:rPr>
              <a:t>composition</a:t>
            </a:r>
            <a:r>
              <a:rPr lang="it-IT" sz="2800" b="1" dirty="0">
                <a:effectLst/>
              </a:rPr>
              <a:t> patterns</a:t>
            </a:r>
            <a:r>
              <a:rPr lang="it-IT" sz="2800" dirty="0">
                <a:effectLst/>
              </a:rPr>
              <a:t> — </a:t>
            </a:r>
            <a:r>
              <a:rPr lang="it-IT" sz="2800" dirty="0" err="1">
                <a:effectLst/>
              </a:rPr>
              <a:t>observe</a:t>
            </a:r>
            <a:r>
              <a:rPr lang="it-IT" sz="2800" dirty="0">
                <a:effectLst/>
              </a:rPr>
              <a:t> qualitative </a:t>
            </a:r>
            <a:r>
              <a:rPr lang="it-IT" sz="2800" dirty="0" err="1">
                <a:effectLst/>
              </a:rPr>
              <a:t>differences</a:t>
            </a:r>
            <a:r>
              <a:rPr lang="it-IT" sz="2800" dirty="0">
                <a:effectLst/>
              </a:rPr>
              <a:t> </a:t>
            </a:r>
            <a:r>
              <a:rPr lang="it-IT" sz="2800" dirty="0" err="1">
                <a:effectLst/>
              </a:rPr>
              <a:t>between</a:t>
            </a:r>
            <a:r>
              <a:rPr lang="it-IT" sz="2800" dirty="0">
                <a:effectLst/>
              </a:rPr>
              <a:t> groups (e.g., sex, therapy, time).</a:t>
            </a:r>
            <a:endParaRPr lang="it-IT" sz="2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it-IT" sz="2800" b="1" dirty="0" err="1">
                <a:effectLst/>
              </a:rPr>
              <a:t>Detect</a:t>
            </a:r>
            <a:r>
              <a:rPr lang="it-IT" sz="2800" b="1" dirty="0">
                <a:effectLst/>
              </a:rPr>
              <a:t> qualitative shifts</a:t>
            </a:r>
            <a:r>
              <a:rPr lang="it-IT" sz="2800" dirty="0">
                <a:effectLst/>
              </a:rPr>
              <a:t> — </a:t>
            </a:r>
            <a:r>
              <a:rPr lang="it-IT" sz="2800" dirty="0" err="1">
                <a:effectLst/>
              </a:rPr>
              <a:t>notice</a:t>
            </a:r>
            <a:r>
              <a:rPr lang="it-IT" sz="2800" dirty="0">
                <a:effectLst/>
              </a:rPr>
              <a:t> </a:t>
            </a:r>
            <a:r>
              <a:rPr lang="it-IT" sz="2800" dirty="0" err="1">
                <a:effectLst/>
              </a:rPr>
              <a:t>increases</a:t>
            </a:r>
            <a:r>
              <a:rPr lang="it-IT" sz="2800" dirty="0">
                <a:effectLst/>
              </a:rPr>
              <a:t> or </a:t>
            </a:r>
            <a:r>
              <a:rPr lang="it-IT" sz="2800" dirty="0" err="1">
                <a:effectLst/>
              </a:rPr>
              <a:t>decreases</a:t>
            </a:r>
            <a:r>
              <a:rPr lang="it-IT" sz="2800" dirty="0">
                <a:effectLst/>
              </a:rPr>
              <a:t> in </a:t>
            </a:r>
            <a:r>
              <a:rPr lang="it-IT" sz="2800" dirty="0" err="1">
                <a:effectLst/>
              </a:rPr>
              <a:t>relevant</a:t>
            </a:r>
            <a:r>
              <a:rPr lang="it-IT" sz="2800" dirty="0">
                <a:effectLst/>
              </a:rPr>
              <a:t> taxa, </a:t>
            </a:r>
            <a:r>
              <a:rPr lang="it-IT" sz="2800" dirty="0" err="1">
                <a:effectLst/>
              </a:rPr>
              <a:t>such</a:t>
            </a:r>
            <a:r>
              <a:rPr lang="it-IT" sz="2800" dirty="0">
                <a:effectLst/>
              </a:rPr>
              <a:t> </a:t>
            </a:r>
            <a:r>
              <a:rPr lang="it-IT" sz="2800" dirty="0" err="1">
                <a:effectLst/>
              </a:rPr>
              <a:t>as</a:t>
            </a:r>
            <a:r>
              <a:rPr lang="it-IT" sz="2800" dirty="0">
                <a:effectLst/>
              </a:rPr>
              <a:t> </a:t>
            </a:r>
            <a:r>
              <a:rPr lang="it-IT" sz="2800" i="1" dirty="0" err="1">
                <a:effectLst/>
              </a:rPr>
              <a:t>Bacteroidota</a:t>
            </a:r>
            <a:r>
              <a:rPr lang="it-IT" sz="2800" dirty="0">
                <a:effectLst/>
              </a:rPr>
              <a:t> or </a:t>
            </a:r>
            <a:r>
              <a:rPr lang="it-IT" sz="2800" i="1" dirty="0" err="1">
                <a:effectLst/>
              </a:rPr>
              <a:t>Firmicutes</a:t>
            </a:r>
            <a:r>
              <a:rPr lang="it-IT" sz="2800" dirty="0">
                <a:effectLst/>
              </a:rPr>
              <a:t>.</a:t>
            </a:r>
            <a:endParaRPr lang="it-IT" sz="2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it-IT" sz="2800" b="1" dirty="0">
                <a:effectLst/>
              </a:rPr>
              <a:t>Guide quantitative </a:t>
            </a:r>
            <a:r>
              <a:rPr lang="it-IT" sz="2800" b="1" dirty="0" err="1">
                <a:effectLst/>
              </a:rPr>
              <a:t>analyses</a:t>
            </a:r>
            <a:r>
              <a:rPr lang="it-IT" sz="2800" dirty="0">
                <a:effectLst/>
              </a:rPr>
              <a:t> — </a:t>
            </a:r>
            <a:r>
              <a:rPr lang="it-IT" sz="2800" dirty="0" err="1">
                <a:effectLst/>
              </a:rPr>
              <a:t>this</a:t>
            </a:r>
            <a:r>
              <a:rPr lang="it-IT" sz="2800" dirty="0">
                <a:effectLst/>
              </a:rPr>
              <a:t> </a:t>
            </a:r>
            <a:r>
              <a:rPr lang="it-IT" sz="2800" dirty="0" err="1">
                <a:effectLst/>
              </a:rPr>
              <a:t>is</a:t>
            </a:r>
            <a:r>
              <a:rPr lang="it-IT" sz="2800" dirty="0">
                <a:effectLst/>
              </a:rPr>
              <a:t> a </a:t>
            </a:r>
            <a:r>
              <a:rPr lang="it-IT" sz="2800" b="1" dirty="0" err="1">
                <a:effectLst/>
              </a:rPr>
              <a:t>descriptive</a:t>
            </a:r>
            <a:r>
              <a:rPr lang="it-IT" sz="2800" dirty="0">
                <a:effectLst/>
              </a:rPr>
              <a:t>, </a:t>
            </a:r>
            <a:r>
              <a:rPr lang="it-IT" sz="2800" dirty="0" err="1">
                <a:effectLst/>
              </a:rPr>
              <a:t>not</a:t>
            </a:r>
            <a:r>
              <a:rPr lang="it-IT" sz="2800" dirty="0">
                <a:effectLst/>
              </a:rPr>
              <a:t> </a:t>
            </a:r>
            <a:r>
              <a:rPr lang="it-IT" sz="2800" dirty="0" err="1">
                <a:effectLst/>
              </a:rPr>
              <a:t>statistical</a:t>
            </a:r>
            <a:r>
              <a:rPr lang="it-IT" sz="2800" dirty="0">
                <a:effectLst/>
              </a:rPr>
              <a:t>, </a:t>
            </a:r>
            <a:r>
              <a:rPr lang="it-IT" sz="2800" dirty="0" err="1">
                <a:effectLst/>
              </a:rPr>
              <a:t>analysis</a:t>
            </a:r>
            <a:r>
              <a:rPr lang="it-IT" sz="2800" dirty="0">
                <a:effectLst/>
              </a:rPr>
              <a:t>: </a:t>
            </a:r>
            <a:r>
              <a:rPr lang="it-IT" sz="2800" dirty="0" err="1">
                <a:effectLst/>
              </a:rPr>
              <a:t>it</a:t>
            </a:r>
            <a:r>
              <a:rPr lang="it-IT" sz="2800" dirty="0">
                <a:effectLst/>
              </a:rPr>
              <a:t> helps </a:t>
            </a:r>
            <a:r>
              <a:rPr lang="it-IT" sz="2800" dirty="0" err="1">
                <a:effectLst/>
              </a:rPr>
              <a:t>identify</a:t>
            </a:r>
            <a:r>
              <a:rPr lang="it-IT" sz="2800" dirty="0">
                <a:effectLst/>
              </a:rPr>
              <a:t> </a:t>
            </a:r>
            <a:r>
              <a:rPr lang="it-IT" sz="2800" b="1" dirty="0">
                <a:effectLst/>
              </a:rPr>
              <a:t>trends</a:t>
            </a:r>
            <a:r>
              <a:rPr lang="it-IT" sz="2800" dirty="0">
                <a:effectLst/>
              </a:rPr>
              <a:t> to be </a:t>
            </a:r>
            <a:r>
              <a:rPr lang="it-IT" sz="2800" dirty="0" err="1">
                <a:effectLst/>
              </a:rPr>
              <a:t>tested</a:t>
            </a:r>
            <a:r>
              <a:rPr lang="it-IT" sz="2800" dirty="0">
                <a:effectLst/>
              </a:rPr>
              <a:t> with quantitative </a:t>
            </a:r>
            <a:r>
              <a:rPr lang="it-IT" sz="2800" dirty="0" err="1">
                <a:effectLst/>
              </a:rPr>
              <a:t>methods</a:t>
            </a:r>
            <a:r>
              <a:rPr lang="it-IT" sz="2800" dirty="0">
                <a:effectLst/>
              </a:rPr>
              <a:t> (e.g., </a:t>
            </a:r>
            <a:r>
              <a:rPr lang="it-IT" sz="2800" dirty="0" err="1">
                <a:effectLst/>
              </a:rPr>
              <a:t>differential</a:t>
            </a:r>
            <a:r>
              <a:rPr lang="it-IT" sz="2800" dirty="0">
                <a:effectLst/>
              </a:rPr>
              <a:t> </a:t>
            </a:r>
            <a:r>
              <a:rPr lang="it-IT" sz="2800" dirty="0" err="1">
                <a:effectLst/>
              </a:rPr>
              <a:t>abundance</a:t>
            </a:r>
            <a:r>
              <a:rPr lang="it-IT" sz="2800" dirty="0">
                <a:effectLst/>
              </a:rPr>
              <a:t>).</a:t>
            </a:r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8899155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E067B-3655-D007-73C2-858B4D282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F2FCA5A5-E800-E581-79AA-A7085C468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536" y="787972"/>
            <a:ext cx="7788927" cy="4349974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6976021F-FB66-14DE-4CCD-AFB812DED37C}"/>
              </a:ext>
            </a:extLst>
          </p:cNvPr>
          <p:cNvSpPr txBox="1"/>
          <p:nvPr/>
        </p:nvSpPr>
        <p:spPr>
          <a:xfrm>
            <a:off x="572877" y="341522"/>
            <a:ext cx="8505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Microbiota </a:t>
            </a:r>
            <a:r>
              <a:rPr lang="it-IT" b="1" dirty="0" err="1"/>
              <a:t>composition</a:t>
            </a:r>
            <a:r>
              <a:rPr lang="it-IT" b="1" dirty="0"/>
              <a:t> by sex</a:t>
            </a:r>
            <a:r>
              <a:rPr lang="it-IT" dirty="0"/>
              <a:t> 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205AE25-2B62-A46F-EA96-F7CE0CB853AB}"/>
              </a:ext>
            </a:extLst>
          </p:cNvPr>
          <p:cNvSpPr txBox="1"/>
          <p:nvPr/>
        </p:nvSpPr>
        <p:spPr>
          <a:xfrm>
            <a:off x="572877" y="5316149"/>
            <a:ext cx="1125923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The plot </a:t>
            </a:r>
            <a:r>
              <a:rPr lang="it-IT" dirty="0" err="1"/>
              <a:t>illustrates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the </a:t>
            </a:r>
            <a:r>
              <a:rPr lang="it-IT" b="1" dirty="0"/>
              <a:t>overall </a:t>
            </a:r>
            <a:r>
              <a:rPr lang="it-IT" b="1" dirty="0" err="1"/>
              <a:t>microbial</a:t>
            </a:r>
            <a:r>
              <a:rPr lang="it-IT" b="1" dirty="0"/>
              <a:t> </a:t>
            </a:r>
            <a:r>
              <a:rPr lang="it-IT" b="1" dirty="0" err="1"/>
              <a:t>composition</a:t>
            </a:r>
            <a:r>
              <a:rPr lang="it-IT" b="1" dirty="0"/>
              <a:t> </a:t>
            </a:r>
            <a:r>
              <a:rPr lang="it-IT" b="1" dirty="0" err="1"/>
              <a:t>is</a:t>
            </a:r>
            <a:r>
              <a:rPr lang="it-IT" b="1" dirty="0"/>
              <a:t> </a:t>
            </a:r>
            <a:r>
              <a:rPr lang="it-IT" b="1" dirty="0" err="1"/>
              <a:t>similar</a:t>
            </a:r>
            <a:r>
              <a:rPr lang="it-IT" b="1" dirty="0"/>
              <a:t> </a:t>
            </a:r>
            <a:r>
              <a:rPr lang="it-IT" b="1" dirty="0" err="1"/>
              <a:t>between</a:t>
            </a:r>
            <a:r>
              <a:rPr lang="it-IT" b="1" dirty="0"/>
              <a:t> </a:t>
            </a:r>
            <a:r>
              <a:rPr lang="it-IT" b="1" dirty="0" err="1"/>
              <a:t>female</a:t>
            </a:r>
            <a:r>
              <a:rPr lang="it-IT" b="1" dirty="0"/>
              <a:t> and male </a:t>
            </a:r>
            <a:r>
              <a:rPr lang="it-IT" b="1" dirty="0" err="1"/>
              <a:t>patients</a:t>
            </a:r>
            <a:r>
              <a:rPr lang="it-IT" dirty="0"/>
              <a:t>, with </a:t>
            </a:r>
            <a:r>
              <a:rPr lang="it-IT" dirty="0" err="1"/>
              <a:t>dominant</a:t>
            </a:r>
            <a:r>
              <a:rPr lang="it-IT" dirty="0"/>
              <a:t> genera </a:t>
            </a:r>
            <a:r>
              <a:rPr lang="it-IT" dirty="0" err="1"/>
              <a:t>such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i="1" dirty="0" err="1"/>
              <a:t>Bacteroides</a:t>
            </a:r>
            <a:r>
              <a:rPr lang="it-IT" dirty="0"/>
              <a:t>, </a:t>
            </a:r>
            <a:r>
              <a:rPr lang="it-IT" i="1" dirty="0" err="1"/>
              <a:t>Faecalibacterium</a:t>
            </a:r>
            <a:r>
              <a:rPr lang="it-IT" dirty="0"/>
              <a:t>, </a:t>
            </a:r>
            <a:r>
              <a:rPr lang="it-IT" i="1" dirty="0" err="1"/>
              <a:t>Alistipes</a:t>
            </a:r>
            <a:r>
              <a:rPr lang="it-IT" dirty="0"/>
              <a:t>, and </a:t>
            </a:r>
            <a:r>
              <a:rPr lang="it-IT" i="1" dirty="0" err="1"/>
              <a:t>Blautia</a:t>
            </a:r>
            <a:r>
              <a:rPr lang="it-IT" dirty="0"/>
              <a:t> </a:t>
            </a:r>
            <a:r>
              <a:rPr lang="it-IT" dirty="0" err="1"/>
              <a:t>consistently</a:t>
            </a:r>
            <a:r>
              <a:rPr lang="it-IT" dirty="0"/>
              <a:t> </a:t>
            </a:r>
            <a:r>
              <a:rPr lang="it-IT" dirty="0" err="1"/>
              <a:t>present</a:t>
            </a:r>
            <a:r>
              <a:rPr lang="it-IT" dirty="0"/>
              <a:t> </a:t>
            </a:r>
            <a:r>
              <a:rPr lang="it-IT" dirty="0" err="1"/>
              <a:t>across</a:t>
            </a:r>
            <a:r>
              <a:rPr lang="it-IT" dirty="0"/>
              <a:t> </a:t>
            </a:r>
            <a:r>
              <a:rPr lang="it-IT" dirty="0" err="1"/>
              <a:t>both</a:t>
            </a:r>
            <a:r>
              <a:rPr lang="it-IT" dirty="0"/>
              <a:t> groups.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visualization</a:t>
            </a:r>
            <a:r>
              <a:rPr lang="it-IT" dirty="0"/>
              <a:t> highlights </a:t>
            </a:r>
            <a:r>
              <a:rPr lang="it-IT" b="1" dirty="0" err="1"/>
              <a:t>individual</a:t>
            </a:r>
            <a:r>
              <a:rPr lang="it-IT" b="1" dirty="0"/>
              <a:t> </a:t>
            </a:r>
            <a:r>
              <a:rPr lang="it-IT" b="1" dirty="0" err="1"/>
              <a:t>variability</a:t>
            </a:r>
            <a:r>
              <a:rPr lang="it-IT" dirty="0"/>
              <a:t> </a:t>
            </a:r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b="1" dirty="0"/>
              <a:t>no clear sex‑</a:t>
            </a:r>
            <a:r>
              <a:rPr lang="it-IT" b="1" dirty="0" err="1"/>
              <a:t>related</a:t>
            </a:r>
            <a:r>
              <a:rPr lang="it-IT" b="1" dirty="0"/>
              <a:t> clustering</a:t>
            </a:r>
            <a:r>
              <a:rPr lang="it-IT" dirty="0"/>
              <a:t>, </a:t>
            </a:r>
            <a:r>
              <a:rPr lang="it-IT" dirty="0" err="1"/>
              <a:t>suggesting</a:t>
            </a:r>
            <a:r>
              <a:rPr lang="it-IT" dirty="0"/>
              <a:t> comparable microbiota </a:t>
            </a:r>
            <a:r>
              <a:rPr lang="it-IT" dirty="0" err="1"/>
              <a:t>structure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sexes.</a:t>
            </a:r>
          </a:p>
        </p:txBody>
      </p:sp>
    </p:spTree>
    <p:extLst>
      <p:ext uri="{BB962C8B-B14F-4D97-AF65-F5344CB8AC3E}">
        <p14:creationId xmlns:p14="http://schemas.microsoft.com/office/powerpoint/2010/main" val="10296901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37214D85-14AD-3279-C0F8-84D764946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990" y="339566"/>
            <a:ext cx="11094020" cy="617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9615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E714F-FFC2-E088-9458-287269081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F1D33518-2E04-936E-0BBE-882044B9D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382" y="721872"/>
            <a:ext cx="8079235" cy="4533174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5EA3845A-D2CC-342E-2573-DB0A692276F6}"/>
              </a:ext>
            </a:extLst>
          </p:cNvPr>
          <p:cNvSpPr txBox="1"/>
          <p:nvPr/>
        </p:nvSpPr>
        <p:spPr>
          <a:xfrm>
            <a:off x="716096" y="352540"/>
            <a:ext cx="5379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Microbiota </a:t>
            </a:r>
            <a:r>
              <a:rPr lang="it-IT" b="1" dirty="0" err="1"/>
              <a:t>composition</a:t>
            </a:r>
            <a:r>
              <a:rPr lang="it-IT" b="1" dirty="0"/>
              <a:t> by </a:t>
            </a:r>
            <a:r>
              <a:rPr lang="it-IT" b="1" dirty="0" err="1"/>
              <a:t>presence</a:t>
            </a:r>
            <a:r>
              <a:rPr lang="it-IT" b="1" dirty="0"/>
              <a:t> of </a:t>
            </a:r>
            <a:r>
              <a:rPr lang="it-IT" b="1" dirty="0" err="1"/>
              <a:t>lesions</a:t>
            </a:r>
            <a:r>
              <a:rPr lang="it-IT" dirty="0"/>
              <a:t> 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89929A6-39BE-BB90-4BA7-33515E3F54D5}"/>
              </a:ext>
            </a:extLst>
          </p:cNvPr>
          <p:cNvSpPr txBox="1"/>
          <p:nvPr/>
        </p:nvSpPr>
        <p:spPr>
          <a:xfrm>
            <a:off x="690848" y="5582130"/>
            <a:ext cx="108103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The plot </a:t>
            </a:r>
            <a:r>
              <a:rPr lang="it-IT" dirty="0" err="1"/>
              <a:t>reveals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the </a:t>
            </a:r>
            <a:r>
              <a:rPr lang="it-IT" b="1" dirty="0"/>
              <a:t>overall </a:t>
            </a:r>
            <a:r>
              <a:rPr lang="it-IT" b="1" dirty="0" err="1"/>
              <a:t>microbial</a:t>
            </a:r>
            <a:r>
              <a:rPr lang="it-IT" b="1" dirty="0"/>
              <a:t> </a:t>
            </a:r>
            <a:r>
              <a:rPr lang="it-IT" b="1" dirty="0" err="1"/>
              <a:t>composition</a:t>
            </a:r>
            <a:r>
              <a:rPr lang="it-IT" b="1" dirty="0"/>
              <a:t> </a:t>
            </a:r>
            <a:r>
              <a:rPr lang="it-IT" b="1" dirty="0" err="1"/>
              <a:t>is</a:t>
            </a:r>
            <a:r>
              <a:rPr lang="it-IT" b="1" dirty="0"/>
              <a:t> </a:t>
            </a:r>
            <a:r>
              <a:rPr lang="it-IT" b="1" dirty="0" err="1"/>
              <a:t>similar</a:t>
            </a:r>
            <a:r>
              <a:rPr lang="it-IT" b="1" dirty="0"/>
              <a:t> </a:t>
            </a:r>
            <a:r>
              <a:rPr lang="it-IT" b="1" dirty="0" err="1"/>
              <a:t>between</a:t>
            </a:r>
            <a:r>
              <a:rPr lang="it-IT" b="1" dirty="0"/>
              <a:t> </a:t>
            </a:r>
            <a:r>
              <a:rPr lang="it-IT" b="1" dirty="0" err="1"/>
              <a:t>patients</a:t>
            </a:r>
            <a:r>
              <a:rPr lang="it-IT" b="1" dirty="0"/>
              <a:t> with and </a:t>
            </a:r>
            <a:r>
              <a:rPr lang="it-IT" b="1" dirty="0" err="1"/>
              <a:t>without</a:t>
            </a:r>
            <a:r>
              <a:rPr lang="it-IT" b="1" dirty="0"/>
              <a:t> </a:t>
            </a:r>
            <a:r>
              <a:rPr lang="it-IT" b="1" dirty="0" err="1"/>
              <a:t>lesions</a:t>
            </a:r>
            <a:r>
              <a:rPr lang="it-IT" dirty="0"/>
              <a:t>, with </a:t>
            </a:r>
            <a:r>
              <a:rPr lang="it-IT" dirty="0" err="1"/>
              <a:t>dominant</a:t>
            </a:r>
            <a:r>
              <a:rPr lang="it-IT" dirty="0"/>
              <a:t> genera </a:t>
            </a:r>
            <a:r>
              <a:rPr lang="it-IT" dirty="0" err="1"/>
              <a:t>such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i="1" dirty="0" err="1"/>
              <a:t>Bacteroides</a:t>
            </a:r>
            <a:r>
              <a:rPr lang="it-IT" dirty="0"/>
              <a:t>, </a:t>
            </a:r>
            <a:r>
              <a:rPr lang="it-IT" i="1" dirty="0" err="1"/>
              <a:t>Faecalibacterium</a:t>
            </a:r>
            <a:r>
              <a:rPr lang="it-IT" dirty="0"/>
              <a:t>, </a:t>
            </a:r>
            <a:r>
              <a:rPr lang="it-IT" i="1" dirty="0" err="1"/>
              <a:t>Alistipes</a:t>
            </a:r>
            <a:r>
              <a:rPr lang="it-IT" dirty="0"/>
              <a:t>, and </a:t>
            </a:r>
            <a:r>
              <a:rPr lang="it-IT" i="1" dirty="0" err="1"/>
              <a:t>Blautia</a:t>
            </a:r>
            <a:r>
              <a:rPr lang="it-IT" dirty="0"/>
              <a:t> </a:t>
            </a:r>
            <a:r>
              <a:rPr lang="it-IT" dirty="0" err="1"/>
              <a:t>consistently</a:t>
            </a:r>
            <a:r>
              <a:rPr lang="it-IT" dirty="0"/>
              <a:t> </a:t>
            </a:r>
            <a:r>
              <a:rPr lang="it-IT" dirty="0" err="1"/>
              <a:t>represented</a:t>
            </a:r>
            <a:r>
              <a:rPr lang="it-IT" dirty="0"/>
              <a:t> in </a:t>
            </a:r>
            <a:r>
              <a:rPr lang="it-IT" dirty="0" err="1"/>
              <a:t>both</a:t>
            </a:r>
            <a:r>
              <a:rPr lang="it-IT" dirty="0"/>
              <a:t> groups.</a:t>
            </a:r>
          </a:p>
        </p:txBody>
      </p:sp>
    </p:spTree>
    <p:extLst>
      <p:ext uri="{BB962C8B-B14F-4D97-AF65-F5344CB8AC3E}">
        <p14:creationId xmlns:p14="http://schemas.microsoft.com/office/powerpoint/2010/main" val="11742524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EBB479E9-66E8-E483-E4A1-EE765EE20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515" y="339566"/>
            <a:ext cx="11074969" cy="617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531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5B948-48EF-1D6C-614F-1F6037E11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10B75BC5-679D-4E76-F53E-F8F5978A0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755" y="832904"/>
            <a:ext cx="8348490" cy="4689944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185A02E3-0E97-FFDC-7088-DB47AAD14FA9}"/>
              </a:ext>
            </a:extLst>
          </p:cNvPr>
          <p:cNvSpPr txBox="1"/>
          <p:nvPr/>
        </p:nvSpPr>
        <p:spPr>
          <a:xfrm>
            <a:off x="418641" y="319489"/>
            <a:ext cx="5677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Microbiota </a:t>
            </a:r>
            <a:r>
              <a:rPr lang="it-IT" b="1" dirty="0" err="1"/>
              <a:t>composition</a:t>
            </a:r>
            <a:r>
              <a:rPr lang="it-IT" b="1" dirty="0"/>
              <a:t> by relapse status</a:t>
            </a:r>
            <a:r>
              <a:rPr lang="it-IT" dirty="0"/>
              <a:t> 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B0AF050-AA96-149B-B605-B89859CA75ED}"/>
              </a:ext>
            </a:extLst>
          </p:cNvPr>
          <p:cNvSpPr txBox="1"/>
          <p:nvPr/>
        </p:nvSpPr>
        <p:spPr>
          <a:xfrm>
            <a:off x="418640" y="5615181"/>
            <a:ext cx="1154567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The plot </a:t>
            </a:r>
            <a:r>
              <a:rPr lang="it-IT" dirty="0" err="1"/>
              <a:t>indicates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the </a:t>
            </a:r>
            <a:r>
              <a:rPr lang="it-IT" b="1" dirty="0"/>
              <a:t>overall </a:t>
            </a:r>
            <a:r>
              <a:rPr lang="it-IT" b="1" dirty="0" err="1"/>
              <a:t>microbial</a:t>
            </a:r>
            <a:r>
              <a:rPr lang="it-IT" b="1" dirty="0"/>
              <a:t> </a:t>
            </a:r>
            <a:r>
              <a:rPr lang="it-IT" b="1" dirty="0" err="1"/>
              <a:t>composition</a:t>
            </a:r>
            <a:r>
              <a:rPr lang="it-IT" b="1" dirty="0"/>
              <a:t> </a:t>
            </a:r>
            <a:r>
              <a:rPr lang="it-IT" b="1" dirty="0" err="1"/>
              <a:t>is</a:t>
            </a:r>
            <a:r>
              <a:rPr lang="it-IT" b="1" dirty="0"/>
              <a:t> </a:t>
            </a:r>
            <a:r>
              <a:rPr lang="it-IT" b="1" dirty="0" err="1"/>
              <a:t>similar</a:t>
            </a:r>
            <a:r>
              <a:rPr lang="it-IT" b="1" dirty="0"/>
              <a:t> </a:t>
            </a:r>
            <a:r>
              <a:rPr lang="it-IT" b="1" dirty="0" err="1"/>
              <a:t>between</a:t>
            </a:r>
            <a:r>
              <a:rPr lang="it-IT" b="1" dirty="0"/>
              <a:t> </a:t>
            </a:r>
            <a:r>
              <a:rPr lang="it-IT" b="1" dirty="0" err="1"/>
              <a:t>patients</a:t>
            </a:r>
            <a:r>
              <a:rPr lang="it-IT" b="1" dirty="0"/>
              <a:t> with and </a:t>
            </a:r>
            <a:r>
              <a:rPr lang="it-IT" b="1" dirty="0" err="1"/>
              <a:t>without</a:t>
            </a:r>
            <a:r>
              <a:rPr lang="it-IT" b="1" dirty="0"/>
              <a:t> relapse</a:t>
            </a:r>
            <a:r>
              <a:rPr lang="it-IT" dirty="0"/>
              <a:t>, with </a:t>
            </a:r>
            <a:r>
              <a:rPr lang="it-IT" dirty="0" err="1"/>
              <a:t>dominant</a:t>
            </a:r>
            <a:r>
              <a:rPr lang="it-IT" dirty="0"/>
              <a:t> genera </a:t>
            </a:r>
            <a:r>
              <a:rPr lang="it-IT" dirty="0" err="1"/>
              <a:t>such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i="1" dirty="0" err="1"/>
              <a:t>Bacteroides</a:t>
            </a:r>
            <a:r>
              <a:rPr lang="it-IT" dirty="0"/>
              <a:t>, </a:t>
            </a:r>
            <a:r>
              <a:rPr lang="it-IT" i="1" dirty="0" err="1"/>
              <a:t>Faecalibacterium</a:t>
            </a:r>
            <a:r>
              <a:rPr lang="it-IT" dirty="0"/>
              <a:t>, </a:t>
            </a:r>
            <a:r>
              <a:rPr lang="it-IT" i="1" dirty="0" err="1"/>
              <a:t>Alistipes</a:t>
            </a:r>
            <a:r>
              <a:rPr lang="it-IT" dirty="0"/>
              <a:t>, and </a:t>
            </a:r>
            <a:r>
              <a:rPr lang="it-IT" i="1" dirty="0" err="1"/>
              <a:t>Blautia</a:t>
            </a:r>
            <a:r>
              <a:rPr lang="it-IT" dirty="0"/>
              <a:t> </a:t>
            </a:r>
            <a:r>
              <a:rPr lang="it-IT" dirty="0" err="1"/>
              <a:t>consistently</a:t>
            </a:r>
            <a:r>
              <a:rPr lang="it-IT" dirty="0"/>
              <a:t> </a:t>
            </a:r>
            <a:r>
              <a:rPr lang="it-IT" dirty="0" err="1"/>
              <a:t>represented</a:t>
            </a:r>
            <a:r>
              <a:rPr lang="it-IT" dirty="0"/>
              <a:t> </a:t>
            </a:r>
            <a:r>
              <a:rPr lang="it-IT" dirty="0" err="1"/>
              <a:t>across</a:t>
            </a:r>
            <a:r>
              <a:rPr lang="it-IT" dirty="0"/>
              <a:t> </a:t>
            </a:r>
            <a:r>
              <a:rPr lang="it-IT" dirty="0" err="1"/>
              <a:t>both</a:t>
            </a:r>
            <a:r>
              <a:rPr lang="it-IT" dirty="0"/>
              <a:t> groups.</a:t>
            </a:r>
          </a:p>
        </p:txBody>
      </p:sp>
    </p:spTree>
    <p:extLst>
      <p:ext uri="{BB962C8B-B14F-4D97-AF65-F5344CB8AC3E}">
        <p14:creationId xmlns:p14="http://schemas.microsoft.com/office/powerpoint/2010/main" val="9529162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15EEA052-6FC2-82D2-88AB-F2ACC8F7C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515" y="352267"/>
            <a:ext cx="11074969" cy="6153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6783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D037A-EB6E-1492-28BD-C90E98C9A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8710D7CB-C43F-3683-7FF6-A132F448A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7077" y="810007"/>
            <a:ext cx="7817845" cy="4376294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32084EF-E307-DBFD-47E7-04598477F110}"/>
              </a:ext>
            </a:extLst>
          </p:cNvPr>
          <p:cNvSpPr txBox="1"/>
          <p:nvPr/>
        </p:nvSpPr>
        <p:spPr>
          <a:xfrm>
            <a:off x="242370" y="440675"/>
            <a:ext cx="5244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Microbiota </a:t>
            </a:r>
            <a:r>
              <a:rPr lang="it-IT" b="1" dirty="0" err="1"/>
              <a:t>composition</a:t>
            </a:r>
            <a:r>
              <a:rPr lang="it-IT" b="1" dirty="0"/>
              <a:t> by cortisone use</a:t>
            </a:r>
            <a:r>
              <a:rPr lang="it-IT" dirty="0"/>
              <a:t> 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887BA2C-9955-7D24-8A08-FCC6CD9970F9}"/>
              </a:ext>
            </a:extLst>
          </p:cNvPr>
          <p:cNvSpPr txBox="1"/>
          <p:nvPr/>
        </p:nvSpPr>
        <p:spPr>
          <a:xfrm>
            <a:off x="602713" y="5384605"/>
            <a:ext cx="109865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The plot </a:t>
            </a:r>
            <a:r>
              <a:rPr lang="it-IT" dirty="0" err="1"/>
              <a:t>reveals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the </a:t>
            </a:r>
            <a:r>
              <a:rPr lang="it-IT" b="1" dirty="0"/>
              <a:t>overall </a:t>
            </a:r>
            <a:r>
              <a:rPr lang="it-IT" b="1" dirty="0" err="1"/>
              <a:t>microbial</a:t>
            </a:r>
            <a:r>
              <a:rPr lang="it-IT" b="1" dirty="0"/>
              <a:t> </a:t>
            </a:r>
            <a:r>
              <a:rPr lang="it-IT" b="1" dirty="0" err="1"/>
              <a:t>composition</a:t>
            </a:r>
            <a:r>
              <a:rPr lang="it-IT" b="1" dirty="0"/>
              <a:t> </a:t>
            </a:r>
            <a:r>
              <a:rPr lang="it-IT" b="1" dirty="0" err="1"/>
              <a:t>remains</a:t>
            </a:r>
            <a:r>
              <a:rPr lang="it-IT" b="1" dirty="0"/>
              <a:t> </a:t>
            </a:r>
            <a:r>
              <a:rPr lang="it-IT" b="1" dirty="0" err="1"/>
              <a:t>similar</a:t>
            </a:r>
            <a:r>
              <a:rPr lang="it-IT" b="1" dirty="0"/>
              <a:t> </a:t>
            </a:r>
            <a:r>
              <a:rPr lang="it-IT" b="1" dirty="0" err="1"/>
              <a:t>across</a:t>
            </a:r>
            <a:r>
              <a:rPr lang="it-IT" b="1" dirty="0"/>
              <a:t> </a:t>
            </a:r>
            <a:r>
              <a:rPr lang="it-IT" b="1" dirty="0" err="1"/>
              <a:t>different</a:t>
            </a:r>
            <a:r>
              <a:rPr lang="it-IT" b="1" dirty="0"/>
              <a:t> </a:t>
            </a:r>
            <a:r>
              <a:rPr lang="it-IT" b="1" dirty="0" err="1"/>
              <a:t>levels</a:t>
            </a:r>
            <a:r>
              <a:rPr lang="it-IT" b="1" dirty="0"/>
              <a:t> of cortisone </a:t>
            </a:r>
            <a:r>
              <a:rPr lang="it-IT" b="1" dirty="0" err="1"/>
              <a:t>exposure</a:t>
            </a:r>
            <a:r>
              <a:rPr lang="it-IT" dirty="0"/>
              <a:t>, with </a:t>
            </a:r>
            <a:r>
              <a:rPr lang="it-IT" dirty="0" err="1"/>
              <a:t>dominant</a:t>
            </a:r>
            <a:r>
              <a:rPr lang="it-IT" dirty="0"/>
              <a:t> genera </a:t>
            </a:r>
            <a:r>
              <a:rPr lang="it-IT" dirty="0" err="1"/>
              <a:t>such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i="1" dirty="0" err="1"/>
              <a:t>Bacteroides</a:t>
            </a:r>
            <a:r>
              <a:rPr lang="it-IT" dirty="0"/>
              <a:t>, </a:t>
            </a:r>
            <a:r>
              <a:rPr lang="it-IT" i="1" dirty="0" err="1"/>
              <a:t>Faecalibacterium</a:t>
            </a:r>
            <a:r>
              <a:rPr lang="it-IT" dirty="0"/>
              <a:t>, </a:t>
            </a:r>
            <a:r>
              <a:rPr lang="it-IT" i="1" dirty="0" err="1"/>
              <a:t>Alistipes</a:t>
            </a:r>
            <a:r>
              <a:rPr lang="it-IT" dirty="0"/>
              <a:t>, and </a:t>
            </a:r>
            <a:r>
              <a:rPr lang="it-IT" i="1" dirty="0" err="1"/>
              <a:t>Blautia</a:t>
            </a:r>
            <a:r>
              <a:rPr lang="it-IT" dirty="0"/>
              <a:t> </a:t>
            </a:r>
            <a:r>
              <a:rPr lang="it-IT" dirty="0" err="1"/>
              <a:t>consistently</a:t>
            </a:r>
            <a:r>
              <a:rPr lang="it-IT" dirty="0"/>
              <a:t> </a:t>
            </a:r>
            <a:r>
              <a:rPr lang="it-IT" dirty="0" err="1"/>
              <a:t>represented</a:t>
            </a:r>
            <a:r>
              <a:rPr lang="it-IT" dirty="0"/>
              <a:t> in </a:t>
            </a:r>
            <a:r>
              <a:rPr lang="it-IT" dirty="0" err="1"/>
              <a:t>all</a:t>
            </a:r>
            <a:r>
              <a:rPr lang="it-IT" dirty="0"/>
              <a:t> groups.</a:t>
            </a:r>
          </a:p>
        </p:txBody>
      </p:sp>
    </p:spTree>
    <p:extLst>
      <p:ext uri="{BB962C8B-B14F-4D97-AF65-F5344CB8AC3E}">
        <p14:creationId xmlns:p14="http://schemas.microsoft.com/office/powerpoint/2010/main" val="175090130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C28A48DE-D884-F359-7C92-B2B861AA0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639" y="320515"/>
            <a:ext cx="11106721" cy="6216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97612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58954-C73B-1EC6-3CB1-08DDCFB6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1E0BAB8D-65C8-0D2C-EF92-1026DA30C1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45"/>
          <a:stretch>
            <a:fillRect/>
          </a:stretch>
        </p:blipFill>
        <p:spPr>
          <a:xfrm>
            <a:off x="2087925" y="833938"/>
            <a:ext cx="8016148" cy="4359127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583C117D-4FEB-9860-9A44-9320AAB882C1}"/>
              </a:ext>
            </a:extLst>
          </p:cNvPr>
          <p:cNvSpPr txBox="1"/>
          <p:nvPr/>
        </p:nvSpPr>
        <p:spPr>
          <a:xfrm>
            <a:off x="572876" y="330506"/>
            <a:ext cx="5523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Microbiota </a:t>
            </a:r>
            <a:r>
              <a:rPr lang="it-IT" b="1" dirty="0" err="1"/>
              <a:t>composition</a:t>
            </a:r>
            <a:r>
              <a:rPr lang="it-IT" b="1" dirty="0"/>
              <a:t> by therapy </a:t>
            </a:r>
            <a:r>
              <a:rPr lang="it-IT" b="1" dirty="0" err="1"/>
              <a:t>change</a:t>
            </a:r>
            <a:r>
              <a:rPr lang="it-IT" dirty="0"/>
              <a:t> 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F121D5C-42CE-52AB-E5A0-2C36D2E5EEFA}"/>
              </a:ext>
            </a:extLst>
          </p:cNvPr>
          <p:cNvSpPr txBox="1"/>
          <p:nvPr/>
        </p:nvSpPr>
        <p:spPr>
          <a:xfrm>
            <a:off x="339226" y="5327165"/>
            <a:ext cx="115135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The plot </a:t>
            </a:r>
            <a:r>
              <a:rPr lang="it-IT" dirty="0" err="1"/>
              <a:t>indicates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the </a:t>
            </a:r>
            <a:r>
              <a:rPr lang="it-IT" b="1" dirty="0"/>
              <a:t>overall </a:t>
            </a:r>
            <a:r>
              <a:rPr lang="it-IT" b="1" dirty="0" err="1"/>
              <a:t>microbial</a:t>
            </a:r>
            <a:r>
              <a:rPr lang="it-IT" b="1" dirty="0"/>
              <a:t> </a:t>
            </a:r>
            <a:r>
              <a:rPr lang="it-IT" b="1" dirty="0" err="1"/>
              <a:t>composition</a:t>
            </a:r>
            <a:r>
              <a:rPr lang="it-IT" b="1" dirty="0"/>
              <a:t> </a:t>
            </a:r>
            <a:r>
              <a:rPr lang="it-IT" b="1" dirty="0" err="1"/>
              <a:t>is</a:t>
            </a:r>
            <a:r>
              <a:rPr lang="it-IT" b="1" dirty="0"/>
              <a:t> </a:t>
            </a:r>
            <a:r>
              <a:rPr lang="it-IT" b="1" dirty="0" err="1"/>
              <a:t>similar</a:t>
            </a:r>
            <a:r>
              <a:rPr lang="it-IT" b="1" dirty="0"/>
              <a:t> </a:t>
            </a:r>
            <a:r>
              <a:rPr lang="it-IT" b="1" dirty="0" err="1"/>
              <a:t>across</a:t>
            </a:r>
            <a:r>
              <a:rPr lang="it-IT" b="1" dirty="0"/>
              <a:t> groups</a:t>
            </a:r>
            <a:r>
              <a:rPr lang="it-IT" dirty="0"/>
              <a:t>, with </a:t>
            </a:r>
            <a:r>
              <a:rPr lang="it-IT" dirty="0" err="1"/>
              <a:t>dominant</a:t>
            </a:r>
            <a:r>
              <a:rPr lang="it-IT" dirty="0"/>
              <a:t> genera </a:t>
            </a:r>
            <a:r>
              <a:rPr lang="it-IT" dirty="0" err="1"/>
              <a:t>such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i="1" dirty="0" err="1"/>
              <a:t>Bacteroides</a:t>
            </a:r>
            <a:r>
              <a:rPr lang="it-IT" dirty="0"/>
              <a:t>, </a:t>
            </a:r>
            <a:r>
              <a:rPr lang="it-IT" i="1" dirty="0" err="1"/>
              <a:t>Faecalibacterium</a:t>
            </a:r>
            <a:r>
              <a:rPr lang="it-IT" dirty="0"/>
              <a:t>, </a:t>
            </a:r>
            <a:r>
              <a:rPr lang="it-IT" i="1" dirty="0" err="1"/>
              <a:t>Alistipes</a:t>
            </a:r>
            <a:r>
              <a:rPr lang="it-IT" dirty="0"/>
              <a:t>, and </a:t>
            </a:r>
            <a:r>
              <a:rPr lang="it-IT" i="1" dirty="0" err="1"/>
              <a:t>Blautia</a:t>
            </a:r>
            <a:r>
              <a:rPr lang="it-IT" dirty="0"/>
              <a:t> </a:t>
            </a:r>
            <a:r>
              <a:rPr lang="it-IT" dirty="0" err="1"/>
              <a:t>consistently</a:t>
            </a:r>
            <a:r>
              <a:rPr lang="it-IT" dirty="0"/>
              <a:t> </a:t>
            </a:r>
            <a:r>
              <a:rPr lang="it-IT" dirty="0" err="1"/>
              <a:t>represented</a:t>
            </a:r>
            <a:r>
              <a:rPr lang="it-IT" dirty="0"/>
              <a:t>. </a:t>
            </a:r>
            <a:r>
              <a:rPr lang="it-IT" dirty="0" err="1"/>
              <a:t>Patients</a:t>
            </a:r>
            <a:r>
              <a:rPr lang="it-IT" dirty="0"/>
              <a:t> </a:t>
            </a:r>
            <a:r>
              <a:rPr lang="it-IT" dirty="0" err="1"/>
              <a:t>who</a:t>
            </a:r>
            <a:r>
              <a:rPr lang="it-IT" dirty="0"/>
              <a:t> </a:t>
            </a:r>
            <a:r>
              <a:rPr lang="it-IT" dirty="0" err="1"/>
              <a:t>changed</a:t>
            </a:r>
            <a:r>
              <a:rPr lang="it-IT" dirty="0"/>
              <a:t> therapy (group 1) show </a:t>
            </a:r>
            <a:r>
              <a:rPr lang="it-IT" b="1" dirty="0" err="1"/>
              <a:t>slightly</a:t>
            </a:r>
            <a:r>
              <a:rPr lang="it-IT" b="1" dirty="0"/>
              <a:t> </a:t>
            </a:r>
            <a:r>
              <a:rPr lang="it-IT" b="1" dirty="0" err="1"/>
              <a:t>higher</a:t>
            </a:r>
            <a:r>
              <a:rPr lang="it-IT" b="1" dirty="0"/>
              <a:t> </a:t>
            </a:r>
            <a:r>
              <a:rPr lang="it-IT" b="1" dirty="0" err="1"/>
              <a:t>variability</a:t>
            </a:r>
            <a:r>
              <a:rPr lang="it-IT" dirty="0"/>
              <a:t> in </a:t>
            </a:r>
            <a:r>
              <a:rPr lang="it-IT" dirty="0" err="1"/>
              <a:t>genus</a:t>
            </a:r>
            <a:r>
              <a:rPr lang="it-IT" dirty="0"/>
              <a:t> </a:t>
            </a:r>
            <a:r>
              <a:rPr lang="it-IT" dirty="0" err="1"/>
              <a:t>proportions</a:t>
            </a:r>
            <a:r>
              <a:rPr lang="it-IT" dirty="0"/>
              <a:t>, </a:t>
            </a:r>
            <a:r>
              <a:rPr lang="it-IT" dirty="0" err="1"/>
              <a:t>suggesting</a:t>
            </a:r>
            <a:r>
              <a:rPr lang="it-IT" dirty="0"/>
              <a:t> </a:t>
            </a:r>
            <a:r>
              <a:rPr lang="it-IT" b="1" dirty="0" err="1"/>
              <a:t>possible</a:t>
            </a:r>
            <a:r>
              <a:rPr lang="it-IT" b="1" dirty="0"/>
              <a:t> </a:t>
            </a:r>
            <a:r>
              <a:rPr lang="it-IT" b="1" dirty="0" err="1"/>
              <a:t>instability</a:t>
            </a:r>
            <a:r>
              <a:rPr lang="it-IT" b="1" dirty="0"/>
              <a:t> or </a:t>
            </a:r>
            <a:r>
              <a:rPr lang="it-IT" b="1" dirty="0" err="1"/>
              <a:t>altered</a:t>
            </a:r>
            <a:r>
              <a:rPr lang="it-IT" b="1" dirty="0"/>
              <a:t> </a:t>
            </a:r>
            <a:r>
              <a:rPr lang="it-IT" b="1" dirty="0" err="1"/>
              <a:t>microbial</a:t>
            </a:r>
            <a:r>
              <a:rPr lang="it-IT" b="1" dirty="0"/>
              <a:t> balance</a:t>
            </a:r>
            <a:r>
              <a:rPr lang="it-IT" dirty="0"/>
              <a:t> </a:t>
            </a:r>
            <a:r>
              <a:rPr lang="it-IT" dirty="0" err="1"/>
              <a:t>associated</a:t>
            </a:r>
            <a:r>
              <a:rPr lang="it-IT" dirty="0"/>
              <a:t> with treatment </a:t>
            </a:r>
            <a:r>
              <a:rPr lang="it-IT" dirty="0" err="1"/>
              <a:t>inefficacy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6115092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536458C6-97C1-3B8A-1432-DAE592FEA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990" y="323690"/>
            <a:ext cx="11094020" cy="6210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8903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9742A-A342-7066-1944-CF08334BF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259905AB-DC6D-86E1-E404-8168DAF3E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700" y="758785"/>
            <a:ext cx="7886599" cy="4441175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80CA0949-5DBF-C1E8-0E01-28DCD92B6276}"/>
              </a:ext>
            </a:extLst>
          </p:cNvPr>
          <p:cNvSpPr txBox="1"/>
          <p:nvPr/>
        </p:nvSpPr>
        <p:spPr>
          <a:xfrm>
            <a:off x="738130" y="242371"/>
            <a:ext cx="4913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Microbiota </a:t>
            </a:r>
            <a:r>
              <a:rPr lang="it-IT" b="1" dirty="0" err="1"/>
              <a:t>composition</a:t>
            </a:r>
            <a:r>
              <a:rPr lang="it-IT" b="1" dirty="0"/>
              <a:t> by naïve status</a:t>
            </a:r>
            <a:r>
              <a:rPr lang="it-IT" dirty="0"/>
              <a:t> 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7F396F5-BEEE-40CC-88F0-6DCA9AC3D206}"/>
              </a:ext>
            </a:extLst>
          </p:cNvPr>
          <p:cNvSpPr txBox="1"/>
          <p:nvPr/>
        </p:nvSpPr>
        <p:spPr>
          <a:xfrm>
            <a:off x="751442" y="5420219"/>
            <a:ext cx="106891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The plot </a:t>
            </a:r>
            <a:r>
              <a:rPr lang="it-IT" dirty="0" err="1"/>
              <a:t>indicates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the </a:t>
            </a:r>
            <a:r>
              <a:rPr lang="it-IT" b="1" dirty="0"/>
              <a:t>overall </a:t>
            </a:r>
            <a:r>
              <a:rPr lang="it-IT" b="1" dirty="0" err="1"/>
              <a:t>microbial</a:t>
            </a:r>
            <a:r>
              <a:rPr lang="it-IT" b="1" dirty="0"/>
              <a:t> </a:t>
            </a:r>
            <a:r>
              <a:rPr lang="it-IT" b="1" dirty="0" err="1"/>
              <a:t>composition</a:t>
            </a:r>
            <a:r>
              <a:rPr lang="it-IT" b="1" dirty="0"/>
              <a:t> </a:t>
            </a:r>
            <a:r>
              <a:rPr lang="it-IT" b="1" dirty="0" err="1"/>
              <a:t>is</a:t>
            </a:r>
            <a:r>
              <a:rPr lang="it-IT" b="1" dirty="0"/>
              <a:t> comparable </a:t>
            </a:r>
            <a:r>
              <a:rPr lang="it-IT" b="1" dirty="0" err="1"/>
              <a:t>between</a:t>
            </a:r>
            <a:r>
              <a:rPr lang="it-IT" b="1" dirty="0"/>
              <a:t> naïve and non‑naïve </a:t>
            </a:r>
            <a:r>
              <a:rPr lang="it-IT" b="1" dirty="0" err="1"/>
              <a:t>patients</a:t>
            </a:r>
            <a:r>
              <a:rPr lang="it-IT" dirty="0"/>
              <a:t>, with </a:t>
            </a:r>
            <a:r>
              <a:rPr lang="it-IT" dirty="0" err="1"/>
              <a:t>dominant</a:t>
            </a:r>
            <a:r>
              <a:rPr lang="it-IT" dirty="0"/>
              <a:t> genera </a:t>
            </a:r>
            <a:r>
              <a:rPr lang="it-IT" dirty="0" err="1"/>
              <a:t>such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i="1" dirty="0" err="1"/>
              <a:t>Bacteroides</a:t>
            </a:r>
            <a:r>
              <a:rPr lang="it-IT" dirty="0"/>
              <a:t>, </a:t>
            </a:r>
            <a:r>
              <a:rPr lang="it-IT" i="1" dirty="0" err="1"/>
              <a:t>Faecalibacterium</a:t>
            </a:r>
            <a:r>
              <a:rPr lang="it-IT" dirty="0"/>
              <a:t>, </a:t>
            </a:r>
            <a:r>
              <a:rPr lang="it-IT" i="1" dirty="0" err="1"/>
              <a:t>Alistipes</a:t>
            </a:r>
            <a:r>
              <a:rPr lang="it-IT" dirty="0"/>
              <a:t>, and </a:t>
            </a:r>
            <a:r>
              <a:rPr lang="it-IT" i="1" dirty="0" err="1"/>
              <a:t>Blautia</a:t>
            </a:r>
            <a:r>
              <a:rPr lang="it-IT" dirty="0"/>
              <a:t> </a:t>
            </a:r>
            <a:r>
              <a:rPr lang="it-IT" dirty="0" err="1"/>
              <a:t>consistently</a:t>
            </a:r>
            <a:r>
              <a:rPr lang="it-IT" dirty="0"/>
              <a:t> </a:t>
            </a:r>
            <a:r>
              <a:rPr lang="it-IT" dirty="0" err="1"/>
              <a:t>represented</a:t>
            </a:r>
            <a:r>
              <a:rPr lang="it-IT" dirty="0"/>
              <a:t> </a:t>
            </a:r>
            <a:r>
              <a:rPr lang="it-IT" dirty="0" err="1"/>
              <a:t>across</a:t>
            </a:r>
            <a:r>
              <a:rPr lang="it-IT" dirty="0"/>
              <a:t> </a:t>
            </a:r>
            <a:r>
              <a:rPr lang="it-IT" dirty="0" err="1"/>
              <a:t>both</a:t>
            </a:r>
            <a:r>
              <a:rPr lang="it-IT" dirty="0"/>
              <a:t> groups.</a:t>
            </a:r>
          </a:p>
        </p:txBody>
      </p:sp>
    </p:spTree>
    <p:extLst>
      <p:ext uri="{BB962C8B-B14F-4D97-AF65-F5344CB8AC3E}">
        <p14:creationId xmlns:p14="http://schemas.microsoft.com/office/powerpoint/2010/main" val="42588017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E1ECFD45-6957-B1F3-ED9F-097FC184B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64" y="314165"/>
            <a:ext cx="11113071" cy="622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71857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D1FF3-CBC9-A637-C010-5B54A18CF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DB14864E-8F72-A027-681B-8DC0E0D71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566" y="743905"/>
            <a:ext cx="8178868" cy="4531194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B8358E-3AFD-7AB8-00FB-9D2DFD12683B}"/>
              </a:ext>
            </a:extLst>
          </p:cNvPr>
          <p:cNvSpPr txBox="1"/>
          <p:nvPr/>
        </p:nvSpPr>
        <p:spPr>
          <a:xfrm>
            <a:off x="407624" y="374573"/>
            <a:ext cx="4472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Microbiota </a:t>
            </a:r>
            <a:r>
              <a:rPr lang="it-IT" b="1" dirty="0" err="1"/>
              <a:t>composition</a:t>
            </a:r>
            <a:r>
              <a:rPr lang="it-IT" b="1" dirty="0"/>
              <a:t> by smoking </a:t>
            </a:r>
            <a:r>
              <a:rPr lang="it-IT" b="1" dirty="0" err="1"/>
              <a:t>habit</a:t>
            </a:r>
            <a:r>
              <a:rPr lang="it-IT" dirty="0"/>
              <a:t> 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325E39D-6D6D-B6A1-4BD0-13E6E258DA8A}"/>
              </a:ext>
            </a:extLst>
          </p:cNvPr>
          <p:cNvSpPr txBox="1"/>
          <p:nvPr/>
        </p:nvSpPr>
        <p:spPr>
          <a:xfrm>
            <a:off x="525595" y="5443204"/>
            <a:ext cx="1114080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The plot </a:t>
            </a:r>
            <a:r>
              <a:rPr lang="it-IT" dirty="0" err="1"/>
              <a:t>indicates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the </a:t>
            </a:r>
            <a:r>
              <a:rPr lang="it-IT" b="1" dirty="0"/>
              <a:t>overall </a:t>
            </a:r>
            <a:r>
              <a:rPr lang="it-IT" b="1" dirty="0" err="1"/>
              <a:t>microbial</a:t>
            </a:r>
            <a:r>
              <a:rPr lang="it-IT" b="1" dirty="0"/>
              <a:t> </a:t>
            </a:r>
            <a:r>
              <a:rPr lang="it-IT" b="1" dirty="0" err="1"/>
              <a:t>composition</a:t>
            </a:r>
            <a:r>
              <a:rPr lang="it-IT" b="1" dirty="0"/>
              <a:t> </a:t>
            </a:r>
            <a:r>
              <a:rPr lang="it-IT" b="1" dirty="0" err="1"/>
              <a:t>is</a:t>
            </a:r>
            <a:r>
              <a:rPr lang="it-IT" b="1" dirty="0"/>
              <a:t> comparable </a:t>
            </a:r>
            <a:r>
              <a:rPr lang="it-IT" b="1" dirty="0" err="1"/>
              <a:t>between</a:t>
            </a:r>
            <a:r>
              <a:rPr lang="it-IT" b="1" dirty="0"/>
              <a:t> </a:t>
            </a:r>
            <a:r>
              <a:rPr lang="it-IT" b="1" dirty="0" err="1"/>
              <a:t>smokers</a:t>
            </a:r>
            <a:r>
              <a:rPr lang="it-IT" b="1" dirty="0"/>
              <a:t> and non‑</a:t>
            </a:r>
            <a:r>
              <a:rPr lang="it-IT" b="1" dirty="0" err="1"/>
              <a:t>smokers</a:t>
            </a:r>
            <a:r>
              <a:rPr lang="it-IT" dirty="0"/>
              <a:t>, with </a:t>
            </a:r>
            <a:r>
              <a:rPr lang="it-IT" dirty="0" err="1"/>
              <a:t>dominant</a:t>
            </a:r>
            <a:r>
              <a:rPr lang="it-IT" dirty="0"/>
              <a:t> genera </a:t>
            </a:r>
            <a:r>
              <a:rPr lang="it-IT" dirty="0" err="1"/>
              <a:t>such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i="1" dirty="0" err="1"/>
              <a:t>Bacteroides</a:t>
            </a:r>
            <a:r>
              <a:rPr lang="it-IT" dirty="0"/>
              <a:t>, </a:t>
            </a:r>
            <a:r>
              <a:rPr lang="it-IT" i="1" dirty="0" err="1"/>
              <a:t>Faecalibacterium</a:t>
            </a:r>
            <a:r>
              <a:rPr lang="it-IT" dirty="0"/>
              <a:t>, </a:t>
            </a:r>
            <a:r>
              <a:rPr lang="it-IT" i="1" dirty="0" err="1"/>
              <a:t>Alistipes</a:t>
            </a:r>
            <a:r>
              <a:rPr lang="it-IT" dirty="0"/>
              <a:t>, and </a:t>
            </a:r>
            <a:r>
              <a:rPr lang="it-IT" i="1" dirty="0" err="1"/>
              <a:t>Blautia</a:t>
            </a:r>
            <a:r>
              <a:rPr lang="it-IT" dirty="0"/>
              <a:t> </a:t>
            </a:r>
            <a:r>
              <a:rPr lang="it-IT" dirty="0" err="1"/>
              <a:t>consistently</a:t>
            </a:r>
            <a:r>
              <a:rPr lang="it-IT" dirty="0"/>
              <a:t> </a:t>
            </a:r>
            <a:r>
              <a:rPr lang="it-IT" dirty="0" err="1"/>
              <a:t>represented</a:t>
            </a:r>
            <a:r>
              <a:rPr lang="it-IT" dirty="0"/>
              <a:t> </a:t>
            </a:r>
            <a:r>
              <a:rPr lang="it-IT" dirty="0" err="1"/>
              <a:t>across</a:t>
            </a:r>
            <a:r>
              <a:rPr lang="it-IT" dirty="0"/>
              <a:t> </a:t>
            </a:r>
            <a:r>
              <a:rPr lang="it-IT" dirty="0" err="1"/>
              <a:t>all</a:t>
            </a:r>
            <a:r>
              <a:rPr lang="it-IT" dirty="0"/>
              <a:t> groups.</a:t>
            </a:r>
          </a:p>
        </p:txBody>
      </p:sp>
    </p:spTree>
    <p:extLst>
      <p:ext uri="{BB962C8B-B14F-4D97-AF65-F5344CB8AC3E}">
        <p14:creationId xmlns:p14="http://schemas.microsoft.com/office/powerpoint/2010/main" val="16079349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8BC51096-107C-5F56-615C-70EBBA1B9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515" y="330040"/>
            <a:ext cx="11074969" cy="619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0932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86113-C5EA-C7CB-A469-C7BAA281A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BF350E2B-4312-4679-2CAD-7E46E526C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653" y="795807"/>
            <a:ext cx="7718693" cy="4318651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8286654E-53E2-5427-D08A-4DE3F24ABB35}"/>
              </a:ext>
            </a:extLst>
          </p:cNvPr>
          <p:cNvSpPr txBox="1"/>
          <p:nvPr/>
        </p:nvSpPr>
        <p:spPr>
          <a:xfrm>
            <a:off x="418641" y="319489"/>
            <a:ext cx="5596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Microbiota </a:t>
            </a:r>
            <a:r>
              <a:rPr lang="it-IT" b="1" dirty="0" err="1"/>
              <a:t>composition</a:t>
            </a:r>
            <a:r>
              <a:rPr lang="it-IT" b="1" dirty="0"/>
              <a:t> by </a:t>
            </a:r>
            <a:r>
              <a:rPr lang="it-IT" b="1" dirty="0" err="1"/>
              <a:t>physical</a:t>
            </a:r>
            <a:r>
              <a:rPr lang="it-IT" b="1" dirty="0"/>
              <a:t> activity </a:t>
            </a:r>
            <a:r>
              <a:rPr lang="it-IT" b="1" dirty="0" err="1"/>
              <a:t>level</a:t>
            </a:r>
            <a:r>
              <a:rPr lang="it-IT" dirty="0"/>
              <a:t> 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8B09B22-C180-F277-4114-785FCEB95FF2}"/>
              </a:ext>
            </a:extLst>
          </p:cNvPr>
          <p:cNvSpPr txBox="1"/>
          <p:nvPr/>
        </p:nvSpPr>
        <p:spPr>
          <a:xfrm>
            <a:off x="418641" y="5257126"/>
            <a:ext cx="1168889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The plot </a:t>
            </a:r>
            <a:r>
              <a:rPr lang="it-IT" dirty="0" err="1"/>
              <a:t>reveals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the </a:t>
            </a:r>
            <a:r>
              <a:rPr lang="it-IT" b="1" dirty="0"/>
              <a:t>overall </a:t>
            </a:r>
            <a:r>
              <a:rPr lang="it-IT" b="1" dirty="0" err="1"/>
              <a:t>microbial</a:t>
            </a:r>
            <a:r>
              <a:rPr lang="it-IT" b="1" dirty="0"/>
              <a:t> </a:t>
            </a:r>
            <a:r>
              <a:rPr lang="it-IT" b="1" dirty="0" err="1"/>
              <a:t>composition</a:t>
            </a:r>
            <a:r>
              <a:rPr lang="it-IT" b="1" dirty="0"/>
              <a:t> </a:t>
            </a:r>
            <a:r>
              <a:rPr lang="it-IT" b="1" dirty="0" err="1"/>
              <a:t>is</a:t>
            </a:r>
            <a:r>
              <a:rPr lang="it-IT" b="1" dirty="0"/>
              <a:t> </a:t>
            </a:r>
            <a:r>
              <a:rPr lang="it-IT" b="1" dirty="0" err="1"/>
              <a:t>broadly</a:t>
            </a:r>
            <a:r>
              <a:rPr lang="it-IT" b="1" dirty="0"/>
              <a:t> </a:t>
            </a:r>
            <a:r>
              <a:rPr lang="it-IT" b="1" dirty="0" err="1"/>
              <a:t>similar</a:t>
            </a:r>
            <a:r>
              <a:rPr lang="it-IT" b="1" dirty="0"/>
              <a:t> </a:t>
            </a:r>
            <a:r>
              <a:rPr lang="it-IT" b="1" dirty="0" err="1"/>
              <a:t>across</a:t>
            </a:r>
            <a:r>
              <a:rPr lang="it-IT" b="1" dirty="0"/>
              <a:t> activity </a:t>
            </a:r>
            <a:r>
              <a:rPr lang="it-IT" b="1" dirty="0" err="1"/>
              <a:t>levels</a:t>
            </a:r>
            <a:r>
              <a:rPr lang="it-IT" dirty="0"/>
              <a:t>, with </a:t>
            </a:r>
            <a:r>
              <a:rPr lang="it-IT" dirty="0" err="1"/>
              <a:t>dominant</a:t>
            </a:r>
            <a:r>
              <a:rPr lang="it-IT" dirty="0"/>
              <a:t> genera </a:t>
            </a:r>
            <a:r>
              <a:rPr lang="it-IT" dirty="0" err="1"/>
              <a:t>such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i="1" dirty="0" err="1"/>
              <a:t>Bacteroides</a:t>
            </a:r>
            <a:r>
              <a:rPr lang="it-IT" dirty="0"/>
              <a:t>, </a:t>
            </a:r>
            <a:r>
              <a:rPr lang="it-IT" i="1" dirty="0" err="1"/>
              <a:t>Faecalibacterium</a:t>
            </a:r>
            <a:r>
              <a:rPr lang="it-IT" dirty="0"/>
              <a:t>, </a:t>
            </a:r>
            <a:r>
              <a:rPr lang="it-IT" i="1" dirty="0" err="1"/>
              <a:t>Alistipes</a:t>
            </a:r>
            <a:r>
              <a:rPr lang="it-IT" dirty="0"/>
              <a:t>, and </a:t>
            </a:r>
            <a:r>
              <a:rPr lang="it-IT" i="1" dirty="0" err="1"/>
              <a:t>Blautia</a:t>
            </a:r>
            <a:r>
              <a:rPr lang="it-IT" dirty="0"/>
              <a:t> </a:t>
            </a:r>
            <a:r>
              <a:rPr lang="it-IT" dirty="0" err="1"/>
              <a:t>consistently</a:t>
            </a:r>
            <a:r>
              <a:rPr lang="it-IT" dirty="0"/>
              <a:t> </a:t>
            </a:r>
            <a:r>
              <a:rPr lang="it-IT" dirty="0" err="1"/>
              <a:t>represented</a:t>
            </a:r>
            <a:r>
              <a:rPr lang="it-IT" dirty="0"/>
              <a:t>. </a:t>
            </a:r>
            <a:r>
              <a:rPr lang="it-IT" dirty="0" err="1"/>
              <a:t>However</a:t>
            </a:r>
            <a:r>
              <a:rPr lang="it-IT" dirty="0"/>
              <a:t>, </a:t>
            </a:r>
            <a:r>
              <a:rPr lang="it-IT" b="1" dirty="0" err="1"/>
              <a:t>active</a:t>
            </a:r>
            <a:r>
              <a:rPr lang="it-IT" b="1" dirty="0"/>
              <a:t> </a:t>
            </a:r>
            <a:r>
              <a:rPr lang="it-IT" b="1" dirty="0" err="1"/>
              <a:t>individuals</a:t>
            </a:r>
            <a:r>
              <a:rPr lang="it-IT" b="1" dirty="0"/>
              <a:t> </a:t>
            </a:r>
            <a:r>
              <a:rPr lang="it-IT" b="1" dirty="0" err="1"/>
              <a:t>tend</a:t>
            </a:r>
            <a:r>
              <a:rPr lang="it-IT" b="1" dirty="0"/>
              <a:t> to show a more </a:t>
            </a:r>
            <a:r>
              <a:rPr lang="it-IT" b="1" dirty="0" err="1"/>
              <a:t>balanced</a:t>
            </a:r>
            <a:r>
              <a:rPr lang="it-IT" b="1" dirty="0"/>
              <a:t> </a:t>
            </a:r>
            <a:r>
              <a:rPr lang="it-IT" b="1" dirty="0" err="1"/>
              <a:t>distribution</a:t>
            </a:r>
            <a:r>
              <a:rPr lang="it-IT" dirty="0"/>
              <a:t> of </a:t>
            </a:r>
            <a:r>
              <a:rPr lang="it-IT" dirty="0" err="1"/>
              <a:t>beneficial</a:t>
            </a:r>
            <a:r>
              <a:rPr lang="it-IT" dirty="0"/>
              <a:t> genera (e.g., </a:t>
            </a:r>
            <a:r>
              <a:rPr lang="it-IT" i="1" dirty="0" err="1"/>
              <a:t>Faecalibacterium</a:t>
            </a:r>
            <a:r>
              <a:rPr lang="it-IT" dirty="0"/>
              <a:t>, </a:t>
            </a:r>
            <a:r>
              <a:rPr lang="it-IT" i="1" dirty="0" err="1"/>
              <a:t>Roseburia</a:t>
            </a:r>
            <a:r>
              <a:rPr lang="it-IT" dirty="0"/>
              <a:t>), </a:t>
            </a:r>
            <a:r>
              <a:rPr lang="it-IT" dirty="0" err="1"/>
              <a:t>while</a:t>
            </a:r>
            <a:r>
              <a:rPr lang="it-IT" dirty="0"/>
              <a:t> </a:t>
            </a:r>
            <a:r>
              <a:rPr lang="it-IT" b="1" dirty="0" err="1"/>
              <a:t>sedentary</a:t>
            </a:r>
            <a:r>
              <a:rPr lang="it-IT" b="1" dirty="0"/>
              <a:t> </a:t>
            </a:r>
            <a:r>
              <a:rPr lang="it-IT" b="1" dirty="0" err="1"/>
              <a:t>subjects</a:t>
            </a:r>
            <a:r>
              <a:rPr lang="it-IT" b="1" dirty="0"/>
              <a:t> display </a:t>
            </a:r>
            <a:r>
              <a:rPr lang="it-IT" b="1" dirty="0" err="1"/>
              <a:t>greater</a:t>
            </a:r>
            <a:r>
              <a:rPr lang="it-IT" b="1" dirty="0"/>
              <a:t> </a:t>
            </a:r>
            <a:r>
              <a:rPr lang="it-IT" b="1" dirty="0" err="1"/>
              <a:t>variability</a:t>
            </a:r>
            <a:r>
              <a:rPr lang="it-IT" dirty="0"/>
              <a:t>, </a:t>
            </a:r>
            <a:r>
              <a:rPr lang="it-IT" dirty="0" err="1"/>
              <a:t>suggesting</a:t>
            </a:r>
            <a:r>
              <a:rPr lang="it-IT" dirty="0"/>
              <a:t> </a:t>
            </a:r>
            <a:r>
              <a:rPr lang="it-IT" dirty="0" err="1"/>
              <a:t>potential</a:t>
            </a:r>
            <a:r>
              <a:rPr lang="it-IT" dirty="0"/>
              <a:t> </a:t>
            </a:r>
            <a:r>
              <a:rPr lang="it-IT" dirty="0" err="1"/>
              <a:t>differences</a:t>
            </a:r>
            <a:r>
              <a:rPr lang="it-IT" dirty="0"/>
              <a:t> in microbiota </a:t>
            </a:r>
            <a:r>
              <a:rPr lang="it-IT" dirty="0" err="1"/>
              <a:t>stability</a:t>
            </a:r>
            <a:r>
              <a:rPr lang="it-IT" dirty="0"/>
              <a:t> </a:t>
            </a:r>
            <a:r>
              <a:rPr lang="it-IT" dirty="0" err="1"/>
              <a:t>related</a:t>
            </a:r>
            <a:r>
              <a:rPr lang="it-IT" dirty="0"/>
              <a:t> to lifestyle.</a:t>
            </a:r>
          </a:p>
        </p:txBody>
      </p:sp>
    </p:spTree>
    <p:extLst>
      <p:ext uri="{BB962C8B-B14F-4D97-AF65-F5344CB8AC3E}">
        <p14:creationId xmlns:p14="http://schemas.microsoft.com/office/powerpoint/2010/main" val="42187489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73C9D1D7-42A6-F588-50B1-371E6C593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165" y="352267"/>
            <a:ext cx="11087670" cy="6153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24332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D5026-E851-3734-5AEA-30DF12373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90E299D0-BB6F-C176-6C30-D9F61111E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434" y="821024"/>
            <a:ext cx="8005131" cy="4462487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3602B27D-E12B-CEC6-5AEB-E9D80B577B52}"/>
              </a:ext>
            </a:extLst>
          </p:cNvPr>
          <p:cNvSpPr txBox="1"/>
          <p:nvPr/>
        </p:nvSpPr>
        <p:spPr>
          <a:xfrm>
            <a:off x="418641" y="451692"/>
            <a:ext cx="5188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Microbiota </a:t>
            </a:r>
            <a:r>
              <a:rPr lang="it-IT" b="1" dirty="0" err="1"/>
              <a:t>composition</a:t>
            </a:r>
            <a:r>
              <a:rPr lang="it-IT" b="1" dirty="0"/>
              <a:t> by </a:t>
            </a:r>
            <a:r>
              <a:rPr lang="it-IT" b="1" dirty="0" err="1"/>
              <a:t>disease</a:t>
            </a:r>
            <a:r>
              <a:rPr lang="it-IT" b="1" dirty="0"/>
              <a:t> activity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1C5221A-799B-89C3-FA65-4F63659BFBC3}"/>
              </a:ext>
            </a:extLst>
          </p:cNvPr>
          <p:cNvSpPr txBox="1"/>
          <p:nvPr/>
        </p:nvSpPr>
        <p:spPr>
          <a:xfrm>
            <a:off x="418641" y="5436811"/>
            <a:ext cx="1154567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dirty="0">
                <a:effectLst/>
              </a:rPr>
              <a:t>The plot </a:t>
            </a:r>
            <a:r>
              <a:rPr lang="it-IT" dirty="0" err="1">
                <a:effectLst/>
              </a:rPr>
              <a:t>indicates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that</a:t>
            </a:r>
            <a:r>
              <a:rPr lang="it-IT" dirty="0">
                <a:effectLst/>
              </a:rPr>
              <a:t> the </a:t>
            </a:r>
            <a:r>
              <a:rPr lang="it-IT" b="1" dirty="0">
                <a:effectLst/>
              </a:rPr>
              <a:t>overall </a:t>
            </a:r>
            <a:r>
              <a:rPr lang="it-IT" b="1" dirty="0" err="1">
                <a:effectLst/>
              </a:rPr>
              <a:t>microbial</a:t>
            </a:r>
            <a:r>
              <a:rPr lang="it-IT" b="1" dirty="0">
                <a:effectLst/>
              </a:rPr>
              <a:t> </a:t>
            </a:r>
            <a:r>
              <a:rPr lang="it-IT" b="1" dirty="0" err="1">
                <a:effectLst/>
              </a:rPr>
              <a:t>composition</a:t>
            </a:r>
            <a:r>
              <a:rPr lang="it-IT" b="1" dirty="0">
                <a:effectLst/>
              </a:rPr>
              <a:t> </a:t>
            </a:r>
            <a:r>
              <a:rPr lang="it-IT" b="1" dirty="0" err="1">
                <a:effectLst/>
              </a:rPr>
              <a:t>is</a:t>
            </a:r>
            <a:r>
              <a:rPr lang="it-IT" b="1" dirty="0">
                <a:effectLst/>
              </a:rPr>
              <a:t> </a:t>
            </a:r>
            <a:r>
              <a:rPr lang="it-IT" b="1" dirty="0" err="1">
                <a:effectLst/>
              </a:rPr>
              <a:t>similar</a:t>
            </a:r>
            <a:r>
              <a:rPr lang="it-IT" b="1" dirty="0">
                <a:effectLst/>
              </a:rPr>
              <a:t> </a:t>
            </a:r>
            <a:r>
              <a:rPr lang="it-IT" b="1" dirty="0" err="1">
                <a:effectLst/>
              </a:rPr>
              <a:t>between</a:t>
            </a:r>
            <a:r>
              <a:rPr lang="it-IT" b="1" dirty="0">
                <a:effectLst/>
              </a:rPr>
              <a:t> </a:t>
            </a:r>
            <a:r>
              <a:rPr lang="it-IT" b="1" dirty="0" err="1">
                <a:effectLst/>
              </a:rPr>
              <a:t>active</a:t>
            </a:r>
            <a:r>
              <a:rPr lang="it-IT" b="1" dirty="0">
                <a:effectLst/>
              </a:rPr>
              <a:t> and </a:t>
            </a:r>
            <a:r>
              <a:rPr lang="it-IT" b="1" dirty="0" err="1">
                <a:effectLst/>
              </a:rPr>
              <a:t>inactive</a:t>
            </a:r>
            <a:r>
              <a:rPr lang="it-IT" b="1" dirty="0">
                <a:effectLst/>
              </a:rPr>
              <a:t> </a:t>
            </a:r>
            <a:r>
              <a:rPr lang="it-IT" b="1" dirty="0" err="1">
                <a:effectLst/>
              </a:rPr>
              <a:t>disease</a:t>
            </a:r>
            <a:r>
              <a:rPr lang="it-IT" b="1" dirty="0">
                <a:effectLst/>
              </a:rPr>
              <a:t> </a:t>
            </a:r>
            <a:r>
              <a:rPr lang="it-IT" b="1" dirty="0" err="1">
                <a:effectLst/>
              </a:rPr>
              <a:t>states</a:t>
            </a:r>
            <a:r>
              <a:rPr lang="it-IT" dirty="0">
                <a:effectLst/>
              </a:rPr>
              <a:t>, with </a:t>
            </a:r>
            <a:r>
              <a:rPr lang="it-IT" dirty="0" err="1">
                <a:effectLst/>
              </a:rPr>
              <a:t>dominant</a:t>
            </a:r>
            <a:r>
              <a:rPr lang="it-IT" dirty="0">
                <a:effectLst/>
              </a:rPr>
              <a:t> genera </a:t>
            </a:r>
            <a:r>
              <a:rPr lang="it-IT" dirty="0" err="1">
                <a:effectLst/>
              </a:rPr>
              <a:t>such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as</a:t>
            </a:r>
            <a:r>
              <a:rPr lang="it-IT" dirty="0">
                <a:effectLst/>
              </a:rPr>
              <a:t> </a:t>
            </a:r>
            <a:r>
              <a:rPr lang="it-IT" i="1" dirty="0" err="1">
                <a:effectLst/>
              </a:rPr>
              <a:t>Bacteroides</a:t>
            </a:r>
            <a:r>
              <a:rPr lang="it-IT" dirty="0">
                <a:effectLst/>
              </a:rPr>
              <a:t>, </a:t>
            </a:r>
            <a:r>
              <a:rPr lang="it-IT" i="1" dirty="0" err="1">
                <a:effectLst/>
              </a:rPr>
              <a:t>Faecalibacterium</a:t>
            </a:r>
            <a:r>
              <a:rPr lang="it-IT" dirty="0">
                <a:effectLst/>
              </a:rPr>
              <a:t>, </a:t>
            </a:r>
            <a:r>
              <a:rPr lang="it-IT" i="1" dirty="0" err="1">
                <a:effectLst/>
              </a:rPr>
              <a:t>Alistipes</a:t>
            </a:r>
            <a:r>
              <a:rPr lang="it-IT" dirty="0">
                <a:effectLst/>
              </a:rPr>
              <a:t>, and </a:t>
            </a:r>
            <a:r>
              <a:rPr lang="it-IT" i="1" dirty="0" err="1">
                <a:effectLst/>
              </a:rPr>
              <a:t>Blautia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consistently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represented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across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all</a:t>
            </a:r>
            <a:r>
              <a:rPr lang="it-IT" dirty="0">
                <a:effectLst/>
              </a:rPr>
              <a:t> groups. </a:t>
            </a:r>
            <a:r>
              <a:rPr lang="it-IT" dirty="0" err="1">
                <a:effectLst/>
              </a:rPr>
              <a:t>Patients</a:t>
            </a:r>
            <a:r>
              <a:rPr lang="it-IT" dirty="0">
                <a:effectLst/>
              </a:rPr>
              <a:t> with </a:t>
            </a:r>
            <a:r>
              <a:rPr lang="it-IT" dirty="0" err="1">
                <a:effectLst/>
              </a:rPr>
              <a:t>active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disease</a:t>
            </a:r>
            <a:r>
              <a:rPr lang="it-IT" dirty="0">
                <a:effectLst/>
              </a:rPr>
              <a:t> show </a:t>
            </a:r>
            <a:r>
              <a:rPr lang="it-IT" b="1" dirty="0" err="1">
                <a:effectLst/>
              </a:rPr>
              <a:t>slightly</a:t>
            </a:r>
            <a:r>
              <a:rPr lang="it-IT" b="1" dirty="0">
                <a:effectLst/>
              </a:rPr>
              <a:t> </a:t>
            </a:r>
            <a:r>
              <a:rPr lang="it-IT" b="1" dirty="0" err="1">
                <a:effectLst/>
              </a:rPr>
              <a:t>higher</a:t>
            </a:r>
            <a:r>
              <a:rPr lang="it-IT" b="1" dirty="0">
                <a:effectLst/>
              </a:rPr>
              <a:t> </a:t>
            </a:r>
            <a:r>
              <a:rPr lang="it-IT" b="1" dirty="0" err="1">
                <a:effectLst/>
              </a:rPr>
              <a:t>variability</a:t>
            </a:r>
            <a:r>
              <a:rPr lang="it-IT" dirty="0">
                <a:effectLst/>
              </a:rPr>
              <a:t> in </a:t>
            </a:r>
            <a:r>
              <a:rPr lang="it-IT" dirty="0" err="1">
                <a:effectLst/>
              </a:rPr>
              <a:t>genus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proportions</a:t>
            </a:r>
            <a:r>
              <a:rPr lang="it-IT" dirty="0">
                <a:effectLst/>
              </a:rPr>
              <a:t>, </a:t>
            </a:r>
            <a:r>
              <a:rPr lang="it-IT" dirty="0" err="1">
                <a:effectLst/>
              </a:rPr>
              <a:t>suggesting</a:t>
            </a:r>
            <a:r>
              <a:rPr lang="it-IT" dirty="0">
                <a:effectLst/>
              </a:rPr>
              <a:t> </a:t>
            </a:r>
            <a:r>
              <a:rPr lang="it-IT" b="1" dirty="0" err="1">
                <a:effectLst/>
              </a:rPr>
              <a:t>potential</a:t>
            </a:r>
            <a:r>
              <a:rPr lang="it-IT" b="1" dirty="0">
                <a:effectLst/>
              </a:rPr>
              <a:t> </a:t>
            </a:r>
            <a:r>
              <a:rPr lang="it-IT" b="1" dirty="0" err="1">
                <a:effectLst/>
              </a:rPr>
              <a:t>alterations</a:t>
            </a:r>
            <a:r>
              <a:rPr lang="it-IT" b="1" dirty="0">
                <a:effectLst/>
              </a:rPr>
              <a:t> in microbiota balance </a:t>
            </a:r>
            <a:r>
              <a:rPr lang="it-IT" b="1" dirty="0" err="1">
                <a:effectLst/>
              </a:rPr>
              <a:t>associated</a:t>
            </a:r>
            <a:r>
              <a:rPr lang="it-IT" b="1" dirty="0">
                <a:effectLst/>
              </a:rPr>
              <a:t> with </a:t>
            </a:r>
            <a:r>
              <a:rPr lang="it-IT" b="1" dirty="0" err="1">
                <a:effectLst/>
              </a:rPr>
              <a:t>inflammation</a:t>
            </a:r>
            <a:r>
              <a:rPr lang="it-IT" dirty="0">
                <a:effectLst/>
              </a:rPr>
              <a:t>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0557793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B9B84ED2-9C7D-30C1-2771-18BCADBFE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990" y="333216"/>
            <a:ext cx="11094020" cy="6191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93005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40BA9-42C6-D5B3-6FDB-6D9985833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93FB4D10-AE4B-9336-B247-BFEDE2549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041" y="1027723"/>
            <a:ext cx="7211917" cy="4023431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354080F4-2515-314C-248C-D53FF762E241}"/>
              </a:ext>
            </a:extLst>
          </p:cNvPr>
          <p:cNvSpPr txBox="1"/>
          <p:nvPr/>
        </p:nvSpPr>
        <p:spPr>
          <a:xfrm>
            <a:off x="550843" y="473725"/>
            <a:ext cx="6345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Microbiota </a:t>
            </a:r>
            <a:r>
              <a:rPr lang="it-IT" b="1" dirty="0" err="1"/>
              <a:t>composition</a:t>
            </a:r>
            <a:r>
              <a:rPr lang="it-IT" b="1" dirty="0"/>
              <a:t> by </a:t>
            </a:r>
            <a:r>
              <a:rPr lang="it-IT" b="1" dirty="0" err="1"/>
              <a:t>presence</a:t>
            </a:r>
            <a:r>
              <a:rPr lang="it-IT" b="1" dirty="0"/>
              <a:t> of </a:t>
            </a:r>
            <a:r>
              <a:rPr lang="it-IT" b="1" dirty="0" err="1"/>
              <a:t>spinal</a:t>
            </a:r>
            <a:r>
              <a:rPr lang="it-IT" b="1" dirty="0"/>
              <a:t> </a:t>
            </a:r>
            <a:r>
              <a:rPr lang="it-IT" b="1" dirty="0" err="1"/>
              <a:t>lesions</a:t>
            </a:r>
            <a:r>
              <a:rPr lang="it-IT" b="1" dirty="0"/>
              <a:t> </a:t>
            </a:r>
            <a:r>
              <a:rPr lang="it-IT" b="1" dirty="0" err="1"/>
              <a:t>at</a:t>
            </a:r>
            <a:r>
              <a:rPr lang="it-IT" b="1" dirty="0"/>
              <a:t> T0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78A66D4-C39F-B263-BCA8-034B35508263}"/>
              </a:ext>
            </a:extLst>
          </p:cNvPr>
          <p:cNvSpPr txBox="1"/>
          <p:nvPr/>
        </p:nvSpPr>
        <p:spPr>
          <a:xfrm>
            <a:off x="550843" y="5235820"/>
            <a:ext cx="1152364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The plot </a:t>
            </a:r>
            <a:r>
              <a:rPr lang="it-IT" dirty="0" err="1"/>
              <a:t>indicates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the </a:t>
            </a:r>
            <a:r>
              <a:rPr lang="it-IT" b="1" dirty="0"/>
              <a:t>overall </a:t>
            </a:r>
            <a:r>
              <a:rPr lang="it-IT" b="1" dirty="0" err="1"/>
              <a:t>microbial</a:t>
            </a:r>
            <a:r>
              <a:rPr lang="it-IT" b="1" dirty="0"/>
              <a:t> </a:t>
            </a:r>
            <a:r>
              <a:rPr lang="it-IT" b="1" dirty="0" err="1"/>
              <a:t>composition</a:t>
            </a:r>
            <a:r>
              <a:rPr lang="it-IT" b="1" dirty="0"/>
              <a:t> </a:t>
            </a:r>
            <a:r>
              <a:rPr lang="it-IT" b="1" dirty="0" err="1"/>
              <a:t>is</a:t>
            </a:r>
            <a:r>
              <a:rPr lang="it-IT" b="1" dirty="0"/>
              <a:t> </a:t>
            </a:r>
            <a:r>
              <a:rPr lang="it-IT" b="1" dirty="0" err="1"/>
              <a:t>similar</a:t>
            </a:r>
            <a:r>
              <a:rPr lang="it-IT" b="1" dirty="0"/>
              <a:t> </a:t>
            </a:r>
            <a:r>
              <a:rPr lang="it-IT" b="1" dirty="0" err="1"/>
              <a:t>between</a:t>
            </a:r>
            <a:r>
              <a:rPr lang="it-IT" b="1" dirty="0"/>
              <a:t> </a:t>
            </a:r>
            <a:r>
              <a:rPr lang="it-IT" b="1" dirty="0" err="1"/>
              <a:t>patients</a:t>
            </a:r>
            <a:r>
              <a:rPr lang="it-IT" b="1" dirty="0"/>
              <a:t> with and </a:t>
            </a:r>
            <a:r>
              <a:rPr lang="it-IT" b="1" dirty="0" err="1"/>
              <a:t>without</a:t>
            </a:r>
            <a:r>
              <a:rPr lang="it-IT" b="1" dirty="0"/>
              <a:t> </a:t>
            </a:r>
            <a:r>
              <a:rPr lang="it-IT" b="1" dirty="0" err="1"/>
              <a:t>spinal</a:t>
            </a:r>
            <a:r>
              <a:rPr lang="it-IT" b="1" dirty="0"/>
              <a:t> </a:t>
            </a:r>
            <a:r>
              <a:rPr lang="it-IT" b="1" dirty="0" err="1"/>
              <a:t>lesions</a:t>
            </a:r>
            <a:r>
              <a:rPr lang="it-IT" dirty="0"/>
              <a:t>, with </a:t>
            </a:r>
            <a:r>
              <a:rPr lang="it-IT" dirty="0" err="1"/>
              <a:t>dominant</a:t>
            </a:r>
            <a:r>
              <a:rPr lang="it-IT" dirty="0"/>
              <a:t> genera </a:t>
            </a:r>
            <a:r>
              <a:rPr lang="it-IT" dirty="0" err="1"/>
              <a:t>such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i="1" dirty="0" err="1"/>
              <a:t>Bacteroides</a:t>
            </a:r>
            <a:r>
              <a:rPr lang="it-IT" dirty="0"/>
              <a:t>, </a:t>
            </a:r>
            <a:r>
              <a:rPr lang="it-IT" i="1" dirty="0" err="1"/>
              <a:t>Faecalibacterium</a:t>
            </a:r>
            <a:r>
              <a:rPr lang="it-IT" dirty="0"/>
              <a:t>, </a:t>
            </a:r>
            <a:r>
              <a:rPr lang="it-IT" i="1" dirty="0" err="1"/>
              <a:t>Alistipes</a:t>
            </a:r>
            <a:r>
              <a:rPr lang="it-IT" dirty="0"/>
              <a:t>, and </a:t>
            </a:r>
            <a:r>
              <a:rPr lang="it-IT" i="1" dirty="0" err="1"/>
              <a:t>Blautia</a:t>
            </a:r>
            <a:r>
              <a:rPr lang="it-IT" dirty="0"/>
              <a:t> </a:t>
            </a:r>
            <a:r>
              <a:rPr lang="it-IT" dirty="0" err="1"/>
              <a:t>consistently</a:t>
            </a:r>
            <a:r>
              <a:rPr lang="it-IT" dirty="0"/>
              <a:t> </a:t>
            </a:r>
            <a:r>
              <a:rPr lang="it-IT" dirty="0" err="1"/>
              <a:t>represented</a:t>
            </a:r>
            <a:r>
              <a:rPr lang="it-IT" dirty="0"/>
              <a:t> </a:t>
            </a:r>
            <a:r>
              <a:rPr lang="it-IT" dirty="0" err="1"/>
              <a:t>across</a:t>
            </a:r>
            <a:r>
              <a:rPr lang="it-IT" dirty="0"/>
              <a:t> </a:t>
            </a:r>
            <a:r>
              <a:rPr lang="it-IT" dirty="0" err="1"/>
              <a:t>all</a:t>
            </a:r>
            <a:r>
              <a:rPr lang="it-IT" dirty="0"/>
              <a:t> groups. </a:t>
            </a:r>
            <a:r>
              <a:rPr lang="it-IT" dirty="0" err="1"/>
              <a:t>Patients</a:t>
            </a:r>
            <a:r>
              <a:rPr lang="it-IT" dirty="0"/>
              <a:t> with </a:t>
            </a:r>
            <a:r>
              <a:rPr lang="it-IT" dirty="0" err="1"/>
              <a:t>lesions</a:t>
            </a:r>
            <a:r>
              <a:rPr lang="it-IT" dirty="0"/>
              <a:t> (group 1) show </a:t>
            </a:r>
            <a:r>
              <a:rPr lang="it-IT" b="1" dirty="0" err="1"/>
              <a:t>slightly</a:t>
            </a:r>
            <a:r>
              <a:rPr lang="it-IT" b="1" dirty="0"/>
              <a:t> </a:t>
            </a:r>
            <a:r>
              <a:rPr lang="it-IT" b="1" dirty="0" err="1"/>
              <a:t>reduced</a:t>
            </a:r>
            <a:r>
              <a:rPr lang="it-IT" b="1" dirty="0"/>
              <a:t> </a:t>
            </a:r>
            <a:r>
              <a:rPr lang="it-IT" b="1" dirty="0" err="1"/>
              <a:t>diversity</a:t>
            </a:r>
            <a:r>
              <a:rPr lang="it-IT" dirty="0"/>
              <a:t> and </a:t>
            </a:r>
            <a:r>
              <a:rPr lang="it-IT" b="1" dirty="0" err="1"/>
              <a:t>higher</a:t>
            </a:r>
            <a:r>
              <a:rPr lang="it-IT" b="1" dirty="0"/>
              <a:t> relative </a:t>
            </a:r>
            <a:r>
              <a:rPr lang="it-IT" b="1" dirty="0" err="1"/>
              <a:t>abundance</a:t>
            </a:r>
            <a:r>
              <a:rPr lang="it-IT" b="1" dirty="0"/>
              <a:t> of </a:t>
            </a:r>
            <a:r>
              <a:rPr lang="it-IT" b="1" i="1" dirty="0" err="1"/>
              <a:t>Bacteroides</a:t>
            </a:r>
            <a:r>
              <a:rPr lang="it-IT" dirty="0"/>
              <a:t>, </a:t>
            </a:r>
            <a:r>
              <a:rPr lang="it-IT" dirty="0" err="1"/>
              <a:t>suggesting</a:t>
            </a:r>
            <a:r>
              <a:rPr lang="it-IT" dirty="0"/>
              <a:t> a </a:t>
            </a:r>
            <a:r>
              <a:rPr lang="it-IT" b="1" dirty="0" err="1"/>
              <a:t>potential</a:t>
            </a:r>
            <a:r>
              <a:rPr lang="it-IT" b="1" dirty="0"/>
              <a:t> shift </a:t>
            </a:r>
            <a:r>
              <a:rPr lang="it-IT" b="1" dirty="0" err="1"/>
              <a:t>toward</a:t>
            </a:r>
            <a:r>
              <a:rPr lang="it-IT" b="1" dirty="0"/>
              <a:t> a </a:t>
            </a:r>
            <a:r>
              <a:rPr lang="it-IT" b="1" dirty="0" err="1"/>
              <a:t>less</a:t>
            </a:r>
            <a:r>
              <a:rPr lang="it-IT" b="1" dirty="0"/>
              <a:t> </a:t>
            </a:r>
            <a:r>
              <a:rPr lang="it-IT" b="1" dirty="0" err="1"/>
              <a:t>balanced</a:t>
            </a:r>
            <a:r>
              <a:rPr lang="it-IT" b="1" dirty="0"/>
              <a:t> </a:t>
            </a:r>
            <a:r>
              <a:rPr lang="it-IT" b="1" dirty="0" err="1"/>
              <a:t>microbial</a:t>
            </a:r>
            <a:r>
              <a:rPr lang="it-IT" b="1" dirty="0"/>
              <a:t> </a:t>
            </a:r>
            <a:r>
              <a:rPr lang="it-IT" b="1" dirty="0" err="1"/>
              <a:t>profile</a:t>
            </a:r>
            <a:r>
              <a:rPr lang="it-IT" dirty="0"/>
              <a:t> </a:t>
            </a:r>
            <a:r>
              <a:rPr lang="it-IT" dirty="0" err="1"/>
              <a:t>associated</a:t>
            </a:r>
            <a:r>
              <a:rPr lang="it-IT" dirty="0"/>
              <a:t> with </a:t>
            </a:r>
            <a:r>
              <a:rPr lang="it-IT" dirty="0" err="1"/>
              <a:t>lesion</a:t>
            </a:r>
            <a:r>
              <a:rPr lang="it-IT" dirty="0"/>
              <a:t> </a:t>
            </a:r>
            <a:r>
              <a:rPr lang="it-IT" dirty="0" err="1"/>
              <a:t>presence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2856209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CB8FA943-5D73-7068-D88A-E85EBE4D9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041" y="342741"/>
            <a:ext cx="11055918" cy="617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51802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8D5B7-58E9-927C-090A-3BA7E2DF4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53BB8ABE-BA0E-0123-2C78-1B91AD2AC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242" y="818524"/>
            <a:ext cx="7757592" cy="4389955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8385CFF-7C6A-766C-5C2C-295D25C32EEC}"/>
              </a:ext>
            </a:extLst>
          </p:cNvPr>
          <p:cNvSpPr txBox="1"/>
          <p:nvPr/>
        </p:nvSpPr>
        <p:spPr>
          <a:xfrm>
            <a:off x="462708" y="341523"/>
            <a:ext cx="7436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Microbiota </a:t>
            </a:r>
            <a:r>
              <a:rPr lang="it-IT" b="1" dirty="0" err="1"/>
              <a:t>composition</a:t>
            </a:r>
            <a:r>
              <a:rPr lang="it-IT" b="1" dirty="0"/>
              <a:t> by </a:t>
            </a:r>
            <a:r>
              <a:rPr lang="it-IT" b="1" dirty="0" err="1"/>
              <a:t>presence</a:t>
            </a:r>
            <a:r>
              <a:rPr lang="it-IT" b="1" dirty="0"/>
              <a:t> of </a:t>
            </a:r>
            <a:r>
              <a:rPr lang="it-IT" b="1" dirty="0" err="1"/>
              <a:t>subtentorial</a:t>
            </a:r>
            <a:r>
              <a:rPr lang="it-IT" b="1" dirty="0"/>
              <a:t> </a:t>
            </a:r>
            <a:r>
              <a:rPr lang="it-IT" b="1" dirty="0" err="1"/>
              <a:t>lesions</a:t>
            </a:r>
            <a:r>
              <a:rPr lang="it-IT" b="1" dirty="0"/>
              <a:t> </a:t>
            </a:r>
            <a:r>
              <a:rPr lang="it-IT" b="1" dirty="0" err="1"/>
              <a:t>at</a:t>
            </a:r>
            <a:r>
              <a:rPr lang="it-IT" b="1" dirty="0"/>
              <a:t> T0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5BEB756-7716-A49C-919D-3C4FDA43AF57}"/>
              </a:ext>
            </a:extLst>
          </p:cNvPr>
          <p:cNvSpPr txBox="1"/>
          <p:nvPr/>
        </p:nvSpPr>
        <p:spPr>
          <a:xfrm>
            <a:off x="462708" y="5316148"/>
            <a:ext cx="115346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dirty="0">
                <a:effectLst/>
              </a:rPr>
              <a:t>The plot </a:t>
            </a:r>
            <a:r>
              <a:rPr lang="it-IT" dirty="0" err="1">
                <a:effectLst/>
              </a:rPr>
              <a:t>indicates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that</a:t>
            </a:r>
            <a:r>
              <a:rPr lang="it-IT" dirty="0">
                <a:effectLst/>
              </a:rPr>
              <a:t> the </a:t>
            </a:r>
            <a:r>
              <a:rPr lang="it-IT" b="1" dirty="0">
                <a:effectLst/>
              </a:rPr>
              <a:t>overall </a:t>
            </a:r>
            <a:r>
              <a:rPr lang="it-IT" b="1" dirty="0" err="1">
                <a:effectLst/>
              </a:rPr>
              <a:t>microbial</a:t>
            </a:r>
            <a:r>
              <a:rPr lang="it-IT" b="1" dirty="0">
                <a:effectLst/>
              </a:rPr>
              <a:t> </a:t>
            </a:r>
            <a:r>
              <a:rPr lang="it-IT" b="1" dirty="0" err="1">
                <a:effectLst/>
              </a:rPr>
              <a:t>composition</a:t>
            </a:r>
            <a:r>
              <a:rPr lang="it-IT" b="1" dirty="0">
                <a:effectLst/>
              </a:rPr>
              <a:t> </a:t>
            </a:r>
            <a:r>
              <a:rPr lang="it-IT" b="1" dirty="0" err="1">
                <a:effectLst/>
              </a:rPr>
              <a:t>is</a:t>
            </a:r>
            <a:r>
              <a:rPr lang="it-IT" b="1" dirty="0">
                <a:effectLst/>
              </a:rPr>
              <a:t> </a:t>
            </a:r>
            <a:r>
              <a:rPr lang="it-IT" b="1" dirty="0" err="1">
                <a:effectLst/>
              </a:rPr>
              <a:t>similar</a:t>
            </a:r>
            <a:r>
              <a:rPr lang="it-IT" b="1" dirty="0">
                <a:effectLst/>
              </a:rPr>
              <a:t> </a:t>
            </a:r>
            <a:r>
              <a:rPr lang="it-IT" b="1" dirty="0" err="1">
                <a:effectLst/>
              </a:rPr>
              <a:t>between</a:t>
            </a:r>
            <a:r>
              <a:rPr lang="it-IT" b="1" dirty="0">
                <a:effectLst/>
              </a:rPr>
              <a:t> </a:t>
            </a:r>
            <a:r>
              <a:rPr lang="it-IT" b="1" dirty="0" err="1">
                <a:effectLst/>
              </a:rPr>
              <a:t>patients</a:t>
            </a:r>
            <a:r>
              <a:rPr lang="it-IT" b="1" dirty="0">
                <a:effectLst/>
              </a:rPr>
              <a:t> with and </a:t>
            </a:r>
            <a:r>
              <a:rPr lang="it-IT" b="1" dirty="0" err="1">
                <a:effectLst/>
              </a:rPr>
              <a:t>without</a:t>
            </a:r>
            <a:r>
              <a:rPr lang="it-IT" b="1" dirty="0">
                <a:effectLst/>
              </a:rPr>
              <a:t> </a:t>
            </a:r>
            <a:r>
              <a:rPr lang="it-IT" b="1" dirty="0" err="1">
                <a:effectLst/>
              </a:rPr>
              <a:t>subtentorial</a:t>
            </a:r>
            <a:r>
              <a:rPr lang="it-IT" b="1" dirty="0">
                <a:effectLst/>
              </a:rPr>
              <a:t> </a:t>
            </a:r>
            <a:r>
              <a:rPr lang="it-IT" b="1" dirty="0" err="1">
                <a:effectLst/>
              </a:rPr>
              <a:t>lesions</a:t>
            </a:r>
            <a:r>
              <a:rPr lang="it-IT" dirty="0">
                <a:effectLst/>
              </a:rPr>
              <a:t>, with </a:t>
            </a:r>
            <a:r>
              <a:rPr lang="it-IT" dirty="0" err="1">
                <a:effectLst/>
              </a:rPr>
              <a:t>dominant</a:t>
            </a:r>
            <a:r>
              <a:rPr lang="it-IT" dirty="0">
                <a:effectLst/>
              </a:rPr>
              <a:t> genera </a:t>
            </a:r>
            <a:r>
              <a:rPr lang="it-IT" dirty="0" err="1">
                <a:effectLst/>
              </a:rPr>
              <a:t>such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as</a:t>
            </a:r>
            <a:r>
              <a:rPr lang="it-IT" dirty="0">
                <a:effectLst/>
              </a:rPr>
              <a:t> </a:t>
            </a:r>
            <a:r>
              <a:rPr lang="it-IT" i="1" dirty="0" err="1">
                <a:effectLst/>
              </a:rPr>
              <a:t>Bacteroides</a:t>
            </a:r>
            <a:r>
              <a:rPr lang="it-IT" dirty="0">
                <a:effectLst/>
              </a:rPr>
              <a:t>, </a:t>
            </a:r>
            <a:r>
              <a:rPr lang="it-IT" i="1" dirty="0" err="1">
                <a:effectLst/>
              </a:rPr>
              <a:t>Faecalibacterium</a:t>
            </a:r>
            <a:r>
              <a:rPr lang="it-IT" dirty="0">
                <a:effectLst/>
              </a:rPr>
              <a:t>, </a:t>
            </a:r>
            <a:r>
              <a:rPr lang="it-IT" i="1" dirty="0" err="1">
                <a:effectLst/>
              </a:rPr>
              <a:t>Alistipes</a:t>
            </a:r>
            <a:r>
              <a:rPr lang="it-IT" dirty="0">
                <a:effectLst/>
              </a:rPr>
              <a:t>, and </a:t>
            </a:r>
            <a:r>
              <a:rPr lang="it-IT" i="1" dirty="0" err="1">
                <a:effectLst/>
              </a:rPr>
              <a:t>Blautia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consistently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represented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across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all</a:t>
            </a:r>
            <a:r>
              <a:rPr lang="it-IT" dirty="0">
                <a:effectLst/>
              </a:rPr>
              <a:t> groups. </a:t>
            </a:r>
            <a:r>
              <a:rPr lang="it-IT" dirty="0" err="1">
                <a:effectLst/>
              </a:rPr>
              <a:t>Patients</a:t>
            </a:r>
            <a:r>
              <a:rPr lang="it-IT" dirty="0">
                <a:effectLst/>
              </a:rPr>
              <a:t> with </a:t>
            </a:r>
            <a:r>
              <a:rPr lang="it-IT" dirty="0" err="1">
                <a:effectLst/>
              </a:rPr>
              <a:t>lesions</a:t>
            </a:r>
            <a:r>
              <a:rPr lang="it-IT" dirty="0">
                <a:effectLst/>
              </a:rPr>
              <a:t> (group 1) show </a:t>
            </a:r>
            <a:r>
              <a:rPr lang="it-IT" b="1" dirty="0" err="1">
                <a:effectLst/>
              </a:rPr>
              <a:t>slightly</a:t>
            </a:r>
            <a:r>
              <a:rPr lang="it-IT" b="1" dirty="0">
                <a:effectLst/>
              </a:rPr>
              <a:t> </a:t>
            </a:r>
            <a:r>
              <a:rPr lang="it-IT" b="1" dirty="0" err="1">
                <a:effectLst/>
              </a:rPr>
              <a:t>higher</a:t>
            </a:r>
            <a:r>
              <a:rPr lang="it-IT" b="1" dirty="0">
                <a:effectLst/>
              </a:rPr>
              <a:t> </a:t>
            </a:r>
            <a:r>
              <a:rPr lang="it-IT" b="1" dirty="0" err="1">
                <a:effectLst/>
              </a:rPr>
              <a:t>variability</a:t>
            </a:r>
            <a:r>
              <a:rPr lang="it-IT" dirty="0">
                <a:effectLst/>
              </a:rPr>
              <a:t> in </a:t>
            </a:r>
            <a:r>
              <a:rPr lang="it-IT" dirty="0" err="1">
                <a:effectLst/>
              </a:rPr>
              <a:t>genus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proportions</a:t>
            </a:r>
            <a:r>
              <a:rPr lang="it-IT" dirty="0">
                <a:effectLst/>
              </a:rPr>
              <a:t>, </a:t>
            </a:r>
            <a:r>
              <a:rPr lang="it-IT" dirty="0" err="1">
                <a:effectLst/>
              </a:rPr>
              <a:t>suggesting</a:t>
            </a:r>
            <a:r>
              <a:rPr lang="it-IT" dirty="0">
                <a:effectLst/>
              </a:rPr>
              <a:t> </a:t>
            </a:r>
            <a:r>
              <a:rPr lang="it-IT" b="1" dirty="0" err="1">
                <a:effectLst/>
              </a:rPr>
              <a:t>potential</a:t>
            </a:r>
            <a:r>
              <a:rPr lang="it-IT" b="1" dirty="0">
                <a:effectLst/>
              </a:rPr>
              <a:t> </a:t>
            </a:r>
            <a:r>
              <a:rPr lang="it-IT" b="1" dirty="0" err="1">
                <a:effectLst/>
              </a:rPr>
              <a:t>alterations</a:t>
            </a:r>
            <a:r>
              <a:rPr lang="it-IT" b="1" dirty="0">
                <a:effectLst/>
              </a:rPr>
              <a:t> in microbiota balance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associated</a:t>
            </a:r>
            <a:r>
              <a:rPr lang="it-IT" dirty="0">
                <a:effectLst/>
              </a:rPr>
              <a:t> with </a:t>
            </a:r>
            <a:r>
              <a:rPr lang="it-IT" dirty="0" err="1">
                <a:effectLst/>
              </a:rPr>
              <a:t>lesion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presence</a:t>
            </a:r>
            <a:r>
              <a:rPr lang="it-IT" dirty="0">
                <a:effectLst/>
              </a:rPr>
              <a:t>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3987356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62586947-B0A6-482C-515E-D5ECBF7C8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64" y="339566"/>
            <a:ext cx="11113071" cy="617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51667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30245-E3BC-B13F-B99E-5AD70653D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26EBB735-2392-00A5-45A2-92CC9151F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53" y="832040"/>
            <a:ext cx="7656494" cy="4240429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34512A71-3057-1643-6E18-734DD7695CD3}"/>
              </a:ext>
            </a:extLst>
          </p:cNvPr>
          <p:cNvSpPr txBox="1"/>
          <p:nvPr/>
        </p:nvSpPr>
        <p:spPr>
          <a:xfrm>
            <a:off x="594911" y="462708"/>
            <a:ext cx="6499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Microbiota </a:t>
            </a:r>
            <a:r>
              <a:rPr lang="it-IT" b="1" dirty="0" err="1"/>
              <a:t>composition</a:t>
            </a:r>
            <a:r>
              <a:rPr lang="it-IT" b="1" dirty="0"/>
              <a:t> by </a:t>
            </a:r>
            <a:r>
              <a:rPr lang="it-IT" b="1" dirty="0" err="1"/>
              <a:t>gadolinium</a:t>
            </a:r>
            <a:r>
              <a:rPr lang="it-IT" b="1" dirty="0"/>
              <a:t> </a:t>
            </a:r>
            <a:r>
              <a:rPr lang="it-IT" b="1" dirty="0" err="1"/>
              <a:t>contrast</a:t>
            </a:r>
            <a:r>
              <a:rPr lang="it-IT" b="1" dirty="0"/>
              <a:t> use </a:t>
            </a:r>
            <a:r>
              <a:rPr lang="it-IT" b="1" dirty="0" err="1"/>
              <a:t>at</a:t>
            </a:r>
            <a:r>
              <a:rPr lang="it-IT" b="1" dirty="0"/>
              <a:t> T0</a:t>
            </a:r>
            <a:r>
              <a:rPr lang="it-IT" dirty="0"/>
              <a:t> 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D71968E-AE92-EB01-8B29-CDB05C19F0B0}"/>
              </a:ext>
            </a:extLst>
          </p:cNvPr>
          <p:cNvSpPr txBox="1"/>
          <p:nvPr/>
        </p:nvSpPr>
        <p:spPr>
          <a:xfrm>
            <a:off x="594911" y="5103674"/>
            <a:ext cx="1138042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The plot </a:t>
            </a:r>
            <a:r>
              <a:rPr lang="it-IT" dirty="0" err="1"/>
              <a:t>reveals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the </a:t>
            </a:r>
            <a:r>
              <a:rPr lang="it-IT" b="1" dirty="0"/>
              <a:t>overall </a:t>
            </a:r>
            <a:r>
              <a:rPr lang="it-IT" b="1" dirty="0" err="1"/>
              <a:t>microbial</a:t>
            </a:r>
            <a:r>
              <a:rPr lang="it-IT" b="1" dirty="0"/>
              <a:t> </a:t>
            </a:r>
            <a:r>
              <a:rPr lang="it-IT" b="1" dirty="0" err="1"/>
              <a:t>composition</a:t>
            </a:r>
            <a:r>
              <a:rPr lang="it-IT" b="1" dirty="0"/>
              <a:t> </a:t>
            </a:r>
            <a:r>
              <a:rPr lang="it-IT" b="1" dirty="0" err="1"/>
              <a:t>differs</a:t>
            </a:r>
            <a:r>
              <a:rPr lang="it-IT" b="1" dirty="0"/>
              <a:t> </a:t>
            </a:r>
            <a:r>
              <a:rPr lang="it-IT" b="1" dirty="0" err="1"/>
              <a:t>slightly</a:t>
            </a:r>
            <a:r>
              <a:rPr lang="it-IT" b="1" dirty="0"/>
              <a:t> </a:t>
            </a:r>
            <a:r>
              <a:rPr lang="it-IT" b="1" dirty="0" err="1"/>
              <a:t>between</a:t>
            </a:r>
            <a:r>
              <a:rPr lang="it-IT" b="1" dirty="0"/>
              <a:t> </a:t>
            </a:r>
            <a:r>
              <a:rPr lang="it-IT" b="1" dirty="0" err="1"/>
              <a:t>patients</a:t>
            </a:r>
            <a:r>
              <a:rPr lang="it-IT" b="1" dirty="0"/>
              <a:t> </a:t>
            </a:r>
            <a:r>
              <a:rPr lang="it-IT" b="1" dirty="0" err="1"/>
              <a:t>who</a:t>
            </a:r>
            <a:r>
              <a:rPr lang="it-IT" b="1" dirty="0"/>
              <a:t> </a:t>
            </a:r>
            <a:r>
              <a:rPr lang="it-IT" b="1" dirty="0" err="1"/>
              <a:t>received</a:t>
            </a:r>
            <a:r>
              <a:rPr lang="it-IT" b="1" dirty="0"/>
              <a:t> </a:t>
            </a:r>
            <a:r>
              <a:rPr lang="it-IT" b="1" dirty="0" err="1"/>
              <a:t>gadolinium</a:t>
            </a:r>
            <a:r>
              <a:rPr lang="it-IT" b="1" dirty="0"/>
              <a:t> and </a:t>
            </a:r>
            <a:r>
              <a:rPr lang="it-IT" b="1" dirty="0" err="1"/>
              <a:t>those</a:t>
            </a:r>
            <a:r>
              <a:rPr lang="it-IT" b="1" dirty="0"/>
              <a:t> </a:t>
            </a:r>
            <a:r>
              <a:rPr lang="it-IT" b="1" dirty="0" err="1"/>
              <a:t>who</a:t>
            </a:r>
            <a:r>
              <a:rPr lang="it-IT" b="1" dirty="0"/>
              <a:t> </a:t>
            </a:r>
            <a:r>
              <a:rPr lang="it-IT" b="1" dirty="0" err="1"/>
              <a:t>did</a:t>
            </a:r>
            <a:r>
              <a:rPr lang="it-IT" b="1" dirty="0"/>
              <a:t> </a:t>
            </a:r>
            <a:r>
              <a:rPr lang="it-IT" b="1" dirty="0" err="1"/>
              <a:t>not</a:t>
            </a:r>
            <a:r>
              <a:rPr lang="it-IT" dirty="0"/>
              <a:t>, with </a:t>
            </a:r>
            <a:r>
              <a:rPr lang="it-IT" dirty="0" err="1"/>
              <a:t>dominant</a:t>
            </a:r>
            <a:r>
              <a:rPr lang="it-IT" dirty="0"/>
              <a:t> genera </a:t>
            </a:r>
            <a:r>
              <a:rPr lang="it-IT" dirty="0" err="1"/>
              <a:t>such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i="1" dirty="0" err="1"/>
              <a:t>Bacteroides</a:t>
            </a:r>
            <a:r>
              <a:rPr lang="it-IT" dirty="0"/>
              <a:t>, </a:t>
            </a:r>
            <a:r>
              <a:rPr lang="it-IT" i="1" dirty="0" err="1"/>
              <a:t>Faecalibacterium</a:t>
            </a:r>
            <a:r>
              <a:rPr lang="it-IT" dirty="0"/>
              <a:t>, </a:t>
            </a:r>
            <a:r>
              <a:rPr lang="it-IT" i="1" dirty="0" err="1"/>
              <a:t>Alistipes</a:t>
            </a:r>
            <a:r>
              <a:rPr lang="it-IT" dirty="0"/>
              <a:t>, and </a:t>
            </a:r>
            <a:r>
              <a:rPr lang="it-IT" i="1" dirty="0" err="1"/>
              <a:t>Blautia</a:t>
            </a:r>
            <a:r>
              <a:rPr lang="it-IT" dirty="0"/>
              <a:t> </a:t>
            </a:r>
            <a:r>
              <a:rPr lang="it-IT" dirty="0" err="1"/>
              <a:t>consistently</a:t>
            </a:r>
            <a:r>
              <a:rPr lang="it-IT" dirty="0"/>
              <a:t> </a:t>
            </a:r>
            <a:r>
              <a:rPr lang="it-IT" dirty="0" err="1"/>
              <a:t>represented</a:t>
            </a:r>
            <a:r>
              <a:rPr lang="it-IT" dirty="0"/>
              <a:t> </a:t>
            </a:r>
            <a:r>
              <a:rPr lang="it-IT" dirty="0" err="1"/>
              <a:t>across</a:t>
            </a:r>
            <a:r>
              <a:rPr lang="it-IT" dirty="0"/>
              <a:t> </a:t>
            </a:r>
            <a:r>
              <a:rPr lang="it-IT" dirty="0" err="1"/>
              <a:t>all</a:t>
            </a:r>
            <a:r>
              <a:rPr lang="it-IT" dirty="0"/>
              <a:t> groups. </a:t>
            </a:r>
            <a:r>
              <a:rPr lang="it-IT" dirty="0" err="1"/>
              <a:t>Patients</a:t>
            </a:r>
            <a:r>
              <a:rPr lang="it-IT" dirty="0"/>
              <a:t> </a:t>
            </a:r>
            <a:r>
              <a:rPr lang="it-IT" dirty="0" err="1"/>
              <a:t>who</a:t>
            </a:r>
            <a:r>
              <a:rPr lang="it-IT" dirty="0"/>
              <a:t> </a:t>
            </a:r>
            <a:r>
              <a:rPr lang="it-IT" dirty="0" err="1"/>
              <a:t>received</a:t>
            </a:r>
            <a:r>
              <a:rPr lang="it-IT" dirty="0"/>
              <a:t> </a:t>
            </a:r>
            <a:r>
              <a:rPr lang="it-IT" dirty="0" err="1"/>
              <a:t>gadolinium</a:t>
            </a:r>
            <a:r>
              <a:rPr lang="it-IT" dirty="0"/>
              <a:t> (group 1) show a </a:t>
            </a:r>
            <a:r>
              <a:rPr lang="it-IT" b="1" dirty="0" err="1"/>
              <a:t>higher</a:t>
            </a:r>
            <a:r>
              <a:rPr lang="it-IT" b="1" dirty="0"/>
              <a:t> relative </a:t>
            </a:r>
            <a:r>
              <a:rPr lang="it-IT" b="1" dirty="0" err="1"/>
              <a:t>abundance</a:t>
            </a:r>
            <a:r>
              <a:rPr lang="it-IT" b="1" dirty="0"/>
              <a:t> of </a:t>
            </a:r>
            <a:r>
              <a:rPr lang="it-IT" b="1" i="1" dirty="0" err="1"/>
              <a:t>Bacteroides</a:t>
            </a:r>
            <a:r>
              <a:rPr lang="it-IT" dirty="0"/>
              <a:t> and a </a:t>
            </a:r>
            <a:r>
              <a:rPr lang="it-IT" b="1" dirty="0" err="1"/>
              <a:t>reduction</a:t>
            </a:r>
            <a:r>
              <a:rPr lang="it-IT" b="1" dirty="0"/>
              <a:t> in </a:t>
            </a:r>
            <a:r>
              <a:rPr lang="it-IT" b="1" dirty="0" err="1"/>
              <a:t>butyrate‑producing</a:t>
            </a:r>
            <a:r>
              <a:rPr lang="it-IT" b="1" dirty="0"/>
              <a:t> genera</a:t>
            </a:r>
            <a:r>
              <a:rPr lang="it-IT" dirty="0"/>
              <a:t> (</a:t>
            </a:r>
            <a:r>
              <a:rPr lang="it-IT" i="1" dirty="0" err="1"/>
              <a:t>Faecalibacterium</a:t>
            </a:r>
            <a:r>
              <a:rPr lang="it-IT" dirty="0"/>
              <a:t>, </a:t>
            </a:r>
            <a:r>
              <a:rPr lang="it-IT" i="1" dirty="0" err="1"/>
              <a:t>Roseburia</a:t>
            </a:r>
            <a:r>
              <a:rPr lang="it-IT" dirty="0"/>
              <a:t>), </a:t>
            </a:r>
            <a:r>
              <a:rPr lang="it-IT" dirty="0" err="1"/>
              <a:t>suggesting</a:t>
            </a:r>
            <a:r>
              <a:rPr lang="it-IT" dirty="0"/>
              <a:t> a </a:t>
            </a:r>
            <a:r>
              <a:rPr lang="it-IT" b="1" dirty="0" err="1"/>
              <a:t>potentially</a:t>
            </a:r>
            <a:r>
              <a:rPr lang="it-IT" b="1" dirty="0"/>
              <a:t> </a:t>
            </a:r>
            <a:r>
              <a:rPr lang="it-IT" b="1" dirty="0" err="1"/>
              <a:t>less</a:t>
            </a:r>
            <a:r>
              <a:rPr lang="it-IT" b="1" dirty="0"/>
              <a:t> </a:t>
            </a:r>
            <a:r>
              <a:rPr lang="it-IT" b="1" dirty="0" err="1"/>
              <a:t>balanced</a:t>
            </a:r>
            <a:r>
              <a:rPr lang="it-IT" b="1" dirty="0"/>
              <a:t> microbiota </a:t>
            </a:r>
            <a:r>
              <a:rPr lang="it-IT" b="1" dirty="0" err="1"/>
              <a:t>profile</a:t>
            </a:r>
            <a:r>
              <a:rPr lang="it-IT" dirty="0"/>
              <a:t> </a:t>
            </a:r>
            <a:r>
              <a:rPr lang="it-IT" dirty="0" err="1"/>
              <a:t>associated</a:t>
            </a:r>
            <a:r>
              <a:rPr lang="it-IT" dirty="0"/>
              <a:t> with </a:t>
            </a:r>
            <a:r>
              <a:rPr lang="it-IT" dirty="0" err="1"/>
              <a:t>disease</a:t>
            </a:r>
            <a:r>
              <a:rPr lang="it-IT" dirty="0"/>
              <a:t> activity or treatment </a:t>
            </a:r>
            <a:r>
              <a:rPr lang="it-IT" dirty="0" err="1"/>
              <a:t>intensity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8613462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238E8FAE-11DD-9142-4145-3D1BBCDF0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13" y="342741"/>
            <a:ext cx="11151173" cy="617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62652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63AC8-FC13-B5C9-7DAC-55D2B99D5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B3ED8925-C360-AFE0-77B3-34F7A1857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724" y="832040"/>
            <a:ext cx="7622802" cy="4246736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DFA57131-6C04-6E2C-4500-C82C3922272B}"/>
              </a:ext>
            </a:extLst>
          </p:cNvPr>
          <p:cNvSpPr txBox="1"/>
          <p:nvPr/>
        </p:nvSpPr>
        <p:spPr>
          <a:xfrm>
            <a:off x="396607" y="462708"/>
            <a:ext cx="5563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Microbiota </a:t>
            </a:r>
            <a:r>
              <a:rPr lang="it-IT" b="1" dirty="0" err="1"/>
              <a:t>composition</a:t>
            </a:r>
            <a:r>
              <a:rPr lang="it-IT" b="1" dirty="0"/>
              <a:t> by full recovery status</a:t>
            </a:r>
            <a:r>
              <a:rPr lang="it-IT" dirty="0"/>
              <a:t> 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59E44BE-0EFB-7481-2D5C-A1758B09B8E5}"/>
              </a:ext>
            </a:extLst>
          </p:cNvPr>
          <p:cNvSpPr txBox="1"/>
          <p:nvPr/>
        </p:nvSpPr>
        <p:spPr>
          <a:xfrm>
            <a:off x="349326" y="5162089"/>
            <a:ext cx="1149334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The plot </a:t>
            </a:r>
            <a:r>
              <a:rPr lang="it-IT" dirty="0" err="1"/>
              <a:t>reveals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patients</a:t>
            </a:r>
            <a:r>
              <a:rPr lang="it-IT" dirty="0"/>
              <a:t> with </a:t>
            </a:r>
            <a:r>
              <a:rPr lang="it-IT" b="1" dirty="0"/>
              <a:t>full recovery (group 1)</a:t>
            </a:r>
            <a:r>
              <a:rPr lang="it-IT" dirty="0"/>
              <a:t> display a </a:t>
            </a:r>
            <a:r>
              <a:rPr lang="it-IT" b="1" dirty="0"/>
              <a:t>more </a:t>
            </a:r>
            <a:r>
              <a:rPr lang="it-IT" b="1" dirty="0" err="1"/>
              <a:t>homogeneous</a:t>
            </a:r>
            <a:r>
              <a:rPr lang="it-IT" b="1" dirty="0"/>
              <a:t> microbiota </a:t>
            </a:r>
            <a:r>
              <a:rPr lang="it-IT" b="1" dirty="0" err="1"/>
              <a:t>composition</a:t>
            </a:r>
            <a:r>
              <a:rPr lang="it-IT" dirty="0"/>
              <a:t>, </a:t>
            </a:r>
            <a:r>
              <a:rPr lang="it-IT" dirty="0" err="1"/>
              <a:t>dominated</a:t>
            </a:r>
            <a:r>
              <a:rPr lang="it-IT" dirty="0"/>
              <a:t> by </a:t>
            </a:r>
            <a:r>
              <a:rPr lang="it-IT" i="1" dirty="0" err="1"/>
              <a:t>Bacteroides</a:t>
            </a:r>
            <a:r>
              <a:rPr lang="it-IT" dirty="0"/>
              <a:t> and </a:t>
            </a:r>
            <a:r>
              <a:rPr lang="it-IT" i="1" dirty="0" err="1"/>
              <a:t>Alistipes</a:t>
            </a:r>
            <a:r>
              <a:rPr lang="it-IT" dirty="0"/>
              <a:t>, </a:t>
            </a:r>
            <a:r>
              <a:rPr lang="it-IT" dirty="0" err="1"/>
              <a:t>while</a:t>
            </a:r>
            <a:r>
              <a:rPr lang="it-IT" dirty="0"/>
              <a:t> </a:t>
            </a:r>
            <a:r>
              <a:rPr lang="it-IT" dirty="0" err="1"/>
              <a:t>those</a:t>
            </a:r>
            <a:r>
              <a:rPr lang="it-IT" dirty="0"/>
              <a:t> </a:t>
            </a:r>
            <a:r>
              <a:rPr lang="it-IT" b="1" dirty="0" err="1"/>
              <a:t>without</a:t>
            </a:r>
            <a:r>
              <a:rPr lang="it-IT" b="1" dirty="0"/>
              <a:t> recovery (group 0)</a:t>
            </a:r>
            <a:r>
              <a:rPr lang="it-IT" dirty="0"/>
              <a:t> show </a:t>
            </a:r>
            <a:r>
              <a:rPr lang="it-IT" b="1" dirty="0" err="1"/>
              <a:t>greater</a:t>
            </a:r>
            <a:r>
              <a:rPr lang="it-IT" b="1" dirty="0"/>
              <a:t> </a:t>
            </a:r>
            <a:r>
              <a:rPr lang="it-IT" b="1" dirty="0" err="1"/>
              <a:t>diversity</a:t>
            </a:r>
            <a:r>
              <a:rPr lang="it-IT" dirty="0"/>
              <a:t> and </a:t>
            </a:r>
            <a:r>
              <a:rPr lang="it-IT" dirty="0" err="1"/>
              <a:t>higher</a:t>
            </a:r>
            <a:r>
              <a:rPr lang="it-IT" dirty="0"/>
              <a:t> </a:t>
            </a:r>
            <a:r>
              <a:rPr lang="it-IT" dirty="0" err="1"/>
              <a:t>representation</a:t>
            </a:r>
            <a:r>
              <a:rPr lang="it-IT" dirty="0"/>
              <a:t> of </a:t>
            </a:r>
            <a:r>
              <a:rPr lang="it-IT" i="1" dirty="0" err="1"/>
              <a:t>Faecalibacterium</a:t>
            </a:r>
            <a:r>
              <a:rPr lang="it-IT" dirty="0"/>
              <a:t> and </a:t>
            </a:r>
            <a:r>
              <a:rPr lang="it-IT" i="1" dirty="0" err="1"/>
              <a:t>Roseburia</a:t>
            </a:r>
            <a:r>
              <a:rPr lang="it-IT" dirty="0"/>
              <a:t>, genera </a:t>
            </a:r>
            <a:r>
              <a:rPr lang="it-IT" dirty="0" err="1"/>
              <a:t>associated</a:t>
            </a:r>
            <a:r>
              <a:rPr lang="it-IT" dirty="0"/>
              <a:t> with anti‑</a:t>
            </a:r>
            <a:r>
              <a:rPr lang="it-IT" dirty="0" err="1"/>
              <a:t>inflammatory</a:t>
            </a:r>
            <a:r>
              <a:rPr lang="it-IT" dirty="0"/>
              <a:t> activity.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visualization</a:t>
            </a:r>
            <a:r>
              <a:rPr lang="it-IT" dirty="0"/>
              <a:t> </a:t>
            </a:r>
            <a:r>
              <a:rPr lang="it-IT" dirty="0" err="1"/>
              <a:t>suggests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b="1" dirty="0"/>
              <a:t>microbiota </a:t>
            </a:r>
            <a:r>
              <a:rPr lang="it-IT" b="1" dirty="0" err="1"/>
              <a:t>stabilization</a:t>
            </a:r>
            <a:r>
              <a:rPr lang="it-IT" b="1" dirty="0"/>
              <a:t> </a:t>
            </a:r>
            <a:r>
              <a:rPr lang="it-IT" b="1" dirty="0" err="1"/>
              <a:t>may</a:t>
            </a:r>
            <a:r>
              <a:rPr lang="it-IT" b="1" dirty="0"/>
              <a:t> </a:t>
            </a:r>
            <a:r>
              <a:rPr lang="it-IT" b="1" dirty="0" err="1"/>
              <a:t>accompany</a:t>
            </a:r>
            <a:r>
              <a:rPr lang="it-IT" b="1" dirty="0"/>
              <a:t> clinical </a:t>
            </a:r>
            <a:r>
              <a:rPr lang="it-IT" b="1" dirty="0" err="1"/>
              <a:t>improvement</a:t>
            </a:r>
            <a:r>
              <a:rPr lang="it-IT" dirty="0"/>
              <a:t>, </a:t>
            </a:r>
            <a:r>
              <a:rPr lang="it-IT" dirty="0" err="1"/>
              <a:t>whereas</a:t>
            </a:r>
            <a:r>
              <a:rPr lang="it-IT" dirty="0"/>
              <a:t> </a:t>
            </a:r>
            <a:r>
              <a:rPr lang="it-IT" b="1" dirty="0" err="1"/>
              <a:t>greater</a:t>
            </a:r>
            <a:r>
              <a:rPr lang="it-IT" b="1" dirty="0"/>
              <a:t> </a:t>
            </a:r>
            <a:r>
              <a:rPr lang="it-IT" b="1" dirty="0" err="1"/>
              <a:t>variability</a:t>
            </a:r>
            <a:r>
              <a:rPr lang="it-IT" dirty="0"/>
              <a:t> </a:t>
            </a:r>
            <a:r>
              <a:rPr lang="it-IT" dirty="0" err="1"/>
              <a:t>could</a:t>
            </a:r>
            <a:r>
              <a:rPr lang="it-IT" dirty="0"/>
              <a:t> </a:t>
            </a:r>
            <a:r>
              <a:rPr lang="it-IT" dirty="0" err="1"/>
              <a:t>reflect</a:t>
            </a:r>
            <a:r>
              <a:rPr lang="it-IT" dirty="0"/>
              <a:t> </a:t>
            </a:r>
            <a:r>
              <a:rPr lang="it-IT" dirty="0" err="1"/>
              <a:t>ongoing</a:t>
            </a:r>
            <a:r>
              <a:rPr lang="it-IT" dirty="0"/>
              <a:t> </a:t>
            </a:r>
            <a:r>
              <a:rPr lang="it-IT" dirty="0" err="1"/>
              <a:t>dysbiosis</a:t>
            </a:r>
            <a:r>
              <a:rPr lang="it-IT" dirty="0"/>
              <a:t> or incomplete recovery.</a:t>
            </a:r>
          </a:p>
        </p:txBody>
      </p:sp>
    </p:spTree>
    <p:extLst>
      <p:ext uri="{BB962C8B-B14F-4D97-AF65-F5344CB8AC3E}">
        <p14:creationId xmlns:p14="http://schemas.microsoft.com/office/powerpoint/2010/main" val="106301765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93B74FC8-A214-2F87-0C72-BE0427ED8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639" y="339566"/>
            <a:ext cx="11106721" cy="617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8937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B1FC2-33F7-AC07-20FF-D6EDFADD2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1B459DB0-CD3D-DA08-7AA9-D30C4ED8D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822" y="699838"/>
            <a:ext cx="7707108" cy="4296353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12C00A2C-580B-A002-6957-99515FE59FC9}"/>
              </a:ext>
            </a:extLst>
          </p:cNvPr>
          <p:cNvSpPr txBox="1"/>
          <p:nvPr/>
        </p:nvSpPr>
        <p:spPr>
          <a:xfrm>
            <a:off x="319488" y="330506"/>
            <a:ext cx="9408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Microbiota </a:t>
            </a:r>
            <a:r>
              <a:rPr lang="it-IT" b="1" dirty="0" err="1"/>
              <a:t>composition</a:t>
            </a:r>
            <a:r>
              <a:rPr lang="it-IT" b="1" dirty="0"/>
              <a:t> by MEDAS score (Genus </a:t>
            </a:r>
            <a:r>
              <a:rPr lang="it-IT" b="1" dirty="0" err="1"/>
              <a:t>level</a:t>
            </a:r>
            <a:r>
              <a:rPr lang="it-IT" b="1" dirty="0"/>
              <a:t>) 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024F7A1-9FEC-BC33-D9FF-E5E95F92990F}"/>
              </a:ext>
            </a:extLst>
          </p:cNvPr>
          <p:cNvSpPr txBox="1"/>
          <p:nvPr/>
        </p:nvSpPr>
        <p:spPr>
          <a:xfrm>
            <a:off x="319488" y="5103674"/>
            <a:ext cx="1172194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The plot </a:t>
            </a:r>
            <a:r>
              <a:rPr lang="it-IT" dirty="0" err="1"/>
              <a:t>reveals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patients</a:t>
            </a:r>
            <a:r>
              <a:rPr lang="it-IT" dirty="0"/>
              <a:t> with </a:t>
            </a:r>
            <a:r>
              <a:rPr lang="it-IT" b="1" dirty="0"/>
              <a:t>high </a:t>
            </a:r>
            <a:r>
              <a:rPr lang="it-IT" b="1" dirty="0" err="1"/>
              <a:t>adherence</a:t>
            </a:r>
            <a:r>
              <a:rPr lang="it-IT" b="1" dirty="0"/>
              <a:t> to the </a:t>
            </a:r>
            <a:r>
              <a:rPr lang="it-IT" b="1" dirty="0" err="1"/>
              <a:t>Mediterranean</a:t>
            </a:r>
            <a:r>
              <a:rPr lang="it-IT" b="1" dirty="0"/>
              <a:t> </a:t>
            </a:r>
            <a:r>
              <a:rPr lang="it-IT" b="1" dirty="0" err="1"/>
              <a:t>diet</a:t>
            </a:r>
            <a:r>
              <a:rPr lang="it-IT" dirty="0"/>
              <a:t> </a:t>
            </a:r>
            <a:r>
              <a:rPr lang="it-IT" dirty="0" err="1"/>
              <a:t>tend</a:t>
            </a:r>
            <a:r>
              <a:rPr lang="it-IT" dirty="0"/>
              <a:t> to </a:t>
            </a:r>
            <a:r>
              <a:rPr lang="it-IT" dirty="0" err="1"/>
              <a:t>have</a:t>
            </a:r>
            <a:r>
              <a:rPr lang="it-IT" dirty="0"/>
              <a:t> a </a:t>
            </a:r>
            <a:r>
              <a:rPr lang="it-IT" b="1" dirty="0"/>
              <a:t>more </a:t>
            </a:r>
            <a:r>
              <a:rPr lang="it-IT" b="1" dirty="0" err="1"/>
              <a:t>balanced</a:t>
            </a:r>
            <a:r>
              <a:rPr lang="it-IT" b="1" dirty="0"/>
              <a:t> microbiota </a:t>
            </a:r>
            <a:r>
              <a:rPr lang="it-IT" b="1" dirty="0" err="1"/>
              <a:t>composition</a:t>
            </a:r>
            <a:r>
              <a:rPr lang="it-IT" dirty="0"/>
              <a:t>, with </a:t>
            </a:r>
            <a:r>
              <a:rPr lang="it-IT" dirty="0" err="1"/>
              <a:t>dominant</a:t>
            </a:r>
            <a:r>
              <a:rPr lang="it-IT" dirty="0"/>
              <a:t> genera </a:t>
            </a:r>
            <a:r>
              <a:rPr lang="it-IT" dirty="0" err="1"/>
              <a:t>such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i="1" dirty="0" err="1"/>
              <a:t>Faecalibacterium</a:t>
            </a:r>
            <a:r>
              <a:rPr lang="it-IT" dirty="0"/>
              <a:t>, </a:t>
            </a:r>
            <a:r>
              <a:rPr lang="it-IT" i="1" dirty="0" err="1"/>
              <a:t>Bacteroides</a:t>
            </a:r>
            <a:r>
              <a:rPr lang="it-IT" dirty="0"/>
              <a:t>, and </a:t>
            </a:r>
            <a:r>
              <a:rPr lang="it-IT" i="1" dirty="0" err="1"/>
              <a:t>Alistipes</a:t>
            </a:r>
            <a:r>
              <a:rPr lang="it-IT" i="1" dirty="0"/>
              <a:t>, </a:t>
            </a:r>
            <a:r>
              <a:rPr lang="it-IT" dirty="0" err="1"/>
              <a:t>often</a:t>
            </a:r>
            <a:r>
              <a:rPr lang="it-IT" dirty="0"/>
              <a:t> </a:t>
            </a:r>
            <a:r>
              <a:rPr lang="it-IT" dirty="0" err="1"/>
              <a:t>associated</a:t>
            </a:r>
            <a:r>
              <a:rPr lang="it-IT" dirty="0"/>
              <a:t> with </a:t>
            </a:r>
            <a:r>
              <a:rPr lang="it-IT" dirty="0" err="1"/>
              <a:t>beneficial</a:t>
            </a:r>
            <a:r>
              <a:rPr lang="it-IT" dirty="0"/>
              <a:t> </a:t>
            </a:r>
            <a:r>
              <a:rPr lang="it-IT" dirty="0" err="1"/>
              <a:t>metabolic</a:t>
            </a:r>
            <a:r>
              <a:rPr lang="it-IT" dirty="0"/>
              <a:t> and anti‑</a:t>
            </a:r>
            <a:r>
              <a:rPr lang="it-IT" dirty="0" err="1"/>
              <a:t>inflammatory</a:t>
            </a:r>
            <a:r>
              <a:rPr lang="it-IT" dirty="0"/>
              <a:t> </a:t>
            </a:r>
            <a:r>
              <a:rPr lang="it-IT" dirty="0" err="1"/>
              <a:t>functions</a:t>
            </a:r>
            <a:r>
              <a:rPr lang="it-IT" dirty="0"/>
              <a:t>. </a:t>
            </a:r>
          </a:p>
          <a:p>
            <a:r>
              <a:rPr lang="it-IT" dirty="0"/>
              <a:t>In </a:t>
            </a:r>
            <a:r>
              <a:rPr lang="it-IT" dirty="0" err="1"/>
              <a:t>contrast</a:t>
            </a:r>
            <a:r>
              <a:rPr lang="it-IT" dirty="0"/>
              <a:t>, </a:t>
            </a:r>
            <a:r>
              <a:rPr lang="it-IT" b="1" dirty="0"/>
              <a:t>low MEDAS scores</a:t>
            </a:r>
            <a:r>
              <a:rPr lang="it-IT" dirty="0"/>
              <a:t> show </a:t>
            </a:r>
            <a:r>
              <a:rPr lang="it-IT" b="1" dirty="0" err="1"/>
              <a:t>greater</a:t>
            </a:r>
            <a:r>
              <a:rPr lang="it-IT" b="1" dirty="0"/>
              <a:t> </a:t>
            </a:r>
            <a:r>
              <a:rPr lang="it-IT" b="1" dirty="0" err="1"/>
              <a:t>variability</a:t>
            </a:r>
            <a:r>
              <a:rPr lang="it-IT" dirty="0"/>
              <a:t> and </a:t>
            </a:r>
            <a:r>
              <a:rPr lang="it-IT" dirty="0" err="1"/>
              <a:t>relatively</a:t>
            </a:r>
            <a:r>
              <a:rPr lang="it-IT" dirty="0"/>
              <a:t> </a:t>
            </a:r>
            <a:r>
              <a:rPr lang="it-IT" dirty="0" err="1"/>
              <a:t>higher</a:t>
            </a:r>
            <a:r>
              <a:rPr lang="it-IT" dirty="0"/>
              <a:t> </a:t>
            </a:r>
            <a:r>
              <a:rPr lang="it-IT" dirty="0" err="1"/>
              <a:t>proportions</a:t>
            </a:r>
            <a:r>
              <a:rPr lang="it-IT" dirty="0"/>
              <a:t> of </a:t>
            </a:r>
            <a:r>
              <a:rPr lang="it-IT" i="1" dirty="0" err="1"/>
              <a:t>Blautia</a:t>
            </a:r>
            <a:r>
              <a:rPr lang="it-IT" dirty="0"/>
              <a:t> and </a:t>
            </a:r>
            <a:r>
              <a:rPr lang="it-IT" i="1" dirty="0" err="1"/>
              <a:t>Phocaeicola</a:t>
            </a:r>
            <a:r>
              <a:rPr lang="it-IT" dirty="0"/>
              <a:t>, </a:t>
            </a:r>
            <a:r>
              <a:rPr lang="it-IT" dirty="0" err="1"/>
              <a:t>suggesting</a:t>
            </a:r>
            <a:r>
              <a:rPr lang="it-IT" dirty="0"/>
              <a:t> </a:t>
            </a:r>
            <a:r>
              <a:rPr lang="it-IT" b="1" dirty="0" err="1"/>
              <a:t>potential</a:t>
            </a:r>
            <a:r>
              <a:rPr lang="it-IT" b="1" dirty="0"/>
              <a:t> shifts </a:t>
            </a:r>
            <a:r>
              <a:rPr lang="it-IT" b="1" dirty="0" err="1"/>
              <a:t>toward</a:t>
            </a:r>
            <a:r>
              <a:rPr lang="it-IT" b="1" dirty="0"/>
              <a:t> </a:t>
            </a:r>
            <a:r>
              <a:rPr lang="it-IT" b="1" dirty="0" err="1"/>
              <a:t>less</a:t>
            </a:r>
            <a:r>
              <a:rPr lang="it-IT" b="1" dirty="0"/>
              <a:t> </a:t>
            </a:r>
            <a:r>
              <a:rPr lang="it-IT" b="1" dirty="0" err="1"/>
              <a:t>favorable</a:t>
            </a:r>
            <a:r>
              <a:rPr lang="it-IT" b="1" dirty="0"/>
              <a:t> </a:t>
            </a:r>
            <a:r>
              <a:rPr lang="it-IT" b="1" dirty="0" err="1"/>
              <a:t>microbial</a:t>
            </a:r>
            <a:r>
              <a:rPr lang="it-IT" b="1" dirty="0"/>
              <a:t> </a:t>
            </a:r>
            <a:r>
              <a:rPr lang="it-IT" b="1" dirty="0" err="1"/>
              <a:t>profiles</a:t>
            </a:r>
            <a:r>
              <a:rPr lang="it-IT" dirty="0"/>
              <a:t>. </a:t>
            </a:r>
          </a:p>
          <a:p>
            <a:r>
              <a:rPr lang="it-IT" dirty="0"/>
              <a:t>Overall, the </a:t>
            </a:r>
            <a:r>
              <a:rPr lang="it-IT" dirty="0" err="1"/>
              <a:t>visualization</a:t>
            </a:r>
            <a:r>
              <a:rPr lang="it-IT" dirty="0"/>
              <a:t> supports the idea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b="1" dirty="0" err="1"/>
              <a:t>diet</a:t>
            </a:r>
            <a:r>
              <a:rPr lang="it-IT" b="1" dirty="0"/>
              <a:t> </a:t>
            </a:r>
            <a:r>
              <a:rPr lang="it-IT" b="1" dirty="0" err="1"/>
              <a:t>quality</a:t>
            </a:r>
            <a:r>
              <a:rPr lang="it-IT" b="1" dirty="0"/>
              <a:t> </a:t>
            </a:r>
            <a:r>
              <a:rPr lang="it-IT" b="1" dirty="0" err="1"/>
              <a:t>influences</a:t>
            </a:r>
            <a:r>
              <a:rPr lang="it-IT" b="1" dirty="0"/>
              <a:t> microbiota </a:t>
            </a:r>
            <a:r>
              <a:rPr lang="it-IT" b="1" dirty="0" err="1"/>
              <a:t>stability</a:t>
            </a:r>
            <a:r>
              <a:rPr lang="it-IT" b="1" dirty="0"/>
              <a:t> and </a:t>
            </a:r>
            <a:r>
              <a:rPr lang="it-IT" b="1" dirty="0" err="1"/>
              <a:t>diversity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7860514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86529-7A06-D796-140E-F040B35EC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3F1820E1-F28B-E74A-06DA-C0789AF83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8263" y="743811"/>
            <a:ext cx="7575474" cy="4196906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CCC4785E-3709-1862-5716-F599549CDB25}"/>
              </a:ext>
            </a:extLst>
          </p:cNvPr>
          <p:cNvSpPr txBox="1"/>
          <p:nvPr/>
        </p:nvSpPr>
        <p:spPr>
          <a:xfrm>
            <a:off x="451692" y="339871"/>
            <a:ext cx="107524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Microbiota </a:t>
            </a:r>
            <a:r>
              <a:rPr lang="it-IT" b="1" dirty="0" err="1"/>
              <a:t>composition</a:t>
            </a:r>
            <a:r>
              <a:rPr lang="it-IT" b="1" dirty="0"/>
              <a:t> by MEDAS score (</a:t>
            </a:r>
            <a:r>
              <a:rPr lang="it-IT" b="1" dirty="0" err="1"/>
              <a:t>Species</a:t>
            </a:r>
            <a:r>
              <a:rPr lang="it-IT" b="1" dirty="0"/>
              <a:t> </a:t>
            </a:r>
            <a:r>
              <a:rPr lang="it-IT" b="1" dirty="0" err="1"/>
              <a:t>level</a:t>
            </a:r>
            <a:r>
              <a:rPr lang="it-IT" b="1" dirty="0"/>
              <a:t>)</a:t>
            </a:r>
          </a:p>
          <a:p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3543C48-7469-716A-5D53-D1EEC6C3A0FD}"/>
              </a:ext>
            </a:extLst>
          </p:cNvPr>
          <p:cNvSpPr txBox="1"/>
          <p:nvPr/>
        </p:nvSpPr>
        <p:spPr>
          <a:xfrm>
            <a:off x="451691" y="4948468"/>
            <a:ext cx="1160076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The plot </a:t>
            </a:r>
            <a:r>
              <a:rPr lang="it-IT" dirty="0" err="1"/>
              <a:t>reveals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patients</a:t>
            </a:r>
            <a:r>
              <a:rPr lang="it-IT" dirty="0"/>
              <a:t> with </a:t>
            </a:r>
            <a:r>
              <a:rPr lang="it-IT" b="1" dirty="0"/>
              <a:t>high </a:t>
            </a:r>
            <a:r>
              <a:rPr lang="it-IT" b="1" dirty="0" err="1"/>
              <a:t>adherence</a:t>
            </a:r>
            <a:r>
              <a:rPr lang="it-IT" b="1" dirty="0"/>
              <a:t> to the </a:t>
            </a:r>
            <a:r>
              <a:rPr lang="it-IT" b="1" dirty="0" err="1"/>
              <a:t>Mediterranean</a:t>
            </a:r>
            <a:r>
              <a:rPr lang="it-IT" b="1" dirty="0"/>
              <a:t> </a:t>
            </a:r>
            <a:r>
              <a:rPr lang="it-IT" b="1" dirty="0" err="1"/>
              <a:t>diet</a:t>
            </a:r>
            <a:r>
              <a:rPr lang="it-IT" dirty="0"/>
              <a:t> </a:t>
            </a:r>
            <a:r>
              <a:rPr lang="it-IT" dirty="0" err="1"/>
              <a:t>tend</a:t>
            </a:r>
            <a:r>
              <a:rPr lang="it-IT" dirty="0"/>
              <a:t> to </a:t>
            </a:r>
            <a:r>
              <a:rPr lang="it-IT" dirty="0" err="1"/>
              <a:t>have</a:t>
            </a:r>
            <a:r>
              <a:rPr lang="it-IT" dirty="0"/>
              <a:t> a </a:t>
            </a:r>
            <a:r>
              <a:rPr lang="it-IT" b="1" dirty="0"/>
              <a:t>more </a:t>
            </a:r>
            <a:r>
              <a:rPr lang="it-IT" b="1" dirty="0" err="1"/>
              <a:t>balanced</a:t>
            </a:r>
            <a:r>
              <a:rPr lang="it-IT" b="1" dirty="0"/>
              <a:t> and diverse microbiota</a:t>
            </a:r>
            <a:r>
              <a:rPr lang="it-IT" dirty="0"/>
              <a:t>, </a:t>
            </a:r>
            <a:r>
              <a:rPr lang="it-IT" dirty="0" err="1"/>
              <a:t>characterized</a:t>
            </a:r>
            <a:r>
              <a:rPr lang="it-IT" dirty="0"/>
              <a:t> by </a:t>
            </a:r>
            <a:r>
              <a:rPr lang="it-IT" dirty="0" err="1"/>
              <a:t>beneficial</a:t>
            </a:r>
            <a:r>
              <a:rPr lang="it-IT" dirty="0"/>
              <a:t> </a:t>
            </a:r>
            <a:r>
              <a:rPr lang="it-IT" dirty="0" err="1"/>
              <a:t>species</a:t>
            </a:r>
            <a:r>
              <a:rPr lang="it-IT" dirty="0"/>
              <a:t> </a:t>
            </a:r>
            <a:r>
              <a:rPr lang="it-IT" dirty="0" err="1"/>
              <a:t>such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i="1" dirty="0" err="1"/>
              <a:t>Faecalibacterium</a:t>
            </a:r>
            <a:r>
              <a:rPr lang="it-IT" i="1" dirty="0"/>
              <a:t> </a:t>
            </a:r>
            <a:r>
              <a:rPr lang="it-IT" i="1" dirty="0" err="1"/>
              <a:t>prausnitzii</a:t>
            </a:r>
            <a:r>
              <a:rPr lang="it-IT" dirty="0"/>
              <a:t>, </a:t>
            </a:r>
            <a:r>
              <a:rPr lang="it-IT" i="1" dirty="0" err="1"/>
              <a:t>Roseburia</a:t>
            </a:r>
            <a:r>
              <a:rPr lang="it-IT" i="1" dirty="0"/>
              <a:t> </a:t>
            </a:r>
            <a:r>
              <a:rPr lang="it-IT" i="1" dirty="0" err="1"/>
              <a:t>faecis</a:t>
            </a:r>
            <a:r>
              <a:rPr lang="it-IT" dirty="0"/>
              <a:t>, and </a:t>
            </a:r>
            <a:r>
              <a:rPr lang="it-IT" i="1" dirty="0" err="1"/>
              <a:t>Bacteroides</a:t>
            </a:r>
            <a:r>
              <a:rPr lang="it-IT" i="1" dirty="0"/>
              <a:t> </a:t>
            </a:r>
            <a:r>
              <a:rPr lang="it-IT" i="1" dirty="0" err="1"/>
              <a:t>uniformis</a:t>
            </a:r>
            <a:r>
              <a:rPr lang="it-IT" dirty="0"/>
              <a:t>. </a:t>
            </a:r>
            <a:r>
              <a:rPr lang="it-IT" dirty="0" err="1"/>
              <a:t>Conversely</a:t>
            </a:r>
            <a:r>
              <a:rPr lang="it-IT" dirty="0"/>
              <a:t>, </a:t>
            </a:r>
            <a:r>
              <a:rPr lang="it-IT" b="1" dirty="0"/>
              <a:t>low MEDAS scores</a:t>
            </a:r>
            <a:r>
              <a:rPr lang="it-IT" dirty="0"/>
              <a:t> are </a:t>
            </a:r>
            <a:r>
              <a:rPr lang="it-IT" dirty="0" err="1"/>
              <a:t>associated</a:t>
            </a:r>
            <a:r>
              <a:rPr lang="it-IT" dirty="0"/>
              <a:t> with </a:t>
            </a:r>
            <a:r>
              <a:rPr lang="it-IT" b="1" dirty="0" err="1"/>
              <a:t>greater</a:t>
            </a:r>
            <a:r>
              <a:rPr lang="it-IT" b="1" dirty="0"/>
              <a:t> </a:t>
            </a:r>
            <a:r>
              <a:rPr lang="it-IT" b="1" dirty="0" err="1"/>
              <a:t>variability</a:t>
            </a:r>
            <a:r>
              <a:rPr lang="it-IT" dirty="0"/>
              <a:t> and </a:t>
            </a:r>
            <a:r>
              <a:rPr lang="it-IT" dirty="0" err="1"/>
              <a:t>relatively</a:t>
            </a:r>
            <a:r>
              <a:rPr lang="it-IT" dirty="0"/>
              <a:t> </a:t>
            </a:r>
            <a:r>
              <a:rPr lang="it-IT" dirty="0" err="1"/>
              <a:t>higher</a:t>
            </a:r>
            <a:r>
              <a:rPr lang="it-IT" dirty="0"/>
              <a:t> </a:t>
            </a:r>
            <a:r>
              <a:rPr lang="it-IT" dirty="0" err="1"/>
              <a:t>proportions</a:t>
            </a:r>
            <a:r>
              <a:rPr lang="it-IT" dirty="0"/>
              <a:t> of </a:t>
            </a:r>
            <a:r>
              <a:rPr lang="it-IT" i="1" dirty="0" err="1"/>
              <a:t>Phocaeicola</a:t>
            </a:r>
            <a:r>
              <a:rPr lang="it-IT" i="1" dirty="0"/>
              <a:t> </a:t>
            </a:r>
            <a:r>
              <a:rPr lang="it-IT" i="1" dirty="0" err="1"/>
              <a:t>dorei</a:t>
            </a:r>
            <a:r>
              <a:rPr lang="it-IT" dirty="0"/>
              <a:t> and </a:t>
            </a:r>
            <a:r>
              <a:rPr lang="it-IT" i="1" dirty="0" err="1"/>
              <a:t>Segatella</a:t>
            </a:r>
            <a:r>
              <a:rPr lang="it-IT" i="1" dirty="0"/>
              <a:t> copri</a:t>
            </a:r>
            <a:r>
              <a:rPr lang="it-IT" dirty="0"/>
              <a:t>, </a:t>
            </a:r>
            <a:r>
              <a:rPr lang="it-IT" dirty="0" err="1"/>
              <a:t>suggesting</a:t>
            </a:r>
            <a:r>
              <a:rPr lang="it-IT" dirty="0"/>
              <a:t> </a:t>
            </a:r>
            <a:r>
              <a:rPr lang="it-IT" b="1" dirty="0" err="1"/>
              <a:t>potential</a:t>
            </a:r>
            <a:r>
              <a:rPr lang="it-IT" b="1" dirty="0"/>
              <a:t> shifts </a:t>
            </a:r>
            <a:r>
              <a:rPr lang="it-IT" b="1" dirty="0" err="1"/>
              <a:t>toward</a:t>
            </a:r>
            <a:r>
              <a:rPr lang="it-IT" b="1" dirty="0"/>
              <a:t> </a:t>
            </a:r>
            <a:r>
              <a:rPr lang="it-IT" b="1" dirty="0" err="1"/>
              <a:t>less</a:t>
            </a:r>
            <a:r>
              <a:rPr lang="it-IT" b="1" dirty="0"/>
              <a:t> </a:t>
            </a:r>
            <a:r>
              <a:rPr lang="it-IT" b="1" dirty="0" err="1"/>
              <a:t>favorable</a:t>
            </a:r>
            <a:r>
              <a:rPr lang="it-IT" b="1" dirty="0"/>
              <a:t> </a:t>
            </a:r>
            <a:r>
              <a:rPr lang="it-IT" b="1" dirty="0" err="1"/>
              <a:t>microbial</a:t>
            </a:r>
            <a:r>
              <a:rPr lang="it-IT" b="1" dirty="0"/>
              <a:t> </a:t>
            </a:r>
            <a:r>
              <a:rPr lang="it-IT" b="1" dirty="0" err="1"/>
              <a:t>profiles</a:t>
            </a:r>
            <a:r>
              <a:rPr lang="it-IT" dirty="0"/>
              <a:t>. Overall, the </a:t>
            </a:r>
            <a:r>
              <a:rPr lang="it-IT" dirty="0" err="1"/>
              <a:t>visualization</a:t>
            </a:r>
            <a:r>
              <a:rPr lang="it-IT" dirty="0"/>
              <a:t> supports the </a:t>
            </a:r>
            <a:r>
              <a:rPr lang="it-IT" dirty="0" err="1"/>
              <a:t>hypothesis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b="1" dirty="0" err="1"/>
              <a:t>Mediterranean</a:t>
            </a:r>
            <a:r>
              <a:rPr lang="it-IT" b="1" dirty="0"/>
              <a:t> </a:t>
            </a:r>
            <a:r>
              <a:rPr lang="it-IT" b="1" dirty="0" err="1"/>
              <a:t>diet</a:t>
            </a:r>
            <a:r>
              <a:rPr lang="it-IT" b="1" dirty="0"/>
              <a:t> </a:t>
            </a:r>
            <a:r>
              <a:rPr lang="it-IT" b="1" dirty="0" err="1"/>
              <a:t>adherence</a:t>
            </a:r>
            <a:r>
              <a:rPr lang="it-IT" b="1" dirty="0"/>
              <a:t> </a:t>
            </a:r>
            <a:r>
              <a:rPr lang="it-IT" b="1" dirty="0" err="1"/>
              <a:t>promotes</a:t>
            </a:r>
            <a:r>
              <a:rPr lang="it-IT" b="1" dirty="0"/>
              <a:t> a </a:t>
            </a:r>
            <a:r>
              <a:rPr lang="it-IT" b="1" dirty="0" err="1"/>
              <a:t>healthier</a:t>
            </a:r>
            <a:r>
              <a:rPr lang="it-IT" b="1" dirty="0"/>
              <a:t> and more </a:t>
            </a:r>
            <a:r>
              <a:rPr lang="it-IT" b="1" dirty="0" err="1"/>
              <a:t>stable</a:t>
            </a:r>
            <a:r>
              <a:rPr lang="it-IT" b="1" dirty="0"/>
              <a:t> </a:t>
            </a:r>
            <a:r>
              <a:rPr lang="it-IT" b="1" dirty="0" err="1"/>
              <a:t>gut</a:t>
            </a:r>
            <a:r>
              <a:rPr lang="it-IT" b="1" dirty="0"/>
              <a:t> microbiota </a:t>
            </a:r>
            <a:r>
              <a:rPr lang="it-IT" b="1" dirty="0" err="1"/>
              <a:t>composition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628912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D2057-7F49-7BA7-7273-4CA9DE361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EB4841EA-5715-4143-9077-533E97F0E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561" y="666787"/>
            <a:ext cx="8112878" cy="4579241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EB808D6C-88B3-D953-185F-1BD707DA607E}"/>
              </a:ext>
            </a:extLst>
          </p:cNvPr>
          <p:cNvSpPr txBox="1"/>
          <p:nvPr/>
        </p:nvSpPr>
        <p:spPr>
          <a:xfrm>
            <a:off x="385590" y="297455"/>
            <a:ext cx="6698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Microbiota </a:t>
            </a:r>
            <a:r>
              <a:rPr lang="it-IT" b="1" dirty="0" err="1"/>
              <a:t>composition</a:t>
            </a:r>
            <a:r>
              <a:rPr lang="it-IT" b="1" dirty="0"/>
              <a:t> by BMI group (Genus </a:t>
            </a:r>
            <a:r>
              <a:rPr lang="it-IT" b="1" dirty="0" err="1"/>
              <a:t>level</a:t>
            </a:r>
            <a:r>
              <a:rPr lang="it-IT" b="1" dirty="0"/>
              <a:t>)</a:t>
            </a:r>
            <a:r>
              <a:rPr lang="it-IT" dirty="0"/>
              <a:t> 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2D4CB31-7B14-F505-45B1-542F02C7D1A8}"/>
              </a:ext>
            </a:extLst>
          </p:cNvPr>
          <p:cNvSpPr txBox="1"/>
          <p:nvPr/>
        </p:nvSpPr>
        <p:spPr>
          <a:xfrm>
            <a:off x="385589" y="5246028"/>
            <a:ext cx="1077449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The plot </a:t>
            </a:r>
            <a:r>
              <a:rPr lang="it-IT" dirty="0" err="1"/>
              <a:t>reveals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the </a:t>
            </a:r>
            <a:r>
              <a:rPr lang="it-IT" b="1" dirty="0"/>
              <a:t>overall </a:t>
            </a:r>
            <a:r>
              <a:rPr lang="it-IT" b="1" dirty="0" err="1"/>
              <a:t>microbial</a:t>
            </a:r>
            <a:r>
              <a:rPr lang="it-IT" b="1" dirty="0"/>
              <a:t> </a:t>
            </a:r>
            <a:r>
              <a:rPr lang="it-IT" b="1" dirty="0" err="1"/>
              <a:t>composition</a:t>
            </a:r>
            <a:r>
              <a:rPr lang="it-IT" b="1" dirty="0"/>
              <a:t> </a:t>
            </a:r>
            <a:r>
              <a:rPr lang="it-IT" b="1" dirty="0" err="1"/>
              <a:t>differs</a:t>
            </a:r>
            <a:r>
              <a:rPr lang="it-IT" b="1" dirty="0"/>
              <a:t> </a:t>
            </a:r>
            <a:r>
              <a:rPr lang="it-IT" b="1" dirty="0" err="1"/>
              <a:t>slightly</a:t>
            </a:r>
            <a:r>
              <a:rPr lang="it-IT" b="1" dirty="0"/>
              <a:t> </a:t>
            </a:r>
            <a:r>
              <a:rPr lang="it-IT" b="1" dirty="0" err="1"/>
              <a:t>between</a:t>
            </a:r>
            <a:r>
              <a:rPr lang="it-IT" b="1" dirty="0"/>
              <a:t> </a:t>
            </a:r>
            <a:r>
              <a:rPr lang="it-IT" b="1" dirty="0" err="1"/>
              <a:t>normal</a:t>
            </a:r>
            <a:r>
              <a:rPr lang="it-IT" b="1" dirty="0"/>
              <a:t>‑weight and </a:t>
            </a:r>
            <a:r>
              <a:rPr lang="it-IT" b="1" dirty="0" err="1"/>
              <a:t>overweight</a:t>
            </a:r>
            <a:r>
              <a:rPr lang="it-IT" b="1" dirty="0"/>
              <a:t> </a:t>
            </a:r>
            <a:r>
              <a:rPr lang="it-IT" b="1" dirty="0" err="1"/>
              <a:t>individuals</a:t>
            </a:r>
            <a:r>
              <a:rPr lang="it-IT" dirty="0"/>
              <a:t>, with </a:t>
            </a:r>
            <a:r>
              <a:rPr lang="it-IT" dirty="0" err="1"/>
              <a:t>dominant</a:t>
            </a:r>
            <a:r>
              <a:rPr lang="it-IT" dirty="0"/>
              <a:t> genera </a:t>
            </a:r>
            <a:r>
              <a:rPr lang="it-IT" dirty="0" err="1"/>
              <a:t>such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i="1" dirty="0" err="1"/>
              <a:t>Bacteroides</a:t>
            </a:r>
            <a:r>
              <a:rPr lang="it-IT" dirty="0"/>
              <a:t>, </a:t>
            </a:r>
            <a:r>
              <a:rPr lang="it-IT" i="1" dirty="0" err="1"/>
              <a:t>Faecalibacterium</a:t>
            </a:r>
            <a:r>
              <a:rPr lang="it-IT" dirty="0"/>
              <a:t>, </a:t>
            </a:r>
            <a:r>
              <a:rPr lang="it-IT" i="1" dirty="0" err="1"/>
              <a:t>Alistipes</a:t>
            </a:r>
            <a:r>
              <a:rPr lang="it-IT" dirty="0"/>
              <a:t>, and </a:t>
            </a:r>
            <a:r>
              <a:rPr lang="it-IT" i="1" dirty="0" err="1"/>
              <a:t>Blautia</a:t>
            </a:r>
            <a:r>
              <a:rPr lang="it-IT" dirty="0"/>
              <a:t> </a:t>
            </a:r>
            <a:r>
              <a:rPr lang="it-IT" dirty="0" err="1"/>
              <a:t>consistently</a:t>
            </a:r>
            <a:r>
              <a:rPr lang="it-IT" dirty="0"/>
              <a:t> </a:t>
            </a:r>
            <a:r>
              <a:rPr lang="it-IT" dirty="0" err="1"/>
              <a:t>represented</a:t>
            </a:r>
            <a:r>
              <a:rPr lang="it-IT" dirty="0"/>
              <a:t> </a:t>
            </a:r>
            <a:r>
              <a:rPr lang="it-IT" dirty="0" err="1"/>
              <a:t>across</a:t>
            </a:r>
            <a:r>
              <a:rPr lang="it-IT" dirty="0"/>
              <a:t> </a:t>
            </a:r>
            <a:r>
              <a:rPr lang="it-IT" dirty="0" err="1"/>
              <a:t>all</a:t>
            </a:r>
            <a:r>
              <a:rPr lang="it-IT" dirty="0"/>
              <a:t> groups. </a:t>
            </a:r>
            <a:r>
              <a:rPr lang="it-IT" dirty="0" err="1"/>
              <a:t>Overweight</a:t>
            </a:r>
            <a:r>
              <a:rPr lang="it-IT" dirty="0"/>
              <a:t> </a:t>
            </a:r>
            <a:r>
              <a:rPr lang="it-IT" dirty="0" err="1"/>
              <a:t>subjects</a:t>
            </a:r>
            <a:r>
              <a:rPr lang="it-IT" dirty="0"/>
              <a:t> show </a:t>
            </a:r>
            <a:r>
              <a:rPr lang="it-IT" b="1" dirty="0" err="1"/>
              <a:t>higher</a:t>
            </a:r>
            <a:r>
              <a:rPr lang="it-IT" b="1" dirty="0"/>
              <a:t> </a:t>
            </a:r>
            <a:r>
              <a:rPr lang="it-IT" b="1" dirty="0" err="1"/>
              <a:t>proportions</a:t>
            </a:r>
            <a:r>
              <a:rPr lang="it-IT" b="1" dirty="0"/>
              <a:t> of </a:t>
            </a:r>
            <a:r>
              <a:rPr lang="it-IT" b="1" i="1" dirty="0" err="1"/>
              <a:t>Blautia</a:t>
            </a:r>
            <a:r>
              <a:rPr lang="it-IT" b="1" dirty="0"/>
              <a:t> and </a:t>
            </a:r>
            <a:r>
              <a:rPr lang="it-IT" b="1" i="1" dirty="0" err="1"/>
              <a:t>Faecalibacterium</a:t>
            </a:r>
            <a:r>
              <a:rPr lang="it-IT" dirty="0"/>
              <a:t> and </a:t>
            </a:r>
            <a:r>
              <a:rPr lang="it-IT" b="1" dirty="0" err="1"/>
              <a:t>lower</a:t>
            </a:r>
            <a:r>
              <a:rPr lang="it-IT" b="1" dirty="0"/>
              <a:t> relative </a:t>
            </a:r>
            <a:r>
              <a:rPr lang="it-IT" b="1" dirty="0" err="1"/>
              <a:t>abundance</a:t>
            </a:r>
            <a:r>
              <a:rPr lang="it-IT" b="1" dirty="0"/>
              <a:t> of </a:t>
            </a:r>
            <a:r>
              <a:rPr lang="it-IT" b="1" i="1" dirty="0" err="1"/>
              <a:t>Alistipes</a:t>
            </a:r>
            <a:r>
              <a:rPr lang="it-IT" dirty="0"/>
              <a:t>, </a:t>
            </a:r>
            <a:r>
              <a:rPr lang="it-IT" dirty="0" err="1"/>
              <a:t>suggesting</a:t>
            </a:r>
            <a:r>
              <a:rPr lang="it-IT" dirty="0"/>
              <a:t> </a:t>
            </a:r>
            <a:r>
              <a:rPr lang="it-IT" b="1" dirty="0" err="1"/>
              <a:t>potential</a:t>
            </a:r>
            <a:r>
              <a:rPr lang="it-IT" b="1" dirty="0"/>
              <a:t> shifts in </a:t>
            </a:r>
            <a:r>
              <a:rPr lang="it-IT" b="1" dirty="0" err="1"/>
              <a:t>microbial</a:t>
            </a:r>
            <a:r>
              <a:rPr lang="it-IT" b="1" dirty="0"/>
              <a:t> balance </a:t>
            </a:r>
            <a:r>
              <a:rPr lang="it-IT" b="1" dirty="0" err="1"/>
              <a:t>associated</a:t>
            </a:r>
            <a:r>
              <a:rPr lang="it-IT" b="1" dirty="0"/>
              <a:t> with body weight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834475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800BB-7E6E-AA1A-8894-2B9F050FD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E7EFDDC4-5F1D-A91D-881D-40E8417D1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620" y="556619"/>
            <a:ext cx="7762760" cy="4348834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587289EE-0DDD-ED60-27F4-955A854A91CD}"/>
              </a:ext>
            </a:extLst>
          </p:cNvPr>
          <p:cNvSpPr txBox="1"/>
          <p:nvPr/>
        </p:nvSpPr>
        <p:spPr>
          <a:xfrm>
            <a:off x="418640" y="187287"/>
            <a:ext cx="6213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Microbiota </a:t>
            </a:r>
            <a:r>
              <a:rPr lang="it-IT" b="1" dirty="0" err="1"/>
              <a:t>composition</a:t>
            </a:r>
            <a:r>
              <a:rPr lang="it-IT" b="1" dirty="0"/>
              <a:t> by BMI group (</a:t>
            </a:r>
            <a:r>
              <a:rPr lang="it-IT" b="1" dirty="0" err="1"/>
              <a:t>Species</a:t>
            </a:r>
            <a:r>
              <a:rPr lang="it-IT" b="1" dirty="0"/>
              <a:t> </a:t>
            </a:r>
            <a:r>
              <a:rPr lang="it-IT" b="1" dirty="0" err="1"/>
              <a:t>level</a:t>
            </a:r>
            <a:r>
              <a:rPr lang="it-IT" b="1" dirty="0"/>
              <a:t>)</a:t>
            </a:r>
            <a:r>
              <a:rPr lang="it-IT" dirty="0"/>
              <a:t> 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7DC6DBD-70BE-E069-9266-586B7F52FC1B}"/>
              </a:ext>
            </a:extLst>
          </p:cNvPr>
          <p:cNvSpPr txBox="1"/>
          <p:nvPr/>
        </p:nvSpPr>
        <p:spPr>
          <a:xfrm>
            <a:off x="418639" y="5101052"/>
            <a:ext cx="1142449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The plot </a:t>
            </a:r>
            <a:r>
              <a:rPr lang="it-IT" dirty="0" err="1"/>
              <a:t>reveals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the </a:t>
            </a:r>
            <a:r>
              <a:rPr lang="it-IT" b="1" dirty="0"/>
              <a:t>overall </a:t>
            </a:r>
            <a:r>
              <a:rPr lang="it-IT" b="1" dirty="0" err="1"/>
              <a:t>microbial</a:t>
            </a:r>
            <a:r>
              <a:rPr lang="it-IT" b="1" dirty="0"/>
              <a:t> </a:t>
            </a:r>
            <a:r>
              <a:rPr lang="it-IT" b="1" dirty="0" err="1"/>
              <a:t>composition</a:t>
            </a:r>
            <a:r>
              <a:rPr lang="it-IT" b="1" dirty="0"/>
              <a:t> </a:t>
            </a:r>
            <a:r>
              <a:rPr lang="it-IT" b="1" dirty="0" err="1"/>
              <a:t>differs</a:t>
            </a:r>
            <a:r>
              <a:rPr lang="it-IT" b="1" dirty="0"/>
              <a:t> </a:t>
            </a:r>
            <a:r>
              <a:rPr lang="it-IT" b="1" dirty="0" err="1"/>
              <a:t>slightly</a:t>
            </a:r>
            <a:r>
              <a:rPr lang="it-IT" b="1" dirty="0"/>
              <a:t> </a:t>
            </a:r>
            <a:r>
              <a:rPr lang="it-IT" b="1" dirty="0" err="1"/>
              <a:t>between</a:t>
            </a:r>
            <a:r>
              <a:rPr lang="it-IT" b="1" dirty="0"/>
              <a:t> </a:t>
            </a:r>
            <a:r>
              <a:rPr lang="it-IT" b="1" dirty="0" err="1"/>
              <a:t>normal</a:t>
            </a:r>
            <a:r>
              <a:rPr lang="it-IT" b="1" dirty="0"/>
              <a:t>‑weight and </a:t>
            </a:r>
            <a:r>
              <a:rPr lang="it-IT" b="1" dirty="0" err="1"/>
              <a:t>overweight</a:t>
            </a:r>
            <a:r>
              <a:rPr lang="it-IT" b="1" dirty="0"/>
              <a:t> </a:t>
            </a:r>
            <a:r>
              <a:rPr lang="it-IT" b="1" dirty="0" err="1"/>
              <a:t>individuals</a:t>
            </a:r>
            <a:r>
              <a:rPr lang="it-IT" dirty="0"/>
              <a:t>, with </a:t>
            </a:r>
            <a:r>
              <a:rPr lang="it-IT" dirty="0" err="1"/>
              <a:t>dominant</a:t>
            </a:r>
            <a:r>
              <a:rPr lang="it-IT" dirty="0"/>
              <a:t> </a:t>
            </a:r>
            <a:r>
              <a:rPr lang="it-IT" dirty="0" err="1"/>
              <a:t>species</a:t>
            </a:r>
            <a:r>
              <a:rPr lang="it-IT" dirty="0"/>
              <a:t> </a:t>
            </a:r>
            <a:r>
              <a:rPr lang="it-IT" dirty="0" err="1"/>
              <a:t>such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i="1" dirty="0" err="1"/>
              <a:t>Faecalibacterium</a:t>
            </a:r>
            <a:r>
              <a:rPr lang="it-IT" i="1" dirty="0"/>
              <a:t> </a:t>
            </a:r>
            <a:r>
              <a:rPr lang="it-IT" i="1" dirty="0" err="1"/>
              <a:t>prausnitzii</a:t>
            </a:r>
            <a:r>
              <a:rPr lang="it-IT" dirty="0"/>
              <a:t>, </a:t>
            </a:r>
            <a:r>
              <a:rPr lang="it-IT" i="1" dirty="0" err="1"/>
              <a:t>Bacteroides</a:t>
            </a:r>
            <a:r>
              <a:rPr lang="it-IT" i="1" dirty="0"/>
              <a:t> </a:t>
            </a:r>
            <a:r>
              <a:rPr lang="it-IT" i="1" dirty="0" err="1"/>
              <a:t>uniformis</a:t>
            </a:r>
            <a:r>
              <a:rPr lang="it-IT" dirty="0"/>
              <a:t>, and </a:t>
            </a:r>
            <a:r>
              <a:rPr lang="it-IT" i="1" dirty="0" err="1"/>
              <a:t>Bifidobacterium</a:t>
            </a:r>
            <a:r>
              <a:rPr lang="it-IT" i="1" dirty="0"/>
              <a:t> </a:t>
            </a:r>
            <a:r>
              <a:rPr lang="it-IT" i="1" dirty="0" err="1"/>
              <a:t>adolescentis</a:t>
            </a:r>
            <a:r>
              <a:rPr lang="it-IT" dirty="0"/>
              <a:t> </a:t>
            </a:r>
            <a:r>
              <a:rPr lang="it-IT" dirty="0" err="1"/>
              <a:t>consistently</a:t>
            </a:r>
            <a:r>
              <a:rPr lang="it-IT" dirty="0"/>
              <a:t> </a:t>
            </a:r>
            <a:r>
              <a:rPr lang="it-IT" dirty="0" err="1"/>
              <a:t>represented</a:t>
            </a:r>
            <a:r>
              <a:rPr lang="it-IT" dirty="0"/>
              <a:t> </a:t>
            </a:r>
            <a:r>
              <a:rPr lang="it-IT" dirty="0" err="1"/>
              <a:t>across</a:t>
            </a:r>
            <a:r>
              <a:rPr lang="it-IT" dirty="0"/>
              <a:t> </a:t>
            </a:r>
            <a:r>
              <a:rPr lang="it-IT" dirty="0" err="1"/>
              <a:t>all</a:t>
            </a:r>
            <a:r>
              <a:rPr lang="it-IT" dirty="0"/>
              <a:t> groups. </a:t>
            </a:r>
            <a:r>
              <a:rPr lang="it-IT" dirty="0" err="1"/>
              <a:t>Overweight</a:t>
            </a:r>
            <a:r>
              <a:rPr lang="it-IT" dirty="0"/>
              <a:t> </a:t>
            </a:r>
            <a:r>
              <a:rPr lang="it-IT" dirty="0" err="1"/>
              <a:t>subjects</a:t>
            </a:r>
            <a:r>
              <a:rPr lang="it-IT" dirty="0"/>
              <a:t> show </a:t>
            </a:r>
            <a:r>
              <a:rPr lang="it-IT" b="1" dirty="0" err="1"/>
              <a:t>higher</a:t>
            </a:r>
            <a:r>
              <a:rPr lang="it-IT" b="1" dirty="0"/>
              <a:t> </a:t>
            </a:r>
            <a:r>
              <a:rPr lang="it-IT" b="1" dirty="0" err="1"/>
              <a:t>proportions</a:t>
            </a:r>
            <a:r>
              <a:rPr lang="it-IT" b="1" dirty="0"/>
              <a:t> of </a:t>
            </a:r>
            <a:r>
              <a:rPr lang="it-IT" b="1" i="1" dirty="0" err="1"/>
              <a:t>Phocaeicola</a:t>
            </a:r>
            <a:r>
              <a:rPr lang="it-IT" b="1" i="1" dirty="0"/>
              <a:t> </a:t>
            </a:r>
            <a:r>
              <a:rPr lang="it-IT" b="1" i="1" dirty="0" err="1"/>
              <a:t>vulgatus</a:t>
            </a:r>
            <a:r>
              <a:rPr lang="it-IT" b="1" dirty="0"/>
              <a:t> and </a:t>
            </a:r>
            <a:r>
              <a:rPr lang="it-IT" b="1" i="1" dirty="0" err="1"/>
              <a:t>Blautia</a:t>
            </a:r>
            <a:r>
              <a:rPr lang="it-IT" b="1" i="1" dirty="0"/>
              <a:t> </a:t>
            </a:r>
            <a:r>
              <a:rPr lang="it-IT" b="1" i="1" dirty="0" err="1"/>
              <a:t>wexlerae</a:t>
            </a:r>
            <a:r>
              <a:rPr lang="it-IT" dirty="0"/>
              <a:t> and </a:t>
            </a:r>
            <a:r>
              <a:rPr lang="it-IT" b="1" dirty="0" err="1"/>
              <a:t>lower</a:t>
            </a:r>
            <a:r>
              <a:rPr lang="it-IT" b="1" dirty="0"/>
              <a:t> relative </a:t>
            </a:r>
            <a:r>
              <a:rPr lang="it-IT" b="1" dirty="0" err="1"/>
              <a:t>abundance</a:t>
            </a:r>
            <a:r>
              <a:rPr lang="it-IT" b="1" dirty="0"/>
              <a:t> of </a:t>
            </a:r>
            <a:r>
              <a:rPr lang="it-IT" b="1" i="1" dirty="0" err="1"/>
              <a:t>Faecalibacterium</a:t>
            </a:r>
            <a:r>
              <a:rPr lang="it-IT" b="1" i="1" dirty="0"/>
              <a:t> </a:t>
            </a:r>
            <a:r>
              <a:rPr lang="it-IT" b="1" i="1" dirty="0" err="1"/>
              <a:t>prausnitzii</a:t>
            </a:r>
            <a:r>
              <a:rPr lang="it-IT" dirty="0"/>
              <a:t>, </a:t>
            </a:r>
            <a:r>
              <a:rPr lang="it-IT" dirty="0" err="1"/>
              <a:t>suggesting</a:t>
            </a:r>
            <a:r>
              <a:rPr lang="it-IT" dirty="0"/>
              <a:t> </a:t>
            </a:r>
            <a:r>
              <a:rPr lang="it-IT" b="1" dirty="0" err="1"/>
              <a:t>potential</a:t>
            </a:r>
            <a:r>
              <a:rPr lang="it-IT" b="1" dirty="0"/>
              <a:t> </a:t>
            </a:r>
            <a:r>
              <a:rPr lang="it-IT" b="1" dirty="0" err="1"/>
              <a:t>alterations</a:t>
            </a:r>
            <a:r>
              <a:rPr lang="it-IT" b="1" dirty="0"/>
              <a:t> in </a:t>
            </a:r>
            <a:r>
              <a:rPr lang="it-IT" b="1" dirty="0" err="1"/>
              <a:t>microbial</a:t>
            </a:r>
            <a:r>
              <a:rPr lang="it-IT" b="1" dirty="0"/>
              <a:t> balance </a:t>
            </a:r>
            <a:r>
              <a:rPr lang="it-IT" b="1" dirty="0" err="1"/>
              <a:t>associated</a:t>
            </a:r>
            <a:r>
              <a:rPr lang="it-IT" b="1" dirty="0"/>
              <a:t> with body weight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2416596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878D8-051E-3320-C7A6-74FAF9759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8DC3BFF4-43D7-AD5C-A899-6D49333FAF44}"/>
              </a:ext>
            </a:extLst>
          </p:cNvPr>
          <p:cNvSpPr txBox="1"/>
          <p:nvPr/>
        </p:nvSpPr>
        <p:spPr>
          <a:xfrm>
            <a:off x="705078" y="458449"/>
            <a:ext cx="9133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Microbiota </a:t>
            </a:r>
            <a:r>
              <a:rPr lang="it-IT" b="1" dirty="0" err="1"/>
              <a:t>composition</a:t>
            </a:r>
            <a:r>
              <a:rPr lang="it-IT" b="1" dirty="0"/>
              <a:t> in </a:t>
            </a:r>
            <a:r>
              <a:rPr lang="it-IT" b="1" dirty="0" err="1"/>
              <a:t>patient</a:t>
            </a:r>
            <a:r>
              <a:rPr lang="it-IT" b="1" dirty="0"/>
              <a:t> TEC08 </a:t>
            </a:r>
            <a:r>
              <a:rPr lang="it-IT" b="1" dirty="0" err="1"/>
              <a:t>compared</a:t>
            </a:r>
            <a:r>
              <a:rPr lang="it-IT" b="1" dirty="0"/>
              <a:t> to </a:t>
            </a:r>
            <a:r>
              <a:rPr lang="it-IT" b="1" dirty="0" err="1"/>
              <a:t>others</a:t>
            </a:r>
            <a:r>
              <a:rPr lang="it-IT" b="1" dirty="0"/>
              <a:t> (MEDAS score)</a:t>
            </a:r>
            <a:r>
              <a:rPr lang="it-IT" dirty="0"/>
              <a:t> 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88337491-6643-2CB8-EB8C-6F903011D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3835" y="827782"/>
            <a:ext cx="7430477" cy="4139352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DD49A50B-8795-2761-C9BC-6CFE5A1259C4}"/>
              </a:ext>
            </a:extLst>
          </p:cNvPr>
          <p:cNvSpPr txBox="1"/>
          <p:nvPr/>
        </p:nvSpPr>
        <p:spPr>
          <a:xfrm>
            <a:off x="705078" y="5115943"/>
            <a:ext cx="1120041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Patient </a:t>
            </a:r>
            <a:r>
              <a:rPr lang="it-IT" b="1" dirty="0"/>
              <a:t>TEC08</a:t>
            </a:r>
            <a:r>
              <a:rPr lang="it-IT" dirty="0"/>
              <a:t>, </a:t>
            </a:r>
            <a:r>
              <a:rPr lang="it-IT" dirty="0" err="1"/>
              <a:t>belonging</a:t>
            </a:r>
            <a:r>
              <a:rPr lang="it-IT" dirty="0"/>
              <a:t> to the </a:t>
            </a:r>
            <a:r>
              <a:rPr lang="it-IT" b="1" dirty="0"/>
              <a:t>Low MEDAS group</a:t>
            </a:r>
            <a:r>
              <a:rPr lang="it-IT" dirty="0"/>
              <a:t>, shows a </a:t>
            </a:r>
            <a:r>
              <a:rPr lang="it-IT" b="1" dirty="0" err="1"/>
              <a:t>marked</a:t>
            </a:r>
            <a:r>
              <a:rPr lang="it-IT" b="1" dirty="0"/>
              <a:t> </a:t>
            </a:r>
            <a:r>
              <a:rPr lang="it-IT" b="1" dirty="0" err="1"/>
              <a:t>dominance</a:t>
            </a:r>
            <a:r>
              <a:rPr lang="it-IT" b="1" dirty="0"/>
              <a:t> of </a:t>
            </a:r>
            <a:r>
              <a:rPr lang="it-IT" b="1" i="1" dirty="0" err="1"/>
              <a:t>Segatella</a:t>
            </a:r>
            <a:r>
              <a:rPr lang="it-IT" b="1" i="1" dirty="0"/>
              <a:t> copri</a:t>
            </a:r>
            <a:r>
              <a:rPr lang="it-IT" dirty="0"/>
              <a:t>, with a clear </a:t>
            </a:r>
            <a:r>
              <a:rPr lang="it-IT" dirty="0" err="1"/>
              <a:t>reduction</a:t>
            </a:r>
            <a:r>
              <a:rPr lang="it-IT" dirty="0"/>
              <a:t> of </a:t>
            </a:r>
            <a:r>
              <a:rPr lang="it-IT" dirty="0" err="1"/>
              <a:t>beneficial</a:t>
            </a:r>
            <a:r>
              <a:rPr lang="it-IT" dirty="0"/>
              <a:t> </a:t>
            </a:r>
            <a:r>
              <a:rPr lang="it-IT" dirty="0" err="1"/>
              <a:t>butyrate‑producing</a:t>
            </a:r>
            <a:r>
              <a:rPr lang="it-IT" dirty="0"/>
              <a:t> </a:t>
            </a:r>
            <a:r>
              <a:rPr lang="it-IT" dirty="0" err="1"/>
              <a:t>species</a:t>
            </a:r>
            <a:r>
              <a:rPr lang="it-IT" dirty="0"/>
              <a:t> </a:t>
            </a:r>
            <a:r>
              <a:rPr lang="it-IT" dirty="0" err="1"/>
              <a:t>such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i="1" dirty="0" err="1"/>
              <a:t>Faecalibacterium</a:t>
            </a:r>
            <a:r>
              <a:rPr lang="it-IT" i="1" dirty="0"/>
              <a:t> </a:t>
            </a:r>
            <a:r>
              <a:rPr lang="it-IT" i="1" dirty="0" err="1"/>
              <a:t>prausnitzii</a:t>
            </a:r>
            <a:r>
              <a:rPr lang="it-IT" dirty="0"/>
              <a:t>. </a:t>
            </a:r>
            <a:r>
              <a:rPr lang="it-IT" dirty="0" err="1"/>
              <a:t>This</a:t>
            </a:r>
            <a:r>
              <a:rPr lang="it-IT" dirty="0"/>
              <a:t> pattern </a:t>
            </a:r>
            <a:r>
              <a:rPr lang="it-IT" dirty="0" err="1"/>
              <a:t>suggests</a:t>
            </a:r>
            <a:r>
              <a:rPr lang="it-IT" dirty="0"/>
              <a:t> a </a:t>
            </a:r>
            <a:r>
              <a:rPr lang="it-IT" b="1" dirty="0" err="1"/>
              <a:t>less</a:t>
            </a:r>
            <a:r>
              <a:rPr lang="it-IT" b="1" dirty="0"/>
              <a:t> </a:t>
            </a:r>
            <a:r>
              <a:rPr lang="it-IT" b="1" dirty="0" err="1"/>
              <a:t>balanced</a:t>
            </a:r>
            <a:r>
              <a:rPr lang="it-IT" b="1" dirty="0"/>
              <a:t> and </a:t>
            </a:r>
            <a:r>
              <a:rPr lang="it-IT" b="1" dirty="0" err="1"/>
              <a:t>less</a:t>
            </a:r>
            <a:r>
              <a:rPr lang="it-IT" b="1" dirty="0"/>
              <a:t> diverse microbiota</a:t>
            </a:r>
            <a:r>
              <a:rPr lang="it-IT" dirty="0"/>
              <a:t>, </a:t>
            </a:r>
            <a:r>
              <a:rPr lang="it-IT" dirty="0" err="1"/>
              <a:t>consistent</a:t>
            </a:r>
            <a:r>
              <a:rPr lang="it-IT" dirty="0"/>
              <a:t> with </a:t>
            </a:r>
            <a:r>
              <a:rPr lang="it-IT" b="1" dirty="0"/>
              <a:t>low </a:t>
            </a:r>
            <a:r>
              <a:rPr lang="it-IT" b="1" dirty="0" err="1"/>
              <a:t>adherence</a:t>
            </a:r>
            <a:r>
              <a:rPr lang="it-IT" b="1" dirty="0"/>
              <a:t> to the </a:t>
            </a:r>
            <a:r>
              <a:rPr lang="it-IT" b="1" dirty="0" err="1"/>
              <a:t>Mediterranean</a:t>
            </a:r>
            <a:r>
              <a:rPr lang="it-IT" b="1" dirty="0"/>
              <a:t> </a:t>
            </a:r>
            <a:r>
              <a:rPr lang="it-IT" b="1" dirty="0" err="1"/>
              <a:t>diet</a:t>
            </a:r>
            <a:r>
              <a:rPr lang="it-IT" dirty="0"/>
              <a:t>. In </a:t>
            </a:r>
            <a:r>
              <a:rPr lang="it-IT" dirty="0" err="1"/>
              <a:t>contrast</a:t>
            </a:r>
            <a:r>
              <a:rPr lang="it-IT" dirty="0"/>
              <a:t>, </a:t>
            </a:r>
            <a:r>
              <a:rPr lang="it-IT" dirty="0" err="1"/>
              <a:t>patients</a:t>
            </a:r>
            <a:r>
              <a:rPr lang="it-IT" dirty="0"/>
              <a:t> with </a:t>
            </a:r>
            <a:r>
              <a:rPr lang="it-IT" b="1" dirty="0"/>
              <a:t>High MEDAS scores</a:t>
            </a:r>
            <a:r>
              <a:rPr lang="it-IT" dirty="0"/>
              <a:t> display </a:t>
            </a:r>
            <a:r>
              <a:rPr lang="it-IT" b="1" dirty="0" err="1"/>
              <a:t>greater</a:t>
            </a:r>
            <a:r>
              <a:rPr lang="it-IT" b="1" dirty="0"/>
              <a:t> </a:t>
            </a:r>
            <a:r>
              <a:rPr lang="it-IT" b="1" dirty="0" err="1"/>
              <a:t>microbial</a:t>
            </a:r>
            <a:r>
              <a:rPr lang="it-IT" b="1" dirty="0"/>
              <a:t> </a:t>
            </a:r>
            <a:r>
              <a:rPr lang="it-IT" b="1" dirty="0" err="1"/>
              <a:t>diversity</a:t>
            </a:r>
            <a:r>
              <a:rPr lang="it-IT" dirty="0"/>
              <a:t> and </a:t>
            </a:r>
            <a:r>
              <a:rPr lang="it-IT" dirty="0" err="1"/>
              <a:t>higher</a:t>
            </a:r>
            <a:r>
              <a:rPr lang="it-IT" dirty="0"/>
              <a:t> </a:t>
            </a:r>
            <a:r>
              <a:rPr lang="it-IT" dirty="0" err="1"/>
              <a:t>abundance</a:t>
            </a:r>
            <a:r>
              <a:rPr lang="it-IT" dirty="0"/>
              <a:t> of </a:t>
            </a:r>
            <a:r>
              <a:rPr lang="it-IT" b="1" dirty="0"/>
              <a:t>anti‑</a:t>
            </a:r>
            <a:r>
              <a:rPr lang="it-IT" b="1" dirty="0" err="1"/>
              <a:t>inflammatory</a:t>
            </a:r>
            <a:r>
              <a:rPr lang="it-IT" b="1" dirty="0"/>
              <a:t> </a:t>
            </a:r>
            <a:r>
              <a:rPr lang="it-IT" b="1" dirty="0" err="1"/>
              <a:t>species</a:t>
            </a:r>
            <a:r>
              <a:rPr lang="it-IT" dirty="0"/>
              <a:t>, </a:t>
            </a:r>
            <a:r>
              <a:rPr lang="it-IT" dirty="0" err="1"/>
              <a:t>indicating</a:t>
            </a:r>
            <a:r>
              <a:rPr lang="it-IT" dirty="0"/>
              <a:t> a </a:t>
            </a:r>
            <a:r>
              <a:rPr lang="it-IT" b="1" dirty="0" err="1"/>
              <a:t>healthier</a:t>
            </a:r>
            <a:r>
              <a:rPr lang="it-IT" b="1" dirty="0"/>
              <a:t> and more </a:t>
            </a:r>
            <a:r>
              <a:rPr lang="it-IT" b="1" dirty="0" err="1"/>
              <a:t>resilient</a:t>
            </a:r>
            <a:r>
              <a:rPr lang="it-IT" b="1" dirty="0"/>
              <a:t> </a:t>
            </a:r>
            <a:r>
              <a:rPr lang="it-IT" b="1" dirty="0" err="1"/>
              <a:t>gut</a:t>
            </a:r>
            <a:r>
              <a:rPr lang="it-IT" b="1" dirty="0"/>
              <a:t> </a:t>
            </a:r>
            <a:r>
              <a:rPr lang="it-IT" b="1" dirty="0" err="1"/>
              <a:t>ecosystem</a:t>
            </a:r>
            <a:r>
              <a:rPr lang="it-IT" b="1" dirty="0"/>
              <a:t>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1368752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B1034-FD74-A3CC-7AB5-E94139256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2B2EF283-54CE-68A2-07A0-B9499D5898C4}"/>
              </a:ext>
            </a:extLst>
          </p:cNvPr>
          <p:cNvSpPr txBox="1"/>
          <p:nvPr/>
        </p:nvSpPr>
        <p:spPr>
          <a:xfrm>
            <a:off x="363556" y="473725"/>
            <a:ext cx="95909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Microbiota </a:t>
            </a:r>
            <a:r>
              <a:rPr lang="it-IT" b="1" dirty="0" err="1"/>
              <a:t>composition</a:t>
            </a:r>
            <a:r>
              <a:rPr lang="it-IT" b="1" dirty="0"/>
              <a:t> in </a:t>
            </a:r>
            <a:r>
              <a:rPr lang="it-IT" b="1" dirty="0" err="1"/>
              <a:t>patient</a:t>
            </a:r>
            <a:r>
              <a:rPr lang="it-IT" b="1" dirty="0"/>
              <a:t> TEC08 </a:t>
            </a:r>
            <a:r>
              <a:rPr lang="it-IT" b="1" dirty="0" err="1"/>
              <a:t>compared</a:t>
            </a:r>
            <a:r>
              <a:rPr lang="it-IT" b="1" dirty="0"/>
              <a:t> to </a:t>
            </a:r>
            <a:r>
              <a:rPr lang="it-IT" b="1" dirty="0" err="1"/>
              <a:t>others</a:t>
            </a:r>
            <a:r>
              <a:rPr lang="it-IT" b="1" dirty="0"/>
              <a:t> (BMI)</a:t>
            </a:r>
            <a:r>
              <a:rPr lang="it-IT" dirty="0"/>
              <a:t> </a:t>
            </a:r>
          </a:p>
          <a:p>
            <a:endParaRPr lang="it-IT" dirty="0"/>
          </a:p>
          <a:p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1FC63F27-2D97-E27B-4292-2CCBBBB0E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481" y="845192"/>
            <a:ext cx="7717037" cy="4312634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969D8121-8D5F-90CB-E025-54684B028EFE}"/>
              </a:ext>
            </a:extLst>
          </p:cNvPr>
          <p:cNvSpPr txBox="1"/>
          <p:nvPr/>
        </p:nvSpPr>
        <p:spPr>
          <a:xfrm>
            <a:off x="468630" y="5323571"/>
            <a:ext cx="111259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dirty="0" err="1">
                <a:effectLst/>
              </a:rPr>
              <a:t>This</a:t>
            </a:r>
            <a:r>
              <a:rPr lang="it-IT" dirty="0">
                <a:effectLst/>
              </a:rPr>
              <a:t> pattern </a:t>
            </a:r>
            <a:r>
              <a:rPr lang="it-IT" dirty="0" err="1">
                <a:effectLst/>
              </a:rPr>
              <a:t>suggests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that</a:t>
            </a:r>
            <a:r>
              <a:rPr lang="it-IT" dirty="0">
                <a:effectLst/>
              </a:rPr>
              <a:t> </a:t>
            </a:r>
            <a:r>
              <a:rPr lang="it-IT" b="1" dirty="0">
                <a:effectLst/>
              </a:rPr>
              <a:t>TEC08 </a:t>
            </a:r>
            <a:r>
              <a:rPr lang="it-IT" b="1" dirty="0" err="1">
                <a:effectLst/>
              </a:rPr>
              <a:t>may</a:t>
            </a:r>
            <a:r>
              <a:rPr lang="it-IT" b="1" dirty="0">
                <a:effectLst/>
              </a:rPr>
              <a:t> </a:t>
            </a:r>
            <a:r>
              <a:rPr lang="it-IT" b="1" dirty="0" err="1">
                <a:effectLst/>
              </a:rPr>
              <a:t>have</a:t>
            </a:r>
            <a:r>
              <a:rPr lang="it-IT" b="1" dirty="0">
                <a:effectLst/>
              </a:rPr>
              <a:t> a </a:t>
            </a:r>
            <a:r>
              <a:rPr lang="it-IT" b="1" dirty="0" err="1">
                <a:effectLst/>
              </a:rPr>
              <a:t>dysbiotic</a:t>
            </a:r>
            <a:r>
              <a:rPr lang="it-IT" b="1" dirty="0">
                <a:effectLst/>
              </a:rPr>
              <a:t> microbiota </a:t>
            </a:r>
            <a:r>
              <a:rPr lang="it-IT" b="1" dirty="0" err="1">
                <a:effectLst/>
              </a:rPr>
              <a:t>profile</a:t>
            </a:r>
            <a:r>
              <a:rPr lang="it-IT" dirty="0">
                <a:effectLst/>
              </a:rPr>
              <a:t>, </a:t>
            </a:r>
            <a:r>
              <a:rPr lang="it-IT" dirty="0" err="1">
                <a:effectLst/>
              </a:rPr>
              <a:t>characterized</a:t>
            </a:r>
            <a:r>
              <a:rPr lang="it-IT" dirty="0">
                <a:effectLst/>
              </a:rPr>
              <a:t> by </a:t>
            </a:r>
            <a:r>
              <a:rPr lang="it-IT" b="1" dirty="0">
                <a:effectLst/>
              </a:rPr>
              <a:t>low </a:t>
            </a:r>
            <a:r>
              <a:rPr lang="it-IT" b="1" dirty="0" err="1">
                <a:effectLst/>
              </a:rPr>
              <a:t>diversity</a:t>
            </a:r>
            <a:r>
              <a:rPr lang="it-IT" dirty="0">
                <a:effectLst/>
              </a:rPr>
              <a:t> and </a:t>
            </a:r>
            <a:r>
              <a:rPr lang="it-IT" b="1" dirty="0" err="1">
                <a:effectLst/>
              </a:rPr>
              <a:t>reduced</a:t>
            </a:r>
            <a:r>
              <a:rPr lang="it-IT" b="1" dirty="0">
                <a:effectLst/>
              </a:rPr>
              <a:t> </a:t>
            </a:r>
            <a:r>
              <a:rPr lang="it-IT" b="1" dirty="0" err="1">
                <a:effectLst/>
              </a:rPr>
              <a:t>functional</a:t>
            </a:r>
            <a:r>
              <a:rPr lang="it-IT" b="1" dirty="0">
                <a:effectLst/>
              </a:rPr>
              <a:t> </a:t>
            </a:r>
            <a:r>
              <a:rPr lang="it-IT" b="1" dirty="0" err="1">
                <a:effectLst/>
              </a:rPr>
              <a:t>resilience</a:t>
            </a:r>
            <a:r>
              <a:rPr lang="it-IT" dirty="0">
                <a:effectLst/>
              </a:rPr>
              <a:t>. The </a:t>
            </a:r>
            <a:r>
              <a:rPr lang="it-IT" dirty="0" err="1">
                <a:effectLst/>
              </a:rPr>
              <a:t>predominance</a:t>
            </a:r>
            <a:r>
              <a:rPr lang="it-IT" dirty="0">
                <a:effectLst/>
              </a:rPr>
              <a:t> of </a:t>
            </a:r>
            <a:r>
              <a:rPr lang="it-IT" i="1" dirty="0" err="1">
                <a:effectLst/>
              </a:rPr>
              <a:t>Segatella</a:t>
            </a:r>
            <a:r>
              <a:rPr lang="it-IT" i="1" dirty="0">
                <a:effectLst/>
              </a:rPr>
              <a:t> copri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could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reflect</a:t>
            </a:r>
            <a:r>
              <a:rPr lang="it-IT" dirty="0">
                <a:effectLst/>
              </a:rPr>
              <a:t> </a:t>
            </a:r>
            <a:r>
              <a:rPr lang="it-IT" b="1" dirty="0" err="1">
                <a:effectLst/>
              </a:rPr>
              <a:t>metabolic</a:t>
            </a:r>
            <a:r>
              <a:rPr lang="it-IT" b="1" dirty="0">
                <a:effectLst/>
              </a:rPr>
              <a:t> </a:t>
            </a:r>
            <a:r>
              <a:rPr lang="it-IT" b="1" dirty="0" err="1">
                <a:effectLst/>
              </a:rPr>
              <a:t>alterations</a:t>
            </a:r>
            <a:r>
              <a:rPr lang="it-IT" dirty="0">
                <a:effectLst/>
              </a:rPr>
              <a:t> or </a:t>
            </a:r>
            <a:r>
              <a:rPr lang="it-IT" b="1" dirty="0" err="1">
                <a:effectLst/>
              </a:rPr>
              <a:t>dietary</a:t>
            </a:r>
            <a:r>
              <a:rPr lang="it-IT" b="1" dirty="0">
                <a:effectLst/>
              </a:rPr>
              <a:t> </a:t>
            </a:r>
            <a:r>
              <a:rPr lang="it-IT" b="1" dirty="0" err="1">
                <a:effectLst/>
              </a:rPr>
              <a:t>habits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contributing</a:t>
            </a:r>
            <a:r>
              <a:rPr lang="it-IT" dirty="0">
                <a:effectLst/>
              </a:rPr>
              <a:t> to </a:t>
            </a:r>
            <a:r>
              <a:rPr lang="it-IT" dirty="0" err="1">
                <a:effectLst/>
              </a:rPr>
              <a:t>overweight</a:t>
            </a:r>
            <a:r>
              <a:rPr lang="it-IT" dirty="0">
                <a:effectLst/>
              </a:rPr>
              <a:t> status, </a:t>
            </a:r>
            <a:r>
              <a:rPr lang="it-IT" dirty="0" err="1">
                <a:effectLst/>
              </a:rPr>
              <a:t>while</a:t>
            </a:r>
            <a:r>
              <a:rPr lang="it-IT" dirty="0">
                <a:effectLst/>
              </a:rPr>
              <a:t> the </a:t>
            </a:r>
            <a:r>
              <a:rPr lang="it-IT" dirty="0" err="1">
                <a:effectLst/>
              </a:rPr>
              <a:t>depletion</a:t>
            </a:r>
            <a:r>
              <a:rPr lang="it-IT" dirty="0">
                <a:effectLst/>
              </a:rPr>
              <a:t> of </a:t>
            </a:r>
            <a:r>
              <a:rPr lang="it-IT" i="1" dirty="0" err="1">
                <a:effectLst/>
              </a:rPr>
              <a:t>Faecalibacterium</a:t>
            </a:r>
            <a:r>
              <a:rPr lang="it-IT" dirty="0">
                <a:effectLst/>
              </a:rPr>
              <a:t> points to </a:t>
            </a:r>
            <a:r>
              <a:rPr lang="it-IT" b="1" dirty="0" err="1">
                <a:effectLst/>
              </a:rPr>
              <a:t>lower</a:t>
            </a:r>
            <a:r>
              <a:rPr lang="it-IT" b="1" dirty="0">
                <a:effectLst/>
              </a:rPr>
              <a:t> anti‑</a:t>
            </a:r>
            <a:r>
              <a:rPr lang="it-IT" b="1" dirty="0" err="1">
                <a:effectLst/>
              </a:rPr>
              <a:t>inflammatory</a:t>
            </a:r>
            <a:r>
              <a:rPr lang="it-IT" b="1" dirty="0">
                <a:effectLst/>
              </a:rPr>
              <a:t> </a:t>
            </a:r>
            <a:r>
              <a:rPr lang="it-IT" b="1" dirty="0" err="1">
                <a:effectLst/>
              </a:rPr>
              <a:t>potential</a:t>
            </a:r>
            <a:r>
              <a:rPr lang="it-IT" dirty="0">
                <a:effectLst/>
              </a:rPr>
              <a:t>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0099508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A164D-132F-544B-5A0A-D4394BDED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EEF7CDE6-2D32-8E00-EFD3-E732D23E7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2519" y="877455"/>
            <a:ext cx="6366962" cy="3559711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37F68BE9-56BB-75F7-F711-752183D9DCD0}"/>
              </a:ext>
            </a:extLst>
          </p:cNvPr>
          <p:cNvSpPr txBox="1"/>
          <p:nvPr/>
        </p:nvSpPr>
        <p:spPr>
          <a:xfrm>
            <a:off x="694063" y="440675"/>
            <a:ext cx="95952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Microbiota </a:t>
            </a:r>
            <a:r>
              <a:rPr lang="it-IT" b="1" dirty="0" err="1"/>
              <a:t>composition</a:t>
            </a:r>
            <a:r>
              <a:rPr lang="it-IT" b="1" dirty="0"/>
              <a:t> in </a:t>
            </a:r>
            <a:r>
              <a:rPr lang="it-IT" b="1" dirty="0" err="1"/>
              <a:t>patient</a:t>
            </a:r>
            <a:r>
              <a:rPr lang="it-IT" b="1" dirty="0"/>
              <a:t> TEC08 </a:t>
            </a:r>
            <a:r>
              <a:rPr lang="it-IT" b="1" dirty="0" err="1"/>
              <a:t>compared</a:t>
            </a:r>
            <a:r>
              <a:rPr lang="it-IT" b="1" dirty="0"/>
              <a:t> to </a:t>
            </a:r>
            <a:r>
              <a:rPr lang="it-IT" b="1" dirty="0" err="1"/>
              <a:t>others</a:t>
            </a:r>
            <a:r>
              <a:rPr lang="it-IT" b="1" dirty="0"/>
              <a:t> (CORTISONE)</a:t>
            </a:r>
            <a:r>
              <a:rPr lang="it-IT" dirty="0"/>
              <a:t> </a:t>
            </a:r>
          </a:p>
          <a:p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F565F9D-AE0A-8D9F-9A9B-CE23C4E23C34}"/>
              </a:ext>
            </a:extLst>
          </p:cNvPr>
          <p:cNvSpPr txBox="1"/>
          <p:nvPr/>
        </p:nvSpPr>
        <p:spPr>
          <a:xfrm>
            <a:off x="557969" y="4437166"/>
            <a:ext cx="1129284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it-IT" dirty="0"/>
              <a:t>In the group </a:t>
            </a:r>
            <a:r>
              <a:rPr lang="it-IT" dirty="0" err="1"/>
              <a:t>labeled</a:t>
            </a:r>
            <a:r>
              <a:rPr lang="it-IT" dirty="0"/>
              <a:t> </a:t>
            </a:r>
            <a:r>
              <a:rPr lang="it-IT" b="1" dirty="0"/>
              <a:t>“0” (no </a:t>
            </a:r>
            <a:r>
              <a:rPr lang="it-IT" b="1" dirty="0" err="1"/>
              <a:t>corticosteroid</a:t>
            </a:r>
            <a:r>
              <a:rPr lang="it-IT" b="1" dirty="0"/>
              <a:t> use)</a:t>
            </a:r>
            <a:r>
              <a:rPr lang="it-IT" dirty="0"/>
              <a:t>, TEC08 shows a </a:t>
            </a:r>
            <a:r>
              <a:rPr lang="it-IT" b="1" dirty="0" err="1"/>
              <a:t>marked</a:t>
            </a:r>
            <a:r>
              <a:rPr lang="it-IT" b="1" dirty="0"/>
              <a:t> </a:t>
            </a:r>
            <a:r>
              <a:rPr lang="it-IT" b="1" dirty="0" err="1"/>
              <a:t>dominance</a:t>
            </a:r>
            <a:r>
              <a:rPr lang="it-IT" b="1" dirty="0"/>
              <a:t> of </a:t>
            </a:r>
            <a:r>
              <a:rPr lang="it-IT" b="1" i="1" dirty="0" err="1"/>
              <a:t>Segatella</a:t>
            </a:r>
            <a:r>
              <a:rPr lang="it-IT" b="1" i="1" dirty="0"/>
              <a:t> copri</a:t>
            </a:r>
            <a:r>
              <a:rPr lang="it-IT" dirty="0"/>
              <a:t> </a:t>
            </a:r>
            <a:r>
              <a:rPr lang="it-IT" dirty="0" err="1"/>
              <a:t>occupying</a:t>
            </a:r>
            <a:r>
              <a:rPr lang="it-IT" dirty="0"/>
              <a:t> a large </a:t>
            </a:r>
            <a:r>
              <a:rPr lang="it-IT" dirty="0" err="1"/>
              <a:t>portion</a:t>
            </a:r>
            <a:r>
              <a:rPr lang="it-IT" dirty="0"/>
              <a:t> of the </a:t>
            </a:r>
            <a:r>
              <a:rPr lang="it-IT" dirty="0" err="1"/>
              <a:t>microbial</a:t>
            </a:r>
            <a:r>
              <a:rPr lang="it-IT" dirty="0"/>
              <a:t> </a:t>
            </a:r>
            <a:r>
              <a:rPr lang="it-IT" dirty="0" err="1"/>
              <a:t>profile</a:t>
            </a:r>
            <a:r>
              <a:rPr lang="it-IT" dirty="0"/>
              <a:t>.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species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often</a:t>
            </a:r>
            <a:r>
              <a:rPr lang="it-IT" dirty="0"/>
              <a:t> </a:t>
            </a:r>
            <a:r>
              <a:rPr lang="it-IT" dirty="0" err="1"/>
              <a:t>associated</a:t>
            </a:r>
            <a:r>
              <a:rPr lang="it-IT" dirty="0"/>
              <a:t> with </a:t>
            </a:r>
            <a:r>
              <a:rPr lang="it-IT" b="1" dirty="0"/>
              <a:t>pro‑</a:t>
            </a:r>
            <a:r>
              <a:rPr lang="it-IT" b="1" dirty="0" err="1"/>
              <a:t>inflammatory</a:t>
            </a:r>
            <a:r>
              <a:rPr lang="it-IT" b="1" dirty="0"/>
              <a:t> </a:t>
            </a:r>
            <a:r>
              <a:rPr lang="it-IT" b="1" dirty="0" err="1"/>
              <a:t>metabolic</a:t>
            </a:r>
            <a:r>
              <a:rPr lang="it-IT" b="1" dirty="0"/>
              <a:t> patterns</a:t>
            </a:r>
            <a:r>
              <a:rPr lang="it-IT" dirty="0"/>
              <a:t> and </a:t>
            </a:r>
            <a:r>
              <a:rPr lang="it-IT" b="1" dirty="0"/>
              <a:t>Western‑style </a:t>
            </a:r>
            <a:r>
              <a:rPr lang="it-IT" b="1" dirty="0" err="1"/>
              <a:t>diets</a:t>
            </a:r>
            <a:r>
              <a:rPr lang="it-IT" dirty="0"/>
              <a:t>, </a:t>
            </a:r>
            <a:r>
              <a:rPr lang="it-IT" dirty="0" err="1"/>
              <a:t>which</a:t>
            </a:r>
            <a:r>
              <a:rPr lang="it-IT" dirty="0"/>
              <a:t> </a:t>
            </a:r>
            <a:r>
              <a:rPr lang="it-IT" dirty="0" err="1"/>
              <a:t>could</a:t>
            </a:r>
            <a:r>
              <a:rPr lang="it-IT" dirty="0"/>
              <a:t> </a:t>
            </a:r>
            <a:r>
              <a:rPr lang="it-IT" dirty="0" err="1"/>
              <a:t>reflect</a:t>
            </a:r>
            <a:r>
              <a:rPr lang="it-IT" dirty="0"/>
              <a:t> a </a:t>
            </a:r>
            <a:r>
              <a:rPr lang="it-IT" b="1" dirty="0" err="1"/>
              <a:t>less</a:t>
            </a:r>
            <a:r>
              <a:rPr lang="it-IT" b="1" dirty="0"/>
              <a:t> </a:t>
            </a:r>
            <a:r>
              <a:rPr lang="it-IT" b="1" dirty="0" err="1"/>
              <a:t>favorable</a:t>
            </a:r>
            <a:r>
              <a:rPr lang="it-IT" b="1" dirty="0"/>
              <a:t> microbiota balance</a:t>
            </a:r>
            <a:r>
              <a:rPr lang="it-IT" dirty="0"/>
              <a:t>.</a:t>
            </a:r>
          </a:p>
          <a:p>
            <a:pPr lvl="0"/>
            <a:r>
              <a:rPr lang="it-IT" dirty="0"/>
              <a:t>TEC08 </a:t>
            </a:r>
            <a:r>
              <a:rPr lang="it-IT" dirty="0" err="1"/>
              <a:t>also</a:t>
            </a:r>
            <a:r>
              <a:rPr lang="it-IT" dirty="0"/>
              <a:t> displays a </a:t>
            </a:r>
            <a:r>
              <a:rPr lang="it-IT" b="1" dirty="0" err="1"/>
              <a:t>reduction</a:t>
            </a:r>
            <a:r>
              <a:rPr lang="it-IT" b="1" dirty="0"/>
              <a:t> in </a:t>
            </a:r>
            <a:r>
              <a:rPr lang="it-IT" b="1" dirty="0" err="1"/>
              <a:t>beneficial</a:t>
            </a:r>
            <a:r>
              <a:rPr lang="it-IT" b="1" dirty="0"/>
              <a:t> </a:t>
            </a:r>
            <a:r>
              <a:rPr lang="it-IT" b="1" dirty="0" err="1"/>
              <a:t>butyrate‑producing</a:t>
            </a:r>
            <a:r>
              <a:rPr lang="it-IT" b="1" dirty="0"/>
              <a:t> </a:t>
            </a:r>
            <a:r>
              <a:rPr lang="it-IT" b="1" dirty="0" err="1"/>
              <a:t>species</a:t>
            </a:r>
            <a:r>
              <a:rPr lang="it-IT" dirty="0"/>
              <a:t> </a:t>
            </a:r>
            <a:r>
              <a:rPr lang="it-IT" dirty="0" err="1"/>
              <a:t>such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i="1" dirty="0" err="1"/>
              <a:t>Faecalibacterium</a:t>
            </a:r>
            <a:r>
              <a:rPr lang="it-IT" i="1" dirty="0"/>
              <a:t> </a:t>
            </a:r>
            <a:r>
              <a:rPr lang="it-IT" i="1" dirty="0" err="1"/>
              <a:t>prausnitzii</a:t>
            </a:r>
            <a:r>
              <a:rPr lang="it-IT" dirty="0"/>
              <a:t> and </a:t>
            </a:r>
            <a:r>
              <a:rPr lang="it-IT" i="1" dirty="0" err="1"/>
              <a:t>Blautia</a:t>
            </a:r>
            <a:r>
              <a:rPr lang="it-IT" i="1" dirty="0"/>
              <a:t> </a:t>
            </a:r>
            <a:r>
              <a:rPr lang="it-IT" i="1" dirty="0" err="1"/>
              <a:t>wexlerae</a:t>
            </a:r>
            <a:r>
              <a:rPr lang="it-IT" dirty="0"/>
              <a:t>, </a:t>
            </a:r>
            <a:r>
              <a:rPr lang="it-IT" dirty="0" err="1"/>
              <a:t>both</a:t>
            </a:r>
            <a:r>
              <a:rPr lang="it-IT" dirty="0"/>
              <a:t> </a:t>
            </a:r>
            <a:r>
              <a:rPr lang="it-IT" dirty="0" err="1"/>
              <a:t>linked</a:t>
            </a:r>
            <a:r>
              <a:rPr lang="it-IT" dirty="0"/>
              <a:t> to </a:t>
            </a:r>
            <a:r>
              <a:rPr lang="it-IT" b="1" dirty="0"/>
              <a:t>anti‑</a:t>
            </a:r>
            <a:r>
              <a:rPr lang="it-IT" b="1" dirty="0" err="1"/>
              <a:t>inflammatory</a:t>
            </a:r>
            <a:r>
              <a:rPr lang="it-IT" b="1" dirty="0"/>
              <a:t> and </a:t>
            </a:r>
            <a:r>
              <a:rPr lang="it-IT" b="1" dirty="0" err="1"/>
              <a:t>gut‑protective</a:t>
            </a:r>
            <a:r>
              <a:rPr lang="it-IT" b="1" dirty="0"/>
              <a:t> </a:t>
            </a:r>
            <a:r>
              <a:rPr lang="it-IT" b="1" dirty="0" err="1"/>
              <a:t>functions</a:t>
            </a:r>
            <a:r>
              <a:rPr lang="it-IT" dirty="0"/>
              <a:t>.</a:t>
            </a:r>
          </a:p>
          <a:p>
            <a:pPr lvl="0"/>
            <a:r>
              <a:rPr lang="it-IT" dirty="0" err="1"/>
              <a:t>Compared</a:t>
            </a:r>
            <a:r>
              <a:rPr lang="it-IT" dirty="0"/>
              <a:t> with </a:t>
            </a:r>
            <a:r>
              <a:rPr lang="it-IT" dirty="0" err="1"/>
              <a:t>other</a:t>
            </a:r>
            <a:r>
              <a:rPr lang="it-IT" dirty="0"/>
              <a:t> </a:t>
            </a:r>
            <a:r>
              <a:rPr lang="it-IT" dirty="0" err="1"/>
              <a:t>patients</a:t>
            </a:r>
            <a:r>
              <a:rPr lang="it-IT" dirty="0"/>
              <a:t>, TEC08’s microbiota </a:t>
            </a:r>
            <a:r>
              <a:rPr lang="it-IT" dirty="0" err="1"/>
              <a:t>appears</a:t>
            </a:r>
            <a:r>
              <a:rPr lang="it-IT" dirty="0"/>
              <a:t> </a:t>
            </a:r>
            <a:r>
              <a:rPr lang="it-IT" b="1" dirty="0" err="1"/>
              <a:t>less</a:t>
            </a:r>
            <a:r>
              <a:rPr lang="it-IT" b="1" dirty="0"/>
              <a:t> diverse and more </a:t>
            </a:r>
            <a:r>
              <a:rPr lang="it-IT" b="1" dirty="0" err="1"/>
              <a:t>skewed</a:t>
            </a:r>
            <a:r>
              <a:rPr lang="it-IT" b="1" dirty="0"/>
              <a:t> </a:t>
            </a:r>
            <a:r>
              <a:rPr lang="it-IT" b="1" dirty="0" err="1"/>
              <a:t>toward</a:t>
            </a:r>
            <a:r>
              <a:rPr lang="it-IT" b="1" dirty="0"/>
              <a:t> a single </a:t>
            </a:r>
            <a:r>
              <a:rPr lang="it-IT" b="1" dirty="0" err="1"/>
              <a:t>dominant</a:t>
            </a:r>
            <a:r>
              <a:rPr lang="it-IT" b="1" dirty="0"/>
              <a:t> </a:t>
            </a:r>
            <a:r>
              <a:rPr lang="it-IT" b="1" dirty="0" err="1"/>
              <a:t>species</a:t>
            </a:r>
            <a:r>
              <a:rPr lang="it-IT" dirty="0"/>
              <a:t>, </a:t>
            </a:r>
            <a:r>
              <a:rPr lang="it-IT" dirty="0" err="1"/>
              <a:t>suggesting</a:t>
            </a:r>
            <a:r>
              <a:rPr lang="it-IT" dirty="0"/>
              <a:t> </a:t>
            </a:r>
            <a:r>
              <a:rPr lang="it-IT" b="1" dirty="0" err="1"/>
              <a:t>lower</a:t>
            </a:r>
            <a:r>
              <a:rPr lang="it-IT" b="1" dirty="0"/>
              <a:t> </a:t>
            </a:r>
            <a:r>
              <a:rPr lang="it-IT" b="1" dirty="0" err="1"/>
              <a:t>ecological</a:t>
            </a:r>
            <a:r>
              <a:rPr lang="it-IT" b="1" dirty="0"/>
              <a:t> </a:t>
            </a:r>
            <a:r>
              <a:rPr lang="it-IT" b="1" dirty="0" err="1"/>
              <a:t>stability</a:t>
            </a:r>
            <a:r>
              <a:rPr lang="it-IT" dirty="0"/>
              <a:t>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3368921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CB298-337E-3A08-0FE0-74A3E1028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B7E39ABE-4D81-3C0B-2829-4842226BF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1323" y="1702034"/>
            <a:ext cx="4540501" cy="3453931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3C498041-4184-AE48-991B-056AB40C4849}"/>
              </a:ext>
            </a:extLst>
          </p:cNvPr>
          <p:cNvSpPr txBox="1"/>
          <p:nvPr/>
        </p:nvSpPr>
        <p:spPr>
          <a:xfrm>
            <a:off x="341522" y="429658"/>
            <a:ext cx="8045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Beta </a:t>
            </a:r>
            <a:r>
              <a:rPr lang="it-IT" b="1" dirty="0" err="1"/>
              <a:t>diversity</a:t>
            </a:r>
            <a:r>
              <a:rPr lang="it-IT" b="1" dirty="0"/>
              <a:t> </a:t>
            </a:r>
            <a:r>
              <a:rPr lang="it-IT" b="1" dirty="0" err="1"/>
              <a:t>comparison</a:t>
            </a:r>
            <a:r>
              <a:rPr lang="it-IT" b="1" dirty="0"/>
              <a:t> for </a:t>
            </a:r>
            <a:r>
              <a:rPr lang="it-IT" b="1" dirty="0" err="1"/>
              <a:t>patient</a:t>
            </a:r>
            <a:r>
              <a:rPr lang="it-IT" b="1" dirty="0"/>
              <a:t> TEC08 vs. </a:t>
            </a:r>
            <a:r>
              <a:rPr lang="it-IT" b="1" dirty="0" err="1"/>
              <a:t>all</a:t>
            </a:r>
            <a:r>
              <a:rPr lang="it-IT" b="1" dirty="0"/>
              <a:t> </a:t>
            </a:r>
            <a:r>
              <a:rPr lang="it-IT" b="1" dirty="0" err="1"/>
              <a:t>patients</a:t>
            </a:r>
            <a:r>
              <a:rPr lang="it-IT" b="1" dirty="0"/>
              <a:t> (MEDAS)</a:t>
            </a:r>
            <a:r>
              <a:rPr lang="it-IT" dirty="0"/>
              <a:t> 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9A93B97-06DE-7995-7BF9-C3CAC5260674}"/>
              </a:ext>
            </a:extLst>
          </p:cNvPr>
          <p:cNvSpPr txBox="1"/>
          <p:nvPr/>
        </p:nvSpPr>
        <p:spPr>
          <a:xfrm>
            <a:off x="875323" y="1582339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The plot shows </a:t>
            </a:r>
            <a:r>
              <a:rPr lang="it-IT" b="1" dirty="0"/>
              <a:t>TEC08 alone</a:t>
            </a:r>
            <a:r>
              <a:rPr lang="it-IT" dirty="0"/>
              <a:t>, </a:t>
            </a:r>
            <a:r>
              <a:rPr lang="it-IT" dirty="0" err="1"/>
              <a:t>where</a:t>
            </a:r>
            <a:r>
              <a:rPr lang="it-IT" dirty="0"/>
              <a:t> the </a:t>
            </a:r>
            <a:r>
              <a:rPr lang="it-IT" dirty="0" err="1"/>
              <a:t>three</a:t>
            </a:r>
            <a:r>
              <a:rPr lang="it-IT" dirty="0"/>
              <a:t> samples cluster </a:t>
            </a:r>
            <a:r>
              <a:rPr lang="it-IT" dirty="0" err="1"/>
              <a:t>tightly</a:t>
            </a:r>
            <a:r>
              <a:rPr lang="it-IT" dirty="0"/>
              <a:t>, </a:t>
            </a:r>
            <a:r>
              <a:rPr lang="it-IT" dirty="0" err="1"/>
              <a:t>indicating</a:t>
            </a:r>
            <a:r>
              <a:rPr lang="it-IT" dirty="0"/>
              <a:t> </a:t>
            </a:r>
            <a:r>
              <a:rPr lang="it-IT" b="1" dirty="0"/>
              <a:t>low intra‑</a:t>
            </a:r>
            <a:r>
              <a:rPr lang="it-IT" b="1" dirty="0" err="1"/>
              <a:t>individual</a:t>
            </a:r>
            <a:r>
              <a:rPr lang="it-IT" b="1" dirty="0"/>
              <a:t> </a:t>
            </a:r>
            <a:r>
              <a:rPr lang="it-IT" b="1" dirty="0" err="1"/>
              <a:t>variability</a:t>
            </a:r>
            <a:r>
              <a:rPr lang="it-IT" dirty="0"/>
              <a:t> and a </a:t>
            </a:r>
            <a:r>
              <a:rPr lang="it-IT" b="1" dirty="0" err="1"/>
              <a:t>homogeneous</a:t>
            </a:r>
            <a:r>
              <a:rPr lang="it-IT" b="1" dirty="0"/>
              <a:t> </a:t>
            </a:r>
            <a:r>
              <a:rPr lang="it-IT" b="1" dirty="0" err="1"/>
              <a:t>microbial</a:t>
            </a:r>
            <a:r>
              <a:rPr lang="it-IT" b="1" dirty="0"/>
              <a:t> </a:t>
            </a:r>
            <a:r>
              <a:rPr lang="it-IT" b="1" dirty="0" err="1"/>
              <a:t>composition</a:t>
            </a:r>
            <a:r>
              <a:rPr lang="it-IT" dirty="0"/>
              <a:t> </a:t>
            </a:r>
            <a:r>
              <a:rPr lang="it-IT" dirty="0" err="1"/>
              <a:t>within</a:t>
            </a:r>
            <a:r>
              <a:rPr lang="it-IT" dirty="0"/>
              <a:t> the Low MEDAS group. </a:t>
            </a:r>
          </a:p>
          <a:p>
            <a:r>
              <a:rPr lang="it-IT" dirty="0"/>
              <a:t>In </a:t>
            </a:r>
            <a:r>
              <a:rPr lang="it-IT" dirty="0" err="1"/>
              <a:t>contrast</a:t>
            </a:r>
            <a:r>
              <a:rPr lang="it-IT" dirty="0"/>
              <a:t>, the plot </a:t>
            </a:r>
            <a:r>
              <a:rPr lang="it-IT" dirty="0" err="1"/>
              <a:t>including</a:t>
            </a:r>
            <a:r>
              <a:rPr lang="it-IT" dirty="0"/>
              <a:t> </a:t>
            </a:r>
            <a:r>
              <a:rPr lang="it-IT" dirty="0" err="1"/>
              <a:t>all</a:t>
            </a:r>
            <a:r>
              <a:rPr lang="it-IT" dirty="0"/>
              <a:t> </a:t>
            </a:r>
            <a:r>
              <a:rPr lang="it-IT" dirty="0" err="1"/>
              <a:t>patients</a:t>
            </a:r>
            <a:r>
              <a:rPr lang="it-IT" dirty="0"/>
              <a:t> </a:t>
            </a:r>
            <a:r>
              <a:rPr lang="it-IT" dirty="0" err="1"/>
              <a:t>reveals</a:t>
            </a:r>
            <a:r>
              <a:rPr lang="it-IT" dirty="0"/>
              <a:t> a clear </a:t>
            </a:r>
            <a:r>
              <a:rPr lang="it-IT" dirty="0" err="1"/>
              <a:t>separation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High and Low MEDAS groups (PERMANOVA p = 0.024). </a:t>
            </a:r>
          </a:p>
          <a:p>
            <a:endParaRPr lang="it-IT" dirty="0"/>
          </a:p>
          <a:p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suggests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dietary</a:t>
            </a:r>
            <a:r>
              <a:rPr lang="it-IT" dirty="0"/>
              <a:t> </a:t>
            </a:r>
            <a:r>
              <a:rPr lang="it-IT" dirty="0" err="1"/>
              <a:t>adherence</a:t>
            </a:r>
            <a:r>
              <a:rPr lang="it-IT" dirty="0"/>
              <a:t> </a:t>
            </a:r>
            <a:r>
              <a:rPr lang="it-IT" dirty="0" err="1"/>
              <a:t>influences</a:t>
            </a:r>
            <a:r>
              <a:rPr lang="it-IT" dirty="0"/>
              <a:t> overall microbiota </a:t>
            </a:r>
            <a:r>
              <a:rPr lang="it-IT" dirty="0" err="1"/>
              <a:t>structure</a:t>
            </a:r>
            <a:r>
              <a:rPr lang="it-IT" dirty="0"/>
              <a:t>, </a:t>
            </a:r>
            <a:r>
              <a:rPr lang="it-IT" dirty="0" err="1"/>
              <a:t>while</a:t>
            </a:r>
            <a:r>
              <a:rPr lang="it-IT" dirty="0"/>
              <a:t> TEC08’s limited </a:t>
            </a:r>
            <a:r>
              <a:rPr lang="it-IT" dirty="0" err="1"/>
              <a:t>dispersion</a:t>
            </a:r>
            <a:r>
              <a:rPr lang="it-IT" dirty="0"/>
              <a:t> </a:t>
            </a:r>
            <a:r>
              <a:rPr lang="it-IT" dirty="0" err="1"/>
              <a:t>reflects</a:t>
            </a:r>
            <a:r>
              <a:rPr lang="it-IT" dirty="0"/>
              <a:t> a </a:t>
            </a:r>
            <a:r>
              <a:rPr lang="it-IT" dirty="0" err="1"/>
              <a:t>less</a:t>
            </a:r>
            <a:r>
              <a:rPr lang="it-IT" dirty="0"/>
              <a:t> diverse and </a:t>
            </a:r>
            <a:r>
              <a:rPr lang="it-IT" dirty="0" err="1"/>
              <a:t>less</a:t>
            </a:r>
            <a:r>
              <a:rPr lang="it-IT" dirty="0"/>
              <a:t> responsive </a:t>
            </a:r>
            <a:r>
              <a:rPr lang="it-IT" dirty="0" err="1"/>
              <a:t>microbial</a:t>
            </a:r>
            <a:r>
              <a:rPr lang="it-IT" dirty="0"/>
              <a:t> community, </a:t>
            </a:r>
            <a:r>
              <a:rPr lang="it-IT" dirty="0" err="1"/>
              <a:t>consistent</a:t>
            </a:r>
            <a:r>
              <a:rPr lang="it-IT" dirty="0"/>
              <a:t> with low </a:t>
            </a:r>
            <a:r>
              <a:rPr lang="it-IT" dirty="0" err="1"/>
              <a:t>Mediterranean</a:t>
            </a:r>
            <a:r>
              <a:rPr lang="it-IT" dirty="0"/>
              <a:t> </a:t>
            </a:r>
            <a:r>
              <a:rPr lang="it-IT" dirty="0" err="1"/>
              <a:t>diet</a:t>
            </a:r>
            <a:r>
              <a:rPr lang="it-IT" dirty="0"/>
              <a:t> </a:t>
            </a:r>
            <a:r>
              <a:rPr lang="it-IT" dirty="0" err="1"/>
              <a:t>adherence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607546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557D4-9D48-66C7-49F7-8EF7E0406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781A593B-D919-361D-7792-ADE5BDC5F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3006" y="1605197"/>
            <a:ext cx="4817066" cy="3647605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8A35F70D-4A7C-5242-B9AF-48DC85B13EB9}"/>
              </a:ext>
            </a:extLst>
          </p:cNvPr>
          <p:cNvSpPr txBox="1"/>
          <p:nvPr/>
        </p:nvSpPr>
        <p:spPr>
          <a:xfrm>
            <a:off x="578106" y="485410"/>
            <a:ext cx="8852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Beta </a:t>
            </a:r>
            <a:r>
              <a:rPr lang="it-IT" b="1" dirty="0" err="1"/>
              <a:t>diversity</a:t>
            </a:r>
            <a:r>
              <a:rPr lang="it-IT" b="1" dirty="0"/>
              <a:t> </a:t>
            </a:r>
            <a:r>
              <a:rPr lang="it-IT" b="1" dirty="0" err="1"/>
              <a:t>comparison</a:t>
            </a:r>
            <a:r>
              <a:rPr lang="it-IT" b="1" dirty="0"/>
              <a:t> for </a:t>
            </a:r>
            <a:r>
              <a:rPr lang="it-IT" b="1" dirty="0" err="1"/>
              <a:t>patient</a:t>
            </a:r>
            <a:r>
              <a:rPr lang="it-IT" b="1" dirty="0"/>
              <a:t> TEC08 vs. </a:t>
            </a:r>
            <a:r>
              <a:rPr lang="it-IT" b="1" dirty="0" err="1"/>
              <a:t>all</a:t>
            </a:r>
            <a:r>
              <a:rPr lang="it-IT" b="1" dirty="0"/>
              <a:t> </a:t>
            </a:r>
            <a:r>
              <a:rPr lang="it-IT" b="1" dirty="0" err="1"/>
              <a:t>patients</a:t>
            </a:r>
            <a:r>
              <a:rPr lang="it-IT" b="1" dirty="0"/>
              <a:t> (BMI)</a:t>
            </a:r>
            <a:r>
              <a:rPr lang="it-IT" dirty="0"/>
              <a:t> 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E1BC5E9-26F0-5D85-1D4D-4BDB9F21246F}"/>
              </a:ext>
            </a:extLst>
          </p:cNvPr>
          <p:cNvSpPr txBox="1"/>
          <p:nvPr/>
        </p:nvSpPr>
        <p:spPr>
          <a:xfrm>
            <a:off x="771222" y="1443840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The plot shows </a:t>
            </a:r>
            <a:r>
              <a:rPr lang="it-IT" b="1" dirty="0"/>
              <a:t>TEC08 alone</a:t>
            </a:r>
            <a:r>
              <a:rPr lang="it-IT" dirty="0"/>
              <a:t>, </a:t>
            </a:r>
            <a:r>
              <a:rPr lang="it-IT" dirty="0" err="1"/>
              <a:t>where</a:t>
            </a:r>
            <a:r>
              <a:rPr lang="it-IT" dirty="0"/>
              <a:t> the </a:t>
            </a:r>
            <a:r>
              <a:rPr lang="it-IT" dirty="0" err="1"/>
              <a:t>three</a:t>
            </a:r>
            <a:r>
              <a:rPr lang="it-IT" dirty="0"/>
              <a:t> samples cluster </a:t>
            </a:r>
            <a:r>
              <a:rPr lang="it-IT" dirty="0" err="1"/>
              <a:t>tightly</a:t>
            </a:r>
            <a:r>
              <a:rPr lang="it-IT" dirty="0"/>
              <a:t>, </a:t>
            </a:r>
            <a:r>
              <a:rPr lang="it-IT" dirty="0" err="1"/>
              <a:t>indicating</a:t>
            </a:r>
            <a:r>
              <a:rPr lang="it-IT" dirty="0"/>
              <a:t> </a:t>
            </a:r>
            <a:r>
              <a:rPr lang="it-IT" b="1" dirty="0"/>
              <a:t>low intra‑</a:t>
            </a:r>
            <a:r>
              <a:rPr lang="it-IT" b="1" dirty="0" err="1"/>
              <a:t>individual</a:t>
            </a:r>
            <a:r>
              <a:rPr lang="it-IT" b="1" dirty="0"/>
              <a:t> </a:t>
            </a:r>
            <a:r>
              <a:rPr lang="it-IT" b="1" dirty="0" err="1"/>
              <a:t>variability</a:t>
            </a:r>
            <a:r>
              <a:rPr lang="it-IT" dirty="0"/>
              <a:t> and a </a:t>
            </a:r>
            <a:r>
              <a:rPr lang="it-IT" b="1" dirty="0" err="1"/>
              <a:t>homogeneous</a:t>
            </a:r>
            <a:r>
              <a:rPr lang="it-IT" b="1" dirty="0"/>
              <a:t> </a:t>
            </a:r>
            <a:r>
              <a:rPr lang="it-IT" b="1" dirty="0" err="1"/>
              <a:t>microbial</a:t>
            </a:r>
            <a:r>
              <a:rPr lang="it-IT" b="1" dirty="0"/>
              <a:t> </a:t>
            </a:r>
            <a:r>
              <a:rPr lang="it-IT" b="1" dirty="0" err="1"/>
              <a:t>composition</a:t>
            </a:r>
            <a:r>
              <a:rPr lang="it-IT" dirty="0"/>
              <a:t> </a:t>
            </a:r>
            <a:r>
              <a:rPr lang="it-IT" dirty="0" err="1"/>
              <a:t>within</a:t>
            </a:r>
            <a:r>
              <a:rPr lang="it-IT" dirty="0"/>
              <a:t> the </a:t>
            </a:r>
            <a:r>
              <a:rPr lang="it-IT" dirty="0" err="1"/>
              <a:t>Overweight</a:t>
            </a:r>
            <a:r>
              <a:rPr lang="it-IT" dirty="0"/>
              <a:t> group. </a:t>
            </a:r>
          </a:p>
          <a:p>
            <a:r>
              <a:rPr lang="it-IT" dirty="0"/>
              <a:t>In </a:t>
            </a:r>
            <a:r>
              <a:rPr lang="it-IT" dirty="0" err="1"/>
              <a:t>contrast</a:t>
            </a:r>
            <a:r>
              <a:rPr lang="it-IT" dirty="0"/>
              <a:t>, the plot </a:t>
            </a:r>
            <a:r>
              <a:rPr lang="it-IT" dirty="0" err="1"/>
              <a:t>including</a:t>
            </a:r>
            <a:r>
              <a:rPr lang="it-IT" dirty="0"/>
              <a:t> </a:t>
            </a:r>
            <a:r>
              <a:rPr lang="it-IT" dirty="0" err="1"/>
              <a:t>all</a:t>
            </a:r>
            <a:r>
              <a:rPr lang="it-IT" dirty="0"/>
              <a:t> </a:t>
            </a:r>
            <a:r>
              <a:rPr lang="it-IT" dirty="0" err="1"/>
              <a:t>patients</a:t>
            </a:r>
            <a:r>
              <a:rPr lang="it-IT" dirty="0"/>
              <a:t> </a:t>
            </a:r>
            <a:r>
              <a:rPr lang="it-IT" dirty="0" err="1"/>
              <a:t>reveals</a:t>
            </a:r>
            <a:r>
              <a:rPr lang="it-IT" dirty="0"/>
              <a:t> a </a:t>
            </a:r>
            <a:r>
              <a:rPr lang="it-IT" dirty="0" err="1"/>
              <a:t>significant</a:t>
            </a:r>
            <a:r>
              <a:rPr lang="it-IT" dirty="0"/>
              <a:t> </a:t>
            </a:r>
            <a:r>
              <a:rPr lang="it-IT" dirty="0" err="1"/>
              <a:t>separation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Normal and </a:t>
            </a:r>
            <a:r>
              <a:rPr lang="it-IT" dirty="0" err="1"/>
              <a:t>Overweight</a:t>
            </a:r>
            <a:r>
              <a:rPr lang="it-IT" dirty="0"/>
              <a:t> BMI groups (</a:t>
            </a:r>
            <a:r>
              <a:rPr lang="it-IT" i="1" dirty="0"/>
              <a:t>PERMANOVA p = 0.019</a:t>
            </a:r>
            <a:r>
              <a:rPr lang="it-IT" dirty="0"/>
              <a:t>). </a:t>
            </a:r>
          </a:p>
          <a:p>
            <a:endParaRPr lang="it-IT" dirty="0"/>
          </a:p>
          <a:p>
            <a:endParaRPr lang="it-IT" dirty="0"/>
          </a:p>
          <a:p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suggests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b="1" dirty="0"/>
              <a:t>body weight </a:t>
            </a:r>
            <a:r>
              <a:rPr lang="it-IT" b="1" dirty="0" err="1"/>
              <a:t>influences</a:t>
            </a:r>
            <a:r>
              <a:rPr lang="it-IT" b="1" dirty="0"/>
              <a:t> overall microbiota </a:t>
            </a:r>
            <a:r>
              <a:rPr lang="it-IT" b="1" dirty="0" err="1"/>
              <a:t>structure</a:t>
            </a:r>
            <a:r>
              <a:rPr lang="it-IT" dirty="0"/>
              <a:t>, </a:t>
            </a:r>
            <a:r>
              <a:rPr lang="it-IT" dirty="0" err="1"/>
              <a:t>while</a:t>
            </a:r>
            <a:r>
              <a:rPr lang="it-IT" dirty="0"/>
              <a:t> TEC08’s limited </a:t>
            </a:r>
            <a:r>
              <a:rPr lang="it-IT" dirty="0" err="1"/>
              <a:t>dispersion</a:t>
            </a:r>
            <a:r>
              <a:rPr lang="it-IT" dirty="0"/>
              <a:t> </a:t>
            </a:r>
            <a:r>
              <a:rPr lang="it-IT" dirty="0" err="1"/>
              <a:t>reflects</a:t>
            </a:r>
            <a:r>
              <a:rPr lang="it-IT" dirty="0"/>
              <a:t> a </a:t>
            </a:r>
            <a:r>
              <a:rPr lang="it-IT" b="1" dirty="0" err="1"/>
              <a:t>less</a:t>
            </a:r>
            <a:r>
              <a:rPr lang="it-IT" b="1" dirty="0"/>
              <a:t> diverse and </a:t>
            </a:r>
            <a:r>
              <a:rPr lang="it-IT" b="1" dirty="0" err="1"/>
              <a:t>less</a:t>
            </a:r>
            <a:r>
              <a:rPr lang="it-IT" b="1" dirty="0"/>
              <a:t> </a:t>
            </a:r>
            <a:r>
              <a:rPr lang="it-IT" b="1" dirty="0" err="1"/>
              <a:t>adaptable</a:t>
            </a:r>
            <a:r>
              <a:rPr lang="it-IT" b="1" dirty="0"/>
              <a:t> </a:t>
            </a:r>
            <a:r>
              <a:rPr lang="it-IT" b="1" dirty="0" err="1"/>
              <a:t>microbial</a:t>
            </a:r>
            <a:r>
              <a:rPr lang="it-IT" b="1" dirty="0"/>
              <a:t> community</a:t>
            </a:r>
            <a:r>
              <a:rPr lang="it-IT" dirty="0"/>
              <a:t>, </a:t>
            </a:r>
            <a:r>
              <a:rPr lang="it-IT" dirty="0" err="1"/>
              <a:t>consistent</a:t>
            </a:r>
            <a:r>
              <a:rPr lang="it-IT" dirty="0"/>
              <a:t> with </a:t>
            </a:r>
            <a:r>
              <a:rPr lang="it-IT" b="1" dirty="0" err="1"/>
              <a:t>overweight‑associated</a:t>
            </a:r>
            <a:r>
              <a:rPr lang="it-IT" b="1" dirty="0"/>
              <a:t> </a:t>
            </a:r>
            <a:r>
              <a:rPr lang="it-IT" b="1" dirty="0" err="1"/>
              <a:t>dysbiosis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681988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1776</TotalTime>
  <Words>5064</Words>
  <Application>Microsoft Office PowerPoint</Application>
  <PresentationFormat>Widescreen</PresentationFormat>
  <Paragraphs>196</Paragraphs>
  <Slides>77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77</vt:i4>
      </vt:variant>
    </vt:vector>
  </HeadingPairs>
  <TitlesOfParts>
    <vt:vector size="81" baseType="lpstr">
      <vt:lpstr>Aptos</vt:lpstr>
      <vt:lpstr>Aptos Display</vt:lpstr>
      <vt:lpstr>Arial</vt:lpstr>
      <vt:lpstr>Tema di Office</vt:lpstr>
      <vt:lpstr>Gut Microbiota Analysis in TEC Patients  Alpha Diversity-Beta Diversity-Microbial Composition (Stacked Bars) </vt:lpstr>
      <vt:lpstr>Report Objectives</vt:lpstr>
      <vt:lpstr>Alpha Diversity: Key Concepts</vt:lpstr>
      <vt:lpstr>Alpha Diversity: approach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Interpretation</vt:lpstr>
      <vt:lpstr>Beta Diversity: Key Concepts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Aurelia Bagetto</dc:creator>
  <cp:lastModifiedBy>Aurelia Bagetto</cp:lastModifiedBy>
  <cp:revision>25</cp:revision>
  <dcterms:created xsi:type="dcterms:W3CDTF">2026-07-22T19:59:16Z</dcterms:created>
  <dcterms:modified xsi:type="dcterms:W3CDTF">2026-08-17T16:21:12Z</dcterms:modified>
</cp:coreProperties>
</file>