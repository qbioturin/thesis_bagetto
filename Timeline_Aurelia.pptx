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4" r:id="rId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AE76EF-E27C-9861-9517-9C3DF6E10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C049803-30A0-0B72-5757-02FECEB106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5B38E21-8360-C2C8-7426-92CCDD44B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87904-FDBE-413C-AC35-5AA18C0F81F1}" type="datetimeFigureOut">
              <a:rPr lang="it-IT" smtClean="0"/>
              <a:t>25/09/2026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2B66A27-EF0D-FC22-85E2-EB33652B1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662F4CA-B2F0-9DBE-54FC-C3D2DD0F0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FF1D4-730B-4E68-8EB2-7C90E07B17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7873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6F7153-8564-C501-6C27-6B1D77C55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6683A87-6731-1738-DDD5-FCEDAC5EA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77997BF-2FD8-343C-1FED-760EA62EA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87904-FDBE-413C-AC35-5AA18C0F81F1}" type="datetimeFigureOut">
              <a:rPr lang="it-IT" smtClean="0"/>
              <a:t>25/09/2026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6735156-7D9A-D147-ACB1-B2324CA01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F8C8806-E362-5030-A975-9903697E2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FF1D4-730B-4E68-8EB2-7C90E07B17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28728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3E1F940-5972-330D-458D-DEC04380B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DF606F6-AE17-2083-062B-B44AF1DED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775EA65-010D-A038-DD21-50922BB7B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87904-FDBE-413C-AC35-5AA18C0F81F1}" type="datetimeFigureOut">
              <a:rPr lang="it-IT" smtClean="0"/>
              <a:t>25/09/2026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7259E56-0947-3331-4D93-C2C97B128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C5650ED-6847-9A48-046E-5F2E9327F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FF1D4-730B-4E68-8EB2-7C90E07B17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09149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33601C7-CD8B-8710-9E64-7BB727C54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DF5F15E-FA0F-7124-70F4-40271E3AFB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CFC2856-9C3F-E038-20BE-7301BCD65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7597488-6017-CB77-7AF9-AA390D26C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87904-FDBE-413C-AC35-5AA18C0F81F1}" type="datetimeFigureOut">
              <a:rPr lang="it-IT" smtClean="0"/>
              <a:t>25/09/2026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4BB60D0-CF60-3BE8-5023-865A181BF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58EEF0D-FB80-C732-30EE-F5877ED34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FF1D4-730B-4E68-8EB2-7C90E07B17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96112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7A9FFE-D264-5375-C3EC-BF9D28C6F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EFCCC0D-3D03-13A2-3A4A-E76A7385C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A570EE1-B4B3-A8E5-7207-74FADA587D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7118935-949E-9071-8662-176BE6EE53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215488C-601B-F67E-AD91-FD19271CBE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C3BFFD2-73F4-26F8-758C-B90709B40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87904-FDBE-413C-AC35-5AA18C0F81F1}" type="datetimeFigureOut">
              <a:rPr lang="it-IT" smtClean="0"/>
              <a:t>25/09/2026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117B23D6-AE18-4C47-82A9-B60EF3A8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6EE046AF-DB95-C1BA-27A8-81BF9B76A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FF1D4-730B-4E68-8EB2-7C90E07B17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8556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324516-2783-47F4-41F3-DB08A0A6E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F645B01-92FC-1802-9557-F37765B03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87904-FDBE-413C-AC35-5AA18C0F81F1}" type="datetimeFigureOut">
              <a:rPr lang="it-IT" smtClean="0"/>
              <a:t>25/09/2026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655DD9C-EE81-7572-A76C-CE408BC55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987AC88-31A8-8E79-7B4D-39C3773EA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FF1D4-730B-4E68-8EB2-7C90E07B17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99493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355271E-039E-E984-DD81-1AE44EA63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87904-FDBE-413C-AC35-5AA18C0F81F1}" type="datetimeFigureOut">
              <a:rPr lang="it-IT" smtClean="0"/>
              <a:t>25/09/2026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150145B-977B-C730-ABF8-A1AF21F0F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C042A70-9A43-FF98-0B7E-46C10DB2F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FF1D4-730B-4E68-8EB2-7C90E07B17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7466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DD3BDF-EAE0-11D9-AE6F-5BA75A10E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E20E720-0FB2-A8C8-3964-1F485E145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2CA66C9-9E42-0A86-7420-6ED5848F73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FB44F57-AFF4-B9EF-87E3-7AF66A89A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87904-FDBE-413C-AC35-5AA18C0F81F1}" type="datetimeFigureOut">
              <a:rPr lang="it-IT" smtClean="0"/>
              <a:t>25/09/2026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0137275-E9A3-CD76-C4D1-C670088A5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0A48A28-01B4-2B25-5869-2DE84E98D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FF1D4-730B-4E68-8EB2-7C90E07B17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8847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DE53BE-67FA-D5B6-CEAB-908E2E75D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676A88-AF6D-D149-D502-78B44DD689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8992D15-CC03-E795-329A-D9E17995B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7E8AB52-FC1D-C8B9-74FA-D662ED9A9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87904-FDBE-413C-AC35-5AA18C0F81F1}" type="datetimeFigureOut">
              <a:rPr lang="it-IT" smtClean="0"/>
              <a:t>25/09/2026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6B882AB-D59C-A49D-E243-6904A009F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8502206-8CB0-9595-CE9E-9C6FC6043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FF1D4-730B-4E68-8EB2-7C90E07B17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4939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908264-CFD7-5056-CA6D-86EF5B8A8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E42CBC5-7067-4B2E-06F7-56BC89898F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35C8DF2-D33F-8488-A4AE-A758F1B5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87904-FDBE-413C-AC35-5AA18C0F81F1}" type="datetimeFigureOut">
              <a:rPr lang="it-IT" smtClean="0"/>
              <a:t>25/09/2026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533B13A-281D-B72B-F063-05FB41639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0BF8B88-068B-DB3E-76FE-3226829C8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FF1D4-730B-4E68-8EB2-7C90E07B17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73943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AE0A1DF3-4CCC-B1CA-0FBF-C155498D32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F62940E-5D3E-833F-9CA6-0C44832D9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74C36D4-C956-D63A-F470-0C6614F38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87904-FDBE-413C-AC35-5AA18C0F81F1}" type="datetimeFigureOut">
              <a:rPr lang="it-IT" smtClean="0"/>
              <a:t>25/09/2026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97B923C-71E1-8ABF-A420-FBEC0B16D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9903165-4A57-9422-34EE-74FEB273D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FF1D4-730B-4E68-8EB2-7C90E07B17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5287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12EFF7C-3C76-1B1E-2A3B-2DC76298D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5023512-FEC3-8C3F-C196-CDE15ADBC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541ECA4-E357-97C5-668B-FF06633115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687904-FDBE-413C-AC35-5AA18C0F81F1}" type="datetimeFigureOut">
              <a:rPr lang="it-IT" smtClean="0"/>
              <a:t>25/09/2026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B70C869-4440-430B-BB8F-092F62FE20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1548C37-7840-D7B5-D329-0A143ECBD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DFF1D4-730B-4E68-8EB2-7C90E07B17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0136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2EF21-A48C-BACD-9496-B01729518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sellaDiTesto 8">
            <a:extLst>
              <a:ext uri="{FF2B5EF4-FFF2-40B4-BE49-F238E27FC236}">
                <a16:creationId xmlns:a16="http://schemas.microsoft.com/office/drawing/2014/main" id="{ACC65A7F-63EC-7509-90A4-2026E99F8B8F}"/>
              </a:ext>
            </a:extLst>
          </p:cNvPr>
          <p:cNvSpPr txBox="1"/>
          <p:nvPr/>
        </p:nvSpPr>
        <p:spPr>
          <a:xfrm>
            <a:off x="1702274" y="222898"/>
            <a:ext cx="87152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Study design and sampling schedule during TEC treatment</a:t>
            </a:r>
            <a:endParaRPr lang="it-IT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10109DCA-901B-FC28-8ACD-41C8E0CBCE68}"/>
              </a:ext>
            </a:extLst>
          </p:cNvPr>
          <p:cNvSpPr txBox="1"/>
          <p:nvPr/>
        </p:nvSpPr>
        <p:spPr>
          <a:xfrm>
            <a:off x="946506" y="4857226"/>
            <a:ext cx="273626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Diagnosis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pre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-treatment</a:t>
            </a:r>
          </a:p>
          <a:p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TEC treatment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initiation</a:t>
            </a:r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Follow-up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timepoint</a:t>
            </a:r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Ovale 18">
            <a:extLst>
              <a:ext uri="{FF2B5EF4-FFF2-40B4-BE49-F238E27FC236}">
                <a16:creationId xmlns:a16="http://schemas.microsoft.com/office/drawing/2014/main" id="{12F0AD7B-1879-D5AB-23ED-0DD8A475A595}"/>
              </a:ext>
            </a:extLst>
          </p:cNvPr>
          <p:cNvSpPr/>
          <p:nvPr/>
        </p:nvSpPr>
        <p:spPr>
          <a:xfrm>
            <a:off x="729842" y="4937727"/>
            <a:ext cx="157941" cy="174557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C104B78B-DA9F-4D45-D8F9-59EB705148A4}"/>
              </a:ext>
            </a:extLst>
          </p:cNvPr>
          <p:cNvSpPr txBox="1"/>
          <p:nvPr/>
        </p:nvSpPr>
        <p:spPr>
          <a:xfrm>
            <a:off x="4031080" y="4857226"/>
            <a:ext cx="419449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TEC (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daily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administration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 from T0 to T36)</a:t>
            </a:r>
          </a:p>
          <a:p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Clinical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visit</a:t>
            </a:r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Faecal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 sample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collection</a:t>
            </a:r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74882B00-621F-88C3-5C51-97BCEA514DCE}"/>
              </a:ext>
            </a:extLst>
          </p:cNvPr>
          <p:cNvSpPr/>
          <p:nvPr/>
        </p:nvSpPr>
        <p:spPr>
          <a:xfrm>
            <a:off x="729842" y="5354722"/>
            <a:ext cx="157941" cy="174557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Ovale 23">
            <a:extLst>
              <a:ext uri="{FF2B5EF4-FFF2-40B4-BE49-F238E27FC236}">
                <a16:creationId xmlns:a16="http://schemas.microsoft.com/office/drawing/2014/main" id="{9B1FECC7-0BDB-893E-DA63-97B6CE68F20C}"/>
              </a:ext>
            </a:extLst>
          </p:cNvPr>
          <p:cNvSpPr/>
          <p:nvPr/>
        </p:nvSpPr>
        <p:spPr>
          <a:xfrm>
            <a:off x="729841" y="5771717"/>
            <a:ext cx="157941" cy="174557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6" name="Immagine 25">
            <a:extLst>
              <a:ext uri="{FF2B5EF4-FFF2-40B4-BE49-F238E27FC236}">
                <a16:creationId xmlns:a16="http://schemas.microsoft.com/office/drawing/2014/main" id="{CDA76302-74D8-DE66-0CAE-AC113CA495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665583" y="4877835"/>
            <a:ext cx="365497" cy="255058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9E81EAFE-5AC7-D622-E84F-F058A9A869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82767" y="5274221"/>
            <a:ext cx="417169" cy="330418"/>
          </a:xfrm>
          <a:prstGeom prst="rect">
            <a:avLst/>
          </a:prstGeom>
        </p:spPr>
      </p:pic>
      <p:pic>
        <p:nvPicPr>
          <p:cNvPr id="30" name="Immagine 29">
            <a:extLst>
              <a:ext uri="{FF2B5EF4-FFF2-40B4-BE49-F238E27FC236}">
                <a16:creationId xmlns:a16="http://schemas.microsoft.com/office/drawing/2014/main" id="{07FC5480-99CC-6E62-866A-CB964DFB0D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665583" y="5650721"/>
            <a:ext cx="249093" cy="446720"/>
          </a:xfrm>
          <a:prstGeom prst="rect">
            <a:avLst/>
          </a:prstGeom>
        </p:spPr>
      </p:pic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7A71D8D6-D919-F55E-6A13-7DA88C746DE2}"/>
              </a:ext>
            </a:extLst>
          </p:cNvPr>
          <p:cNvSpPr/>
          <p:nvPr/>
        </p:nvSpPr>
        <p:spPr>
          <a:xfrm>
            <a:off x="530527" y="4748169"/>
            <a:ext cx="6994398" cy="1456046"/>
          </a:xfrm>
          <a:prstGeom prst="round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4929C6DD-1BCC-9FD2-E82D-88946D9286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718" y="2879107"/>
            <a:ext cx="10854563" cy="1587224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C7D7C844-7418-74A1-4FF0-129D693C5D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1799" y="601652"/>
            <a:ext cx="10111482" cy="227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39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sellaDiTesto 8">
            <a:extLst>
              <a:ext uri="{FF2B5EF4-FFF2-40B4-BE49-F238E27FC236}">
                <a16:creationId xmlns:a16="http://schemas.microsoft.com/office/drawing/2014/main" id="{A86C4F4E-B955-14D8-3F0D-4E4B273EB7BC}"/>
              </a:ext>
            </a:extLst>
          </p:cNvPr>
          <p:cNvSpPr txBox="1"/>
          <p:nvPr/>
        </p:nvSpPr>
        <p:spPr>
          <a:xfrm>
            <a:off x="1702274" y="222898"/>
            <a:ext cx="87152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Study design and sampling schedule during TEC treatment</a:t>
            </a:r>
            <a:endParaRPr lang="it-IT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9FE78F8B-3816-8D38-80B3-6D32167C7D92}"/>
              </a:ext>
            </a:extLst>
          </p:cNvPr>
          <p:cNvSpPr txBox="1"/>
          <p:nvPr/>
        </p:nvSpPr>
        <p:spPr>
          <a:xfrm>
            <a:off x="946506" y="4857226"/>
            <a:ext cx="273626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Diagnosis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pre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-treatment</a:t>
            </a:r>
          </a:p>
          <a:p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TEC treatment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initiation</a:t>
            </a:r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Follow-up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timepoint</a:t>
            </a:r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Ovale 18">
            <a:extLst>
              <a:ext uri="{FF2B5EF4-FFF2-40B4-BE49-F238E27FC236}">
                <a16:creationId xmlns:a16="http://schemas.microsoft.com/office/drawing/2014/main" id="{40082A1C-CE16-B83A-C0FD-1BAE1E6C57D7}"/>
              </a:ext>
            </a:extLst>
          </p:cNvPr>
          <p:cNvSpPr/>
          <p:nvPr/>
        </p:nvSpPr>
        <p:spPr>
          <a:xfrm>
            <a:off x="729842" y="4937727"/>
            <a:ext cx="157941" cy="174557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BD306661-D52D-3163-6E32-32C9766DB70D}"/>
              </a:ext>
            </a:extLst>
          </p:cNvPr>
          <p:cNvSpPr txBox="1"/>
          <p:nvPr/>
        </p:nvSpPr>
        <p:spPr>
          <a:xfrm>
            <a:off x="4031080" y="4857226"/>
            <a:ext cx="419449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TEC (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daily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administration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 from T0 to T36)</a:t>
            </a:r>
          </a:p>
          <a:p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Clinical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visit</a:t>
            </a:r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Faecal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 sample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collection</a:t>
            </a:r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BDA990DB-CCF5-4C50-371E-714DB4CE0570}"/>
              </a:ext>
            </a:extLst>
          </p:cNvPr>
          <p:cNvSpPr/>
          <p:nvPr/>
        </p:nvSpPr>
        <p:spPr>
          <a:xfrm>
            <a:off x="729842" y="5354722"/>
            <a:ext cx="157941" cy="174557"/>
          </a:xfrm>
          <a:prstGeom prst="ellipse">
            <a:avLst/>
          </a:prstGeom>
          <a:solidFill>
            <a:srgbClr val="00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Ovale 23">
            <a:extLst>
              <a:ext uri="{FF2B5EF4-FFF2-40B4-BE49-F238E27FC236}">
                <a16:creationId xmlns:a16="http://schemas.microsoft.com/office/drawing/2014/main" id="{8AEAB75D-EE6C-D8A0-CE7A-BCD861EE5ADE}"/>
              </a:ext>
            </a:extLst>
          </p:cNvPr>
          <p:cNvSpPr/>
          <p:nvPr/>
        </p:nvSpPr>
        <p:spPr>
          <a:xfrm>
            <a:off x="729841" y="5771717"/>
            <a:ext cx="157941" cy="174557"/>
          </a:xfrm>
          <a:prstGeom prst="ellipse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6" name="Immagine 25">
            <a:extLst>
              <a:ext uri="{FF2B5EF4-FFF2-40B4-BE49-F238E27FC236}">
                <a16:creationId xmlns:a16="http://schemas.microsoft.com/office/drawing/2014/main" id="{08F9D49E-107F-D077-6909-A0F81B49C7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665583" y="4877835"/>
            <a:ext cx="365497" cy="255058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2ECAEBE9-7DB7-019A-60E3-A405612641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82767" y="5274221"/>
            <a:ext cx="417169" cy="330418"/>
          </a:xfrm>
          <a:prstGeom prst="rect">
            <a:avLst/>
          </a:prstGeom>
        </p:spPr>
      </p:pic>
      <p:pic>
        <p:nvPicPr>
          <p:cNvPr id="30" name="Immagine 29">
            <a:extLst>
              <a:ext uri="{FF2B5EF4-FFF2-40B4-BE49-F238E27FC236}">
                <a16:creationId xmlns:a16="http://schemas.microsoft.com/office/drawing/2014/main" id="{3B956039-CD72-E052-D49A-23E6127702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665583" y="5650721"/>
            <a:ext cx="249093" cy="446720"/>
          </a:xfrm>
          <a:prstGeom prst="rect">
            <a:avLst/>
          </a:prstGeom>
        </p:spPr>
      </p:pic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F6CD3A29-4558-0616-C7B8-4195996A3DF7}"/>
              </a:ext>
            </a:extLst>
          </p:cNvPr>
          <p:cNvSpPr/>
          <p:nvPr/>
        </p:nvSpPr>
        <p:spPr>
          <a:xfrm>
            <a:off x="530527" y="4748169"/>
            <a:ext cx="6994398" cy="1456046"/>
          </a:xfrm>
          <a:prstGeom prst="round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D3019CAC-0D8B-F0E4-42FE-655AB8A6DB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733" y="2911818"/>
            <a:ext cx="11305187" cy="1658913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5AB134E7-47A1-6F65-149F-F48B52D4CD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5927" y="585555"/>
            <a:ext cx="10231053" cy="230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9087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</Words>
  <Application>Microsoft Office PowerPoint</Application>
  <PresentationFormat>Widescreen</PresentationFormat>
  <Paragraphs>22</Paragraphs>
  <Slides>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Aurelia Bagetto</dc:creator>
  <cp:lastModifiedBy>Aurelia Bagetto</cp:lastModifiedBy>
  <cp:revision>1</cp:revision>
  <dcterms:created xsi:type="dcterms:W3CDTF">2026-09-25T13:22:36Z</dcterms:created>
  <dcterms:modified xsi:type="dcterms:W3CDTF">2026-09-25T13:23:02Z</dcterms:modified>
</cp:coreProperties>
</file>