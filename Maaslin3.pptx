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4C2D-E1CF-456C-A1E7-219086C8C9A4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C5532-7E40-405C-BF8E-BDED00EDD96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808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1C5532-7E40-405C-BF8E-BDED00EDD964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2501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8CAD01-B0F4-2DA8-6301-88091332E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3F00C4E-6506-3B40-33D8-A7ABD76BB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D06F86-718D-C468-FED7-6D90B21E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57AB-1DD6-4156-9C84-F6F30655814D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E9F1F5A-BD50-426F-E78A-5A66CE58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4D7E5D-C330-ECE4-1307-742AF9A4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209D-641E-4F05-B737-E99888E2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507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7B988-B269-0336-929E-EC38F1788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5CEDDD-FFE7-380C-367E-D9ABF7BF0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C96193-BC7C-5C12-2E0D-E88D07D5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57AB-1DD6-4156-9C84-F6F30655814D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D78EF7-D954-C872-9F61-8F6DC796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C58CF4-FDF9-6833-0819-88BF20D7F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209D-641E-4F05-B737-E99888E2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899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6AF77C-91C7-B3AE-A803-944C5A78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8213AD7-1305-8795-27B2-F3353138D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D7A4C0-4190-F46D-4ED0-BA9714D66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57AB-1DD6-4156-9C84-F6F30655814D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B4E954-18F6-56A6-E829-8E25CEAC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B37C6D-5444-D0D9-DE54-31A2B0E4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209D-641E-4F05-B737-E99888E2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495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486C98-91E0-C24E-90BA-EEF191C12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5C8D5B-431E-7F2A-7E3D-6C3257710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7F6D7AC-1480-2303-5677-FA6032EA1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BE304E9-948D-50E3-685D-448B0A8FB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57AB-1DD6-4156-9C84-F6F30655814D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21250AF-39CF-20F6-4DA6-F38AEBE5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51DB8F-C7E6-40BC-B5C9-C31DA651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209D-641E-4F05-B737-E99888E2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547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9D688-9063-3D54-F270-90A6AE62D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080581D-4D65-1146-778C-079C32F2D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9536E4-0B30-3ADD-D311-6DE5992F1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6900518-2CBB-F1D2-CD5D-141722C6D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FCC97F8-808C-A773-C3E2-EAFB44199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7D6B69C-15AD-9828-8731-D391FF3B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57AB-1DD6-4156-9C84-F6F30655814D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E7D592F-B853-342E-D76F-0F08AB462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AB2D4F7-DDBC-CB1B-6BBA-55E2E29D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209D-641E-4F05-B737-E99888E2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4754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869723-DAF7-2E52-5B4B-29C6B4125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BDFB105-0727-0DE9-EC44-15CD7D20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57AB-1DD6-4156-9C84-F6F30655814D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885B7C9-5796-7E46-067A-E81C6237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42A2AA7-A1E0-434E-BF1C-7D3062AE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209D-641E-4F05-B737-E99888E2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865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0BF7E58-9147-EB48-248E-FBBB4583F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57AB-1DD6-4156-9C84-F6F30655814D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F143DA4-CDA9-D84D-2AE4-6DCBC41E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6039DB-E670-7271-A2E0-D410F63E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209D-641E-4F05-B737-E99888E2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987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DD87E0-9EC8-6781-741D-2C7813CE6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06E0DE-8173-D8B4-3625-6F0F80F0C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2120ABF-7073-A3C4-A116-F77905DF2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58E32C2-A6A6-C0A8-188E-E3B11805D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57AB-1DD6-4156-9C84-F6F30655814D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2831E96-B1A9-9D12-00D4-07B202D61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4E0A6DE-B5E2-0780-04C7-248C8C6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209D-641E-4F05-B737-E99888E2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572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52C379-BF98-98F3-1578-E8E8D1CB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BF6A53A-13FF-6E27-92A8-9309ACCA2D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8C4F590-61DC-DE2A-1416-5AA4CCDBD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53DC58F-CB7F-D471-EC86-6F011960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57AB-1DD6-4156-9C84-F6F30655814D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6596E80-AC95-B723-78E2-6FAA8318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48E9864-7099-3724-FE25-1DFC2F2F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209D-641E-4F05-B737-E99888E2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0257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F765CB-1D6B-E68D-A887-46649947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20BD91-4195-D18C-D92C-EF2D208AC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08C4D8-0AB6-D192-5AEA-2C16489B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57AB-1DD6-4156-9C84-F6F30655814D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EE101E-3748-40FA-A635-B17B0CB9B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34645F9-09AA-F994-4C68-7A546B46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209D-641E-4F05-B737-E99888E2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758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A35B4BB-3562-8A1D-CFFD-13B15A56DA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B5ECA85-0C67-30AE-F782-DA6F2EA32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9F54C9E-E788-47DD-98B2-B1F5816D9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57AB-1DD6-4156-9C84-F6F30655814D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FBEFD4-1838-4E4D-2F16-A9666B18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E8D7E2-483B-ED2D-51FE-732E6528F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209D-641E-4F05-B737-E99888E2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718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0A71802-F851-7B18-DDD4-19B5F7FF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058D95-BA8E-8950-421E-71E58F94A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CAC02A8-E7B1-A11B-ACB4-0EBD62D12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857AB-1DD6-4156-9C84-F6F30655814D}" type="datetimeFigureOut">
              <a:rPr lang="it-IT" smtClean="0"/>
              <a:t>08/08/2026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3D72D6-19BD-B151-26A5-E178FCCFE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52B84A3-E41E-40F8-0DB4-2CC3163F5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6209D-641E-4F05-B737-E99888E2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899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3DAB1D-9D2A-CE26-DFDE-CF65B7BF2E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MAASLIN3 ANALYSIS</a:t>
            </a:r>
          </a:p>
        </p:txBody>
      </p:sp>
    </p:spTree>
    <p:extLst>
      <p:ext uri="{BB962C8B-B14F-4D97-AF65-F5344CB8AC3E}">
        <p14:creationId xmlns:p14="http://schemas.microsoft.com/office/powerpoint/2010/main" val="3717556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C08639-2131-7A43-EB23-861227417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b="1" i="1"/>
              <a:t>Initialization and setup of Maaslin3 for analysis</a:t>
            </a:r>
            <a:endParaRPr lang="it-IT" sz="4000" b="1" i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74E915-5D47-73E3-1B44-A24864607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2400" dirty="0">
                <a:effectLst/>
              </a:rPr>
              <a:t>R script </a:t>
            </a:r>
            <a:r>
              <a:rPr lang="it-IT" sz="2400" dirty="0" err="1">
                <a:effectLst/>
              </a:rPr>
              <a:t>used</a:t>
            </a:r>
            <a:r>
              <a:rPr lang="it-IT" sz="2400" dirty="0">
                <a:effectLst/>
              </a:rPr>
              <a:t> to </a:t>
            </a:r>
            <a:r>
              <a:rPr lang="it-IT" sz="2400" dirty="0" err="1">
                <a:effectLst/>
              </a:rPr>
              <a:t>preprocess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microbiome</a:t>
            </a:r>
            <a:r>
              <a:rPr lang="it-IT" sz="2400" dirty="0">
                <a:effectLst/>
              </a:rPr>
              <a:t> data and </a:t>
            </a:r>
            <a:r>
              <a:rPr lang="it-IT" sz="2400" dirty="0" err="1">
                <a:effectLst/>
              </a:rPr>
              <a:t>run</a:t>
            </a:r>
            <a:r>
              <a:rPr lang="it-IT" sz="2400" dirty="0">
                <a:effectLst/>
              </a:rPr>
              <a:t> a Maaslin3 </a:t>
            </a:r>
            <a:r>
              <a:rPr lang="it-IT" sz="2400" dirty="0" err="1">
                <a:effectLst/>
              </a:rPr>
              <a:t>supervised</a:t>
            </a:r>
            <a:r>
              <a:rPr lang="it-IT" sz="2400" dirty="0">
                <a:effectLst/>
              </a:rPr>
              <a:t> model with </a:t>
            </a:r>
            <a:r>
              <a:rPr lang="it-IT" sz="2400" i="1" dirty="0">
                <a:effectLst/>
              </a:rPr>
              <a:t>tempo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as</a:t>
            </a:r>
            <a:r>
              <a:rPr lang="it-IT" sz="2400" dirty="0">
                <a:effectLst/>
              </a:rPr>
              <a:t> the </a:t>
            </a:r>
            <a:r>
              <a:rPr lang="it-IT" sz="2400" dirty="0" err="1">
                <a:effectLst/>
              </a:rPr>
              <a:t>main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fixed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effect</a:t>
            </a:r>
            <a:r>
              <a:rPr lang="it-IT" sz="2400" dirty="0">
                <a:effectLst/>
              </a:rPr>
              <a:t> and </a:t>
            </a:r>
            <a:r>
              <a:rPr lang="it-IT" sz="2400" i="1" dirty="0">
                <a:effectLst/>
              </a:rPr>
              <a:t>sex</a:t>
            </a:r>
            <a:r>
              <a:rPr lang="it-IT" sz="2400" dirty="0">
                <a:effectLst/>
              </a:rPr>
              <a:t>, </a:t>
            </a:r>
            <a:r>
              <a:rPr lang="it-IT" sz="2400" i="1" dirty="0" err="1">
                <a:effectLst/>
              </a:rPr>
              <a:t>bmi</a:t>
            </a:r>
            <a:r>
              <a:rPr lang="it-IT" sz="2400" dirty="0">
                <a:effectLst/>
              </a:rPr>
              <a:t>, and </a:t>
            </a:r>
            <a:r>
              <a:rPr lang="it-IT" sz="2400" i="1" dirty="0">
                <a:effectLst/>
              </a:rPr>
              <a:t>age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as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confounders</a:t>
            </a:r>
            <a:r>
              <a:rPr lang="it-IT" sz="2400" dirty="0">
                <a:effectLst/>
              </a:rPr>
              <a:t>. The code imports the </a:t>
            </a:r>
            <a:r>
              <a:rPr lang="it-IT" sz="2400" dirty="0" err="1">
                <a:effectLst/>
              </a:rPr>
              <a:t>phyloseq</a:t>
            </a:r>
            <a:r>
              <a:rPr lang="it-IT" sz="2400" dirty="0">
                <a:effectLst/>
              </a:rPr>
              <a:t> RDS </a:t>
            </a:r>
            <a:r>
              <a:rPr lang="it-IT" sz="2400" dirty="0" err="1">
                <a:effectLst/>
              </a:rPr>
              <a:t>object</a:t>
            </a:r>
            <a:r>
              <a:rPr lang="it-IT" sz="2400" dirty="0">
                <a:effectLst/>
              </a:rPr>
              <a:t>, </a:t>
            </a:r>
            <a:r>
              <a:rPr lang="it-IT" sz="2400" dirty="0" err="1">
                <a:effectLst/>
              </a:rPr>
              <a:t>extracts</a:t>
            </a:r>
            <a:r>
              <a:rPr lang="it-IT" sz="2400" dirty="0">
                <a:effectLst/>
              </a:rPr>
              <a:t> OTU, </a:t>
            </a:r>
            <a:r>
              <a:rPr lang="it-IT" sz="2400" dirty="0" err="1">
                <a:effectLst/>
              </a:rPr>
              <a:t>taxonomy</a:t>
            </a:r>
            <a:r>
              <a:rPr lang="it-IT" sz="2400" dirty="0">
                <a:effectLst/>
              </a:rPr>
              <a:t>, and metadata </a:t>
            </a:r>
            <a:r>
              <a:rPr lang="it-IT" sz="2400" dirty="0" err="1">
                <a:effectLst/>
              </a:rPr>
              <a:t>tables</a:t>
            </a:r>
            <a:r>
              <a:rPr lang="it-IT" sz="2400" dirty="0">
                <a:effectLst/>
              </a:rPr>
              <a:t>, </a:t>
            </a:r>
            <a:r>
              <a:rPr lang="it-IT" sz="2400" dirty="0" err="1">
                <a:effectLst/>
              </a:rPr>
              <a:t>merges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taxonomic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identifiers</a:t>
            </a:r>
            <a:r>
              <a:rPr lang="it-IT" sz="2400" dirty="0">
                <a:effectLst/>
              </a:rPr>
              <a:t>, formats </a:t>
            </a:r>
            <a:r>
              <a:rPr lang="it-IT" sz="2400" dirty="0" err="1">
                <a:effectLst/>
              </a:rPr>
              <a:t>categorical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variables</a:t>
            </a:r>
            <a:r>
              <a:rPr lang="it-IT" sz="2400" dirty="0">
                <a:effectLst/>
              </a:rPr>
              <a:t>, and </a:t>
            </a:r>
            <a:r>
              <a:rPr lang="it-IT" sz="2400" dirty="0" err="1">
                <a:effectLst/>
              </a:rPr>
              <a:t>constructs</a:t>
            </a:r>
            <a:r>
              <a:rPr lang="it-IT" sz="2400" dirty="0">
                <a:effectLst/>
              </a:rPr>
              <a:t> the </a:t>
            </a:r>
            <a:r>
              <a:rPr lang="it-IT" sz="2400" dirty="0" err="1">
                <a:effectLst/>
              </a:rPr>
              <a:t>final</a:t>
            </a:r>
            <a:r>
              <a:rPr lang="it-IT" sz="2400" dirty="0">
                <a:effectLst/>
              </a:rPr>
              <a:t> model formula </a:t>
            </a:r>
            <a:r>
              <a:rPr lang="it-IT" sz="2400" dirty="0" err="1">
                <a:effectLst/>
              </a:rPr>
              <a:t>including</a:t>
            </a:r>
            <a:r>
              <a:rPr lang="it-IT" sz="2400" dirty="0">
                <a:effectLst/>
              </a:rPr>
              <a:t> a random </a:t>
            </a:r>
            <a:r>
              <a:rPr lang="it-IT" sz="2400" dirty="0" err="1">
                <a:effectLst/>
              </a:rPr>
              <a:t>intercept</a:t>
            </a:r>
            <a:r>
              <a:rPr lang="it-IT" sz="2400" dirty="0">
                <a:effectLst/>
              </a:rPr>
              <a:t> for </a:t>
            </a:r>
            <a:r>
              <a:rPr lang="it-IT" sz="2400" i="1" dirty="0" err="1">
                <a:effectLst/>
              </a:rPr>
              <a:t>id_original</a:t>
            </a:r>
            <a:r>
              <a:rPr lang="it-IT" sz="2400" dirty="0">
                <a:effectLst/>
              </a:rPr>
              <a:t>. The script </a:t>
            </a:r>
            <a:r>
              <a:rPr lang="it-IT" sz="2400" dirty="0" err="1">
                <a:effectLst/>
              </a:rPr>
              <a:t>then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executes</a:t>
            </a:r>
            <a:r>
              <a:rPr lang="it-IT" sz="2400" dirty="0">
                <a:effectLst/>
              </a:rPr>
              <a:t> Maaslin3 </a:t>
            </a:r>
            <a:r>
              <a:rPr lang="it-IT" sz="2400" dirty="0" err="1">
                <a:effectLst/>
              </a:rPr>
              <a:t>using</a:t>
            </a:r>
            <a:r>
              <a:rPr lang="it-IT" sz="2400" dirty="0">
                <a:effectLst/>
              </a:rPr>
              <a:t> TSS </a:t>
            </a:r>
            <a:r>
              <a:rPr lang="it-IT" sz="2400" dirty="0" err="1">
                <a:effectLst/>
              </a:rPr>
              <a:t>normalization</a:t>
            </a:r>
            <a:r>
              <a:rPr lang="it-IT" sz="2400" dirty="0">
                <a:effectLst/>
              </a:rPr>
              <a:t> and log </a:t>
            </a:r>
            <a:r>
              <a:rPr lang="it-IT" sz="2400" dirty="0" err="1">
                <a:effectLst/>
              </a:rPr>
              <a:t>transformation</a:t>
            </a:r>
            <a:r>
              <a:rPr lang="it-IT" sz="2400" dirty="0">
                <a:effectLst/>
              </a:rPr>
              <a:t>, </a:t>
            </a:r>
            <a:r>
              <a:rPr lang="it-IT" sz="2400" dirty="0" err="1">
                <a:effectLst/>
              </a:rPr>
              <a:t>generating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summary</a:t>
            </a:r>
            <a:r>
              <a:rPr lang="it-IT" sz="2400" dirty="0">
                <a:effectLst/>
              </a:rPr>
              <a:t> plots and </a:t>
            </a:r>
            <a:r>
              <a:rPr lang="it-IT" sz="2400" dirty="0" err="1">
                <a:effectLst/>
              </a:rPr>
              <a:t>significant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associations</a:t>
            </a:r>
            <a:r>
              <a:rPr lang="it-IT" sz="2400" dirty="0">
                <a:effectLst/>
              </a:rPr>
              <a:t> in the </a:t>
            </a:r>
            <a:r>
              <a:rPr lang="it-IT" sz="2400" dirty="0" err="1">
                <a:effectLst/>
              </a:rPr>
              <a:t>specified</a:t>
            </a:r>
            <a:r>
              <a:rPr lang="it-IT" sz="2400" dirty="0">
                <a:effectLst/>
              </a:rPr>
              <a:t> output directory.</a:t>
            </a:r>
            <a:endParaRPr lang="it-IT" sz="2400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1457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02B044-4C70-AA65-F7F5-27666ED8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600" b="1" i="1" dirty="0" err="1"/>
              <a:t>Creation</a:t>
            </a:r>
            <a:r>
              <a:rPr lang="it-IT" sz="3600" b="1" i="1" dirty="0"/>
              <a:t> of </a:t>
            </a:r>
            <a:r>
              <a:rPr lang="it-IT" sz="3600" b="1" i="1" dirty="0" err="1"/>
              <a:t>abundance</a:t>
            </a:r>
            <a:r>
              <a:rPr lang="it-IT" sz="3600" b="1" i="1" dirty="0"/>
              <a:t> and </a:t>
            </a:r>
            <a:r>
              <a:rPr lang="it-IT" sz="3600" b="1" i="1" dirty="0" err="1"/>
              <a:t>prevalence</a:t>
            </a:r>
            <a:r>
              <a:rPr lang="it-IT" sz="3600" b="1" i="1" dirty="0"/>
              <a:t> </a:t>
            </a:r>
            <a:r>
              <a:rPr lang="it-IT" sz="3600" b="1" i="1" dirty="0" err="1"/>
              <a:t>matrices</a:t>
            </a:r>
            <a:r>
              <a:rPr lang="it-IT" sz="3600" b="1" i="1" dirty="0"/>
              <a:t> </a:t>
            </a:r>
            <a:r>
              <a:rPr lang="it-IT" sz="3600" b="1" i="1" dirty="0" err="1"/>
              <a:t>stratified</a:t>
            </a:r>
            <a:r>
              <a:rPr lang="it-IT" sz="3600" b="1" i="1" dirty="0"/>
              <a:t> by tempo and </a:t>
            </a:r>
            <a:r>
              <a:rPr lang="it-IT" sz="3600" b="1" i="1" dirty="0" err="1"/>
              <a:t>statistical</a:t>
            </a:r>
            <a:r>
              <a:rPr lang="it-IT" sz="3600" b="1" i="1" dirty="0"/>
              <a:t> </a:t>
            </a:r>
            <a:r>
              <a:rPr lang="it-IT" sz="3600" b="1" i="1" dirty="0" err="1"/>
              <a:t>significance</a:t>
            </a:r>
            <a:endParaRPr lang="it-IT" sz="3600" b="1" i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670D73-6528-B2B7-70A6-ED7611563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2400" dirty="0">
                <a:effectLst/>
              </a:rPr>
              <a:t>R script </a:t>
            </a:r>
            <a:r>
              <a:rPr lang="it-IT" sz="2400" dirty="0" err="1">
                <a:effectLst/>
              </a:rPr>
              <a:t>used</a:t>
            </a:r>
            <a:r>
              <a:rPr lang="it-IT" sz="2400" dirty="0">
                <a:effectLst/>
              </a:rPr>
              <a:t> to generate </a:t>
            </a:r>
            <a:r>
              <a:rPr lang="it-IT" sz="2400" dirty="0" err="1">
                <a:effectLst/>
              </a:rPr>
              <a:t>four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result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matrices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derived</a:t>
            </a:r>
            <a:r>
              <a:rPr lang="it-IT" sz="2400" dirty="0">
                <a:effectLst/>
              </a:rPr>
              <a:t> from Maaslin3 outputs. The code filters the full </a:t>
            </a:r>
            <a:r>
              <a:rPr lang="it-IT" sz="2400" dirty="0" err="1">
                <a:effectLst/>
              </a:rPr>
              <a:t>results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table</a:t>
            </a:r>
            <a:r>
              <a:rPr lang="it-IT" sz="2400" dirty="0">
                <a:effectLst/>
              </a:rPr>
              <a:t> by the metadata </a:t>
            </a:r>
            <a:r>
              <a:rPr lang="it-IT" sz="2400" dirty="0" err="1">
                <a:effectLst/>
              </a:rPr>
              <a:t>variable</a:t>
            </a:r>
            <a:r>
              <a:rPr lang="it-IT" sz="2400" dirty="0">
                <a:effectLst/>
              </a:rPr>
              <a:t> </a:t>
            </a:r>
            <a:r>
              <a:rPr lang="it-IT" sz="2400" i="1" dirty="0">
                <a:effectLst/>
              </a:rPr>
              <a:t>tempo</a:t>
            </a:r>
            <a:r>
              <a:rPr lang="it-IT" sz="2400" dirty="0">
                <a:effectLst/>
              </a:rPr>
              <a:t> and </a:t>
            </a:r>
            <a:r>
              <a:rPr lang="it-IT" sz="2400" dirty="0" err="1">
                <a:effectLst/>
              </a:rPr>
              <a:t>separates</a:t>
            </a:r>
            <a:r>
              <a:rPr lang="it-IT" sz="2400" dirty="0">
                <a:effectLst/>
              </a:rPr>
              <a:t> features </a:t>
            </a:r>
            <a:r>
              <a:rPr lang="it-IT" sz="2400" dirty="0" err="1">
                <a:effectLst/>
              </a:rPr>
              <a:t>according</a:t>
            </a:r>
            <a:r>
              <a:rPr lang="it-IT" sz="2400" dirty="0">
                <a:effectLst/>
              </a:rPr>
              <a:t> to the </a:t>
            </a:r>
            <a:r>
              <a:rPr lang="it-IT" sz="2400" dirty="0" err="1">
                <a:effectLst/>
              </a:rPr>
              <a:t>statistical</a:t>
            </a:r>
            <a:r>
              <a:rPr lang="it-IT" sz="2400" dirty="0">
                <a:effectLst/>
              </a:rPr>
              <a:t> model </a:t>
            </a:r>
            <a:r>
              <a:rPr lang="it-IT" sz="2400" dirty="0" err="1">
                <a:effectLst/>
              </a:rPr>
              <a:t>applied</a:t>
            </a:r>
            <a:r>
              <a:rPr lang="it-IT" sz="2400" dirty="0">
                <a:effectLst/>
              </a:rPr>
              <a:t> (</a:t>
            </a:r>
            <a:r>
              <a:rPr lang="it-IT" sz="2400" i="1" dirty="0" err="1">
                <a:effectLst/>
              </a:rPr>
              <a:t>abundance</a:t>
            </a:r>
            <a:r>
              <a:rPr lang="it-IT" sz="2400" dirty="0">
                <a:effectLst/>
              </a:rPr>
              <a:t> or </a:t>
            </a:r>
            <a:r>
              <a:rPr lang="it-IT" sz="2400" i="1" dirty="0" err="1">
                <a:effectLst/>
              </a:rPr>
              <a:t>prevalence</a:t>
            </a:r>
            <a:r>
              <a:rPr lang="it-IT" sz="2400" dirty="0">
                <a:effectLst/>
              </a:rPr>
              <a:t>). </a:t>
            </a:r>
          </a:p>
          <a:p>
            <a:pPr marL="0" indent="0">
              <a:buNone/>
            </a:pPr>
            <a:r>
              <a:rPr lang="it-IT" sz="2400" dirty="0" err="1">
                <a:effectLst/>
              </a:rPr>
              <a:t>Each</a:t>
            </a:r>
            <a:r>
              <a:rPr lang="it-IT" sz="2400" dirty="0">
                <a:effectLst/>
              </a:rPr>
              <a:t> model </a:t>
            </a:r>
            <a:r>
              <a:rPr lang="it-IT" sz="2400" dirty="0" err="1">
                <a:effectLst/>
              </a:rPr>
              <a:t>is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further</a:t>
            </a:r>
            <a:r>
              <a:rPr lang="it-IT" sz="2400" dirty="0">
                <a:effectLst/>
              </a:rPr>
              <a:t> split </a:t>
            </a:r>
            <a:r>
              <a:rPr lang="it-IT" sz="2400" dirty="0" err="1">
                <a:effectLst/>
              </a:rPr>
              <a:t>into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two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significance-based</a:t>
            </a:r>
            <a:r>
              <a:rPr lang="it-IT" sz="2400" dirty="0">
                <a:effectLst/>
              </a:rPr>
              <a:t> subsets: taxa </a:t>
            </a:r>
            <a:r>
              <a:rPr lang="it-IT" sz="2400" dirty="0" err="1">
                <a:effectLst/>
              </a:rPr>
              <a:t>significant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at</a:t>
            </a:r>
            <a:r>
              <a:rPr lang="it-IT" sz="2400" dirty="0">
                <a:effectLst/>
              </a:rPr>
              <a:t> </a:t>
            </a:r>
            <a:r>
              <a:rPr lang="it-IT" sz="2400" i="1" dirty="0" err="1">
                <a:effectLst/>
              </a:rPr>
              <a:t>pval</a:t>
            </a:r>
            <a:r>
              <a:rPr lang="it-IT" sz="2400" i="1" dirty="0">
                <a:effectLst/>
              </a:rPr>
              <a:t> &lt; 0.05</a:t>
            </a:r>
            <a:r>
              <a:rPr lang="it-IT" sz="2400" dirty="0">
                <a:effectLst/>
              </a:rPr>
              <a:t> and taxa </a:t>
            </a:r>
            <a:r>
              <a:rPr lang="it-IT" sz="2400" dirty="0" err="1">
                <a:effectLst/>
              </a:rPr>
              <a:t>significant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at</a:t>
            </a:r>
            <a:r>
              <a:rPr lang="it-IT" sz="2400" dirty="0">
                <a:effectLst/>
              </a:rPr>
              <a:t> </a:t>
            </a:r>
            <a:r>
              <a:rPr lang="it-IT" sz="2400" i="1" dirty="0" err="1">
                <a:effectLst/>
              </a:rPr>
              <a:t>qval</a:t>
            </a:r>
            <a:r>
              <a:rPr lang="it-IT" sz="2400" i="1" dirty="0">
                <a:effectLst/>
              </a:rPr>
              <a:t> &lt; 0.1</a:t>
            </a:r>
            <a:r>
              <a:rPr lang="it-IT" sz="2400" dirty="0">
                <a:effectLst/>
              </a:rPr>
              <a:t>. </a:t>
            </a:r>
            <a:r>
              <a:rPr lang="it-IT" sz="2400" dirty="0" err="1">
                <a:effectLst/>
              </a:rPr>
              <a:t>This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results</a:t>
            </a:r>
            <a:r>
              <a:rPr lang="it-IT" sz="2400" dirty="0">
                <a:effectLst/>
              </a:rPr>
              <a:t> in </a:t>
            </a:r>
            <a:r>
              <a:rPr lang="it-IT" sz="2400" dirty="0" err="1">
                <a:effectLst/>
              </a:rPr>
              <a:t>four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final</a:t>
            </a:r>
            <a:r>
              <a:rPr lang="it-IT" sz="2400" dirty="0">
                <a:effectLst/>
              </a:rPr>
              <a:t> </a:t>
            </a:r>
            <a:r>
              <a:rPr lang="it-IT" sz="2400" dirty="0" err="1">
                <a:effectLst/>
              </a:rPr>
              <a:t>matrices</a:t>
            </a:r>
            <a:r>
              <a:rPr lang="it-IT" sz="2400" dirty="0">
                <a:effectLst/>
              </a:rPr>
              <a:t>: </a:t>
            </a:r>
            <a:r>
              <a:rPr lang="it-IT" sz="2400" dirty="0" err="1">
                <a:effectLst/>
              </a:rPr>
              <a:t>abundance</a:t>
            </a:r>
            <a:r>
              <a:rPr lang="it-IT" sz="2400" dirty="0">
                <a:effectLst/>
              </a:rPr>
              <a:t>–</a:t>
            </a:r>
            <a:r>
              <a:rPr lang="it-IT" sz="2400" dirty="0" err="1">
                <a:effectLst/>
              </a:rPr>
              <a:t>pval</a:t>
            </a:r>
            <a:r>
              <a:rPr lang="it-IT" sz="2400" dirty="0">
                <a:effectLst/>
              </a:rPr>
              <a:t>, </a:t>
            </a:r>
            <a:r>
              <a:rPr lang="it-IT" sz="2400" dirty="0" err="1">
                <a:effectLst/>
              </a:rPr>
              <a:t>abundance</a:t>
            </a:r>
            <a:r>
              <a:rPr lang="it-IT" sz="2400" dirty="0">
                <a:effectLst/>
              </a:rPr>
              <a:t>–</a:t>
            </a:r>
            <a:r>
              <a:rPr lang="it-IT" sz="2400" dirty="0" err="1">
                <a:effectLst/>
              </a:rPr>
              <a:t>qval</a:t>
            </a:r>
            <a:r>
              <a:rPr lang="it-IT" sz="2400" dirty="0">
                <a:effectLst/>
              </a:rPr>
              <a:t>, </a:t>
            </a:r>
            <a:r>
              <a:rPr lang="it-IT" sz="2400" dirty="0" err="1">
                <a:effectLst/>
              </a:rPr>
              <a:t>prevalence</a:t>
            </a:r>
            <a:r>
              <a:rPr lang="it-IT" sz="2400" dirty="0">
                <a:effectLst/>
              </a:rPr>
              <a:t>–</a:t>
            </a:r>
            <a:r>
              <a:rPr lang="it-IT" sz="2400" dirty="0" err="1">
                <a:effectLst/>
              </a:rPr>
              <a:t>pval</a:t>
            </a:r>
            <a:r>
              <a:rPr lang="it-IT" sz="2400" dirty="0">
                <a:effectLst/>
              </a:rPr>
              <a:t>, and </a:t>
            </a:r>
            <a:r>
              <a:rPr lang="it-IT" sz="2400" dirty="0" err="1">
                <a:effectLst/>
              </a:rPr>
              <a:t>prevalence</a:t>
            </a:r>
            <a:r>
              <a:rPr lang="it-IT" sz="2400" dirty="0">
                <a:effectLst/>
              </a:rPr>
              <a:t>–</a:t>
            </a:r>
            <a:r>
              <a:rPr lang="it-IT" sz="2400" dirty="0" err="1">
                <a:effectLst/>
              </a:rPr>
              <a:t>qval</a:t>
            </a:r>
            <a:r>
              <a:rPr lang="it-IT" sz="2400" dirty="0">
                <a:effectLst/>
              </a:rPr>
              <a:t>, </a:t>
            </a:r>
            <a:r>
              <a:rPr lang="it-IT" sz="2400" dirty="0" err="1">
                <a:effectLst/>
              </a:rPr>
              <a:t>which</a:t>
            </a:r>
            <a:r>
              <a:rPr lang="it-IT" sz="2400" dirty="0">
                <a:effectLst/>
              </a:rPr>
              <a:t> are </a:t>
            </a:r>
            <a:r>
              <a:rPr lang="it-IT" sz="2400" dirty="0" err="1">
                <a:effectLst/>
              </a:rPr>
              <a:t>used</a:t>
            </a:r>
            <a:r>
              <a:rPr lang="it-IT" sz="2400" dirty="0">
                <a:effectLst/>
              </a:rPr>
              <a:t> for downstream comparative </a:t>
            </a:r>
            <a:r>
              <a:rPr lang="it-IT" sz="2400" dirty="0" err="1">
                <a:effectLst/>
              </a:rPr>
              <a:t>analyses</a:t>
            </a:r>
            <a:r>
              <a:rPr lang="it-IT" sz="2400" dirty="0">
                <a:effectLst/>
              </a:rPr>
              <a:t>.</a:t>
            </a:r>
            <a:endParaRPr lang="it-IT" sz="2400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86852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52D835E-6663-7684-77F8-33C068765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20140"/>
            <a:ext cx="5847603" cy="518464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DAB0328-205A-A1EA-19B6-7BA643F5B458}"/>
              </a:ext>
            </a:extLst>
          </p:cNvPr>
          <p:cNvSpPr txBox="1"/>
          <p:nvPr/>
        </p:nvSpPr>
        <p:spPr>
          <a:xfrm>
            <a:off x="697230" y="1663530"/>
            <a:ext cx="44051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Bar chart </a:t>
            </a:r>
            <a:r>
              <a:rPr lang="it-IT" dirty="0" err="1"/>
              <a:t>showing</a:t>
            </a:r>
            <a:r>
              <a:rPr lang="it-IT" dirty="0"/>
              <a:t> the </a:t>
            </a:r>
            <a:r>
              <a:rPr lang="it-IT" dirty="0" err="1"/>
              <a:t>comparison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i="1" dirty="0"/>
              <a:t>Maaslin3</a:t>
            </a:r>
            <a:r>
              <a:rPr lang="it-IT" dirty="0"/>
              <a:t> models </a:t>
            </a:r>
            <a:r>
              <a:rPr lang="it-IT" dirty="0" err="1"/>
              <a:t>based</a:t>
            </a:r>
            <a:r>
              <a:rPr lang="it-IT" dirty="0"/>
              <a:t> on </a:t>
            </a:r>
            <a:r>
              <a:rPr lang="it-IT" dirty="0" err="1"/>
              <a:t>abundance</a:t>
            </a:r>
            <a:r>
              <a:rPr lang="it-IT" dirty="0"/>
              <a:t> and </a:t>
            </a:r>
            <a:r>
              <a:rPr lang="it-IT" dirty="0" err="1"/>
              <a:t>prevalence</a:t>
            </a:r>
            <a:r>
              <a:rPr lang="it-IT" dirty="0"/>
              <a:t>. The plot </a:t>
            </a:r>
            <a:r>
              <a:rPr lang="it-IT" dirty="0" err="1"/>
              <a:t>illustrates</a:t>
            </a:r>
            <a:r>
              <a:rPr lang="it-IT" dirty="0"/>
              <a:t> the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significant</a:t>
            </a:r>
            <a:r>
              <a:rPr lang="it-IT" dirty="0"/>
              <a:t> taxa </a:t>
            </a:r>
            <a:r>
              <a:rPr lang="it-IT" dirty="0" err="1"/>
              <a:t>identified</a:t>
            </a:r>
            <a:r>
              <a:rPr lang="it-IT" dirty="0"/>
              <a:t> in </a:t>
            </a:r>
            <a:r>
              <a:rPr lang="it-IT" dirty="0" err="1"/>
              <a:t>each</a:t>
            </a:r>
            <a:r>
              <a:rPr lang="it-IT" dirty="0"/>
              <a:t> model, </a:t>
            </a:r>
            <a:r>
              <a:rPr lang="it-IT" dirty="0" err="1"/>
              <a:t>considering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statistical</a:t>
            </a:r>
            <a:r>
              <a:rPr lang="it-IT" dirty="0"/>
              <a:t> </a:t>
            </a:r>
            <a:r>
              <a:rPr lang="it-IT" dirty="0" err="1"/>
              <a:t>significance</a:t>
            </a:r>
            <a:r>
              <a:rPr lang="it-IT" dirty="0"/>
              <a:t> </a:t>
            </a:r>
            <a:r>
              <a:rPr lang="it-IT" dirty="0" err="1"/>
              <a:t>thresholds</a:t>
            </a:r>
            <a:r>
              <a:rPr lang="it-IT" dirty="0"/>
              <a:t>: </a:t>
            </a:r>
            <a:r>
              <a:rPr lang="it-IT" i="1" dirty="0" err="1"/>
              <a:t>pval</a:t>
            </a:r>
            <a:r>
              <a:rPr lang="it-IT" i="1" dirty="0"/>
              <a:t> &lt; 0.05</a:t>
            </a:r>
            <a:r>
              <a:rPr lang="it-IT" dirty="0"/>
              <a:t> (blue) and </a:t>
            </a:r>
            <a:r>
              <a:rPr lang="it-IT" i="1" dirty="0" err="1"/>
              <a:t>qval</a:t>
            </a:r>
            <a:r>
              <a:rPr lang="it-IT" i="1" dirty="0"/>
              <a:t> &lt; 0.1</a:t>
            </a:r>
            <a:r>
              <a:rPr lang="it-IT" dirty="0"/>
              <a:t> (</a:t>
            </a:r>
            <a:r>
              <a:rPr lang="it-IT" dirty="0" err="1"/>
              <a:t>yellow</a:t>
            </a:r>
            <a:r>
              <a:rPr lang="it-IT" dirty="0"/>
              <a:t>). </a:t>
            </a:r>
            <a:r>
              <a:rPr lang="it-IT" dirty="0" err="1"/>
              <a:t>Only</a:t>
            </a:r>
            <a:r>
              <a:rPr lang="it-IT" dirty="0"/>
              <a:t> the </a:t>
            </a:r>
            <a:r>
              <a:rPr lang="it-IT" dirty="0" err="1"/>
              <a:t>abundance</a:t>
            </a:r>
            <a:r>
              <a:rPr lang="it-IT" dirty="0"/>
              <a:t> model </a:t>
            </a:r>
            <a:r>
              <a:rPr lang="it-IT" dirty="0" err="1"/>
              <a:t>detected</a:t>
            </a:r>
            <a:r>
              <a:rPr lang="it-IT" dirty="0"/>
              <a:t> </a:t>
            </a:r>
            <a:r>
              <a:rPr lang="it-IT" dirty="0" err="1"/>
              <a:t>significant</a:t>
            </a:r>
            <a:r>
              <a:rPr lang="it-IT" dirty="0"/>
              <a:t> taxa,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greater</a:t>
            </a:r>
            <a:r>
              <a:rPr lang="it-IT" dirty="0"/>
              <a:t> sensitivity </a:t>
            </a:r>
            <a:r>
              <a:rPr lang="it-IT" dirty="0" err="1"/>
              <a:t>compared</a:t>
            </a:r>
            <a:r>
              <a:rPr lang="it-IT" dirty="0"/>
              <a:t> to the </a:t>
            </a:r>
            <a:r>
              <a:rPr lang="it-IT" dirty="0" err="1"/>
              <a:t>prevalence</a:t>
            </a:r>
            <a:r>
              <a:rPr lang="it-IT" dirty="0"/>
              <a:t> model.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77976EC-8A1D-2F37-FA0D-25C147E72A25}"/>
              </a:ext>
            </a:extLst>
          </p:cNvPr>
          <p:cNvSpPr txBox="1"/>
          <p:nvPr/>
        </p:nvSpPr>
        <p:spPr>
          <a:xfrm>
            <a:off x="697230" y="4801261"/>
            <a:ext cx="44051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 err="1"/>
              <a:t>ggplot</a:t>
            </a:r>
            <a:r>
              <a:rPr lang="it-IT" sz="1200" dirty="0"/>
              <a:t>(</a:t>
            </a:r>
            <a:r>
              <a:rPr lang="it-IT" sz="1200" dirty="0" err="1"/>
              <a:t>counts</a:t>
            </a:r>
            <a:r>
              <a:rPr lang="it-IT" sz="1200" dirty="0"/>
              <a:t>, </a:t>
            </a:r>
            <a:r>
              <a:rPr lang="it-IT" sz="1200" dirty="0" err="1"/>
              <a:t>aes</a:t>
            </a:r>
            <a:r>
              <a:rPr lang="it-IT" sz="1200" dirty="0"/>
              <a:t>(x = Model, y = Count, </a:t>
            </a:r>
            <a:r>
              <a:rPr lang="it-IT" sz="1200" dirty="0" err="1"/>
              <a:t>fill</a:t>
            </a:r>
            <a:r>
              <a:rPr lang="it-IT" sz="1200" dirty="0"/>
              <a:t> = Filter)) +  </a:t>
            </a:r>
            <a:r>
              <a:rPr lang="it-IT" sz="1200" dirty="0" err="1"/>
              <a:t>geom_bar</a:t>
            </a:r>
            <a:r>
              <a:rPr lang="it-IT" sz="1200" dirty="0"/>
              <a:t>(</a:t>
            </a:r>
            <a:r>
              <a:rPr lang="it-IT" sz="1200" dirty="0" err="1"/>
              <a:t>stat</a:t>
            </a:r>
            <a:r>
              <a:rPr lang="it-IT" sz="1200" dirty="0"/>
              <a:t> = "</a:t>
            </a:r>
            <a:r>
              <a:rPr lang="it-IT" sz="1200" dirty="0" err="1"/>
              <a:t>identity</a:t>
            </a:r>
            <a:r>
              <a:rPr lang="it-IT" sz="1200" dirty="0"/>
              <a:t>", position = </a:t>
            </a:r>
            <a:r>
              <a:rPr lang="it-IT" sz="1200" dirty="0" err="1"/>
              <a:t>position_dodge</a:t>
            </a:r>
            <a:r>
              <a:rPr lang="it-IT" sz="1200" dirty="0"/>
              <a:t>()) +  labs(</a:t>
            </a:r>
            <a:r>
              <a:rPr lang="it-IT" sz="1200" dirty="0" err="1"/>
              <a:t>title</a:t>
            </a:r>
            <a:r>
              <a:rPr lang="it-IT" sz="1200" dirty="0"/>
              <a:t> = "</a:t>
            </a:r>
            <a:r>
              <a:rPr lang="it-IT" sz="1200" dirty="0" err="1"/>
              <a:t>Comparison</a:t>
            </a:r>
            <a:r>
              <a:rPr lang="it-IT" sz="1200" dirty="0"/>
              <a:t> of Maaslin3 </a:t>
            </a:r>
            <a:r>
              <a:rPr lang="it-IT" sz="1200" dirty="0" err="1"/>
              <a:t>significant</a:t>
            </a:r>
            <a:r>
              <a:rPr lang="it-IT" sz="1200" dirty="0"/>
              <a:t> taxa",       x = "Model",       y = "Number of </a:t>
            </a:r>
            <a:r>
              <a:rPr lang="it-IT" sz="1200" dirty="0" err="1"/>
              <a:t>significant</a:t>
            </a:r>
            <a:r>
              <a:rPr lang="it-IT" sz="1200" dirty="0"/>
              <a:t> taxa") +  </a:t>
            </a:r>
            <a:r>
              <a:rPr lang="it-IT" sz="1200" dirty="0" err="1"/>
              <a:t>theme_minimal</a:t>
            </a:r>
            <a:r>
              <a:rPr lang="it-IT" sz="1200" dirty="0"/>
              <a:t>() +  </a:t>
            </a:r>
            <a:r>
              <a:rPr lang="it-IT" sz="1200" dirty="0" err="1"/>
              <a:t>scale_fill_manual</a:t>
            </a:r>
            <a:r>
              <a:rPr lang="it-IT" sz="1200" dirty="0"/>
              <a:t>(</a:t>
            </a:r>
            <a:r>
              <a:rPr lang="it-IT" sz="1200" dirty="0" err="1"/>
              <a:t>values</a:t>
            </a:r>
            <a:r>
              <a:rPr lang="it-IT" sz="1200" dirty="0"/>
              <a:t> = c("#0073C2FF", "#EFC000FF"))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96445BA5-5BA5-64D7-8180-D738FA3B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230" y="337967"/>
            <a:ext cx="10515600" cy="1325563"/>
          </a:xfrm>
        </p:spPr>
        <p:txBody>
          <a:bodyPr>
            <a:normAutofit/>
          </a:bodyPr>
          <a:lstStyle/>
          <a:p>
            <a:r>
              <a:rPr lang="it-IT" sz="2400" b="1" i="1" dirty="0" err="1"/>
              <a:t>Comparison</a:t>
            </a:r>
            <a:r>
              <a:rPr lang="it-IT" sz="2400" b="1" i="1" dirty="0"/>
              <a:t> of Maaslin3 </a:t>
            </a:r>
            <a:r>
              <a:rPr lang="it-IT" sz="2400" b="1" i="1" dirty="0" err="1"/>
              <a:t>significant</a:t>
            </a:r>
            <a:r>
              <a:rPr lang="it-IT" sz="2400" b="1" i="1" dirty="0"/>
              <a:t> taxa</a:t>
            </a:r>
          </a:p>
        </p:txBody>
      </p:sp>
    </p:spTree>
    <p:extLst>
      <p:ext uri="{BB962C8B-B14F-4D97-AF65-F5344CB8AC3E}">
        <p14:creationId xmlns:p14="http://schemas.microsoft.com/office/powerpoint/2010/main" val="3672104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7E42C5EC-6992-DDFA-A36C-D6DB60691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230" y="337967"/>
            <a:ext cx="5072199" cy="1325563"/>
          </a:xfrm>
        </p:spPr>
        <p:txBody>
          <a:bodyPr>
            <a:normAutofit/>
          </a:bodyPr>
          <a:lstStyle/>
          <a:p>
            <a:r>
              <a:rPr lang="it-IT" sz="2400" b="1" i="1" dirty="0"/>
              <a:t>Comparative </a:t>
            </a:r>
            <a:r>
              <a:rPr lang="it-IT" sz="2400" b="1" i="1" dirty="0" err="1"/>
              <a:t>volcano</a:t>
            </a:r>
            <a:r>
              <a:rPr lang="it-IT" sz="2400" b="1" i="1" dirty="0"/>
              <a:t> plot </a:t>
            </a:r>
            <a:r>
              <a:rPr lang="it-IT" sz="2400" b="1" i="1" dirty="0" err="1"/>
              <a:t>illustrating</a:t>
            </a:r>
            <a:r>
              <a:rPr lang="it-IT" sz="2400" b="1" i="1" dirty="0"/>
              <a:t> </a:t>
            </a:r>
            <a:r>
              <a:rPr lang="it-IT" sz="2400" b="1" i="1" dirty="0" err="1"/>
              <a:t>effect</a:t>
            </a:r>
            <a:r>
              <a:rPr lang="it-IT" sz="2400" b="1" i="1" dirty="0"/>
              <a:t> size versus </a:t>
            </a:r>
            <a:r>
              <a:rPr lang="it-IT" sz="2400" b="1" i="1" dirty="0" err="1"/>
              <a:t>statistical</a:t>
            </a:r>
            <a:r>
              <a:rPr lang="it-IT" sz="2400" b="1" i="1" dirty="0"/>
              <a:t> </a:t>
            </a:r>
            <a:r>
              <a:rPr lang="it-IT" sz="2400" b="1" i="1" dirty="0" err="1"/>
              <a:t>significance</a:t>
            </a:r>
            <a:endParaRPr lang="it-IT" sz="2400" b="1" i="1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8D69AE0-D076-1943-D6F9-E2DE9B5B1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379" y="1055914"/>
            <a:ext cx="6367937" cy="5170713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3E5E7D8-EB7F-F119-9D04-7A9E561F866D}"/>
              </a:ext>
            </a:extLst>
          </p:cNvPr>
          <p:cNvSpPr txBox="1"/>
          <p:nvPr/>
        </p:nvSpPr>
        <p:spPr>
          <a:xfrm>
            <a:off x="697230" y="1793992"/>
            <a:ext cx="45422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Comparative </a:t>
            </a:r>
            <a:r>
              <a:rPr lang="it-IT" dirty="0" err="1"/>
              <a:t>volcano</a:t>
            </a:r>
            <a:r>
              <a:rPr lang="it-IT" dirty="0"/>
              <a:t> plot </a:t>
            </a:r>
            <a:r>
              <a:rPr lang="it-IT" dirty="0" err="1"/>
              <a:t>generated</a:t>
            </a:r>
            <a:r>
              <a:rPr lang="it-IT" dirty="0"/>
              <a:t> from </a:t>
            </a:r>
            <a:r>
              <a:rPr lang="it-IT" i="1" dirty="0"/>
              <a:t>Maaslin3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, </a:t>
            </a:r>
            <a:r>
              <a:rPr lang="it-IT" dirty="0" err="1"/>
              <a:t>illustrating</a:t>
            </a:r>
            <a:r>
              <a:rPr lang="it-IT" dirty="0"/>
              <a:t> the </a:t>
            </a:r>
            <a:r>
              <a:rPr lang="it-IT" dirty="0" err="1"/>
              <a:t>relationship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effect</a:t>
            </a:r>
            <a:r>
              <a:rPr lang="it-IT" dirty="0"/>
              <a:t> size (</a:t>
            </a:r>
            <a:r>
              <a:rPr lang="it-IT" dirty="0" err="1"/>
              <a:t>coefficient</a:t>
            </a:r>
            <a:r>
              <a:rPr lang="it-IT" dirty="0"/>
              <a:t>) and </a:t>
            </a:r>
            <a:r>
              <a:rPr lang="it-IT" dirty="0" err="1"/>
              <a:t>statistical</a:t>
            </a:r>
            <a:r>
              <a:rPr lang="it-IT" dirty="0"/>
              <a:t> </a:t>
            </a:r>
            <a:r>
              <a:rPr lang="it-IT" dirty="0" err="1"/>
              <a:t>significance</a:t>
            </a:r>
            <a:r>
              <a:rPr lang="it-IT" dirty="0"/>
              <a:t> (−log10 p-</a:t>
            </a:r>
            <a:r>
              <a:rPr lang="it-IT" dirty="0" err="1"/>
              <a:t>value</a:t>
            </a:r>
            <a:r>
              <a:rPr lang="it-IT" dirty="0"/>
              <a:t>) for taxa </a:t>
            </a:r>
            <a:r>
              <a:rPr lang="it-IT" dirty="0" err="1"/>
              <a:t>analyzed</a:t>
            </a:r>
            <a:r>
              <a:rPr lang="it-IT" dirty="0"/>
              <a:t> under the </a:t>
            </a:r>
            <a:r>
              <a:rPr lang="it-IT" i="1" dirty="0" err="1"/>
              <a:t>abundance</a:t>
            </a:r>
            <a:r>
              <a:rPr lang="it-IT" dirty="0"/>
              <a:t> and </a:t>
            </a:r>
            <a:r>
              <a:rPr lang="it-IT" i="1" dirty="0" err="1"/>
              <a:t>prevalence</a:t>
            </a:r>
            <a:r>
              <a:rPr lang="it-IT" dirty="0"/>
              <a:t> models. </a:t>
            </a:r>
            <a:r>
              <a:rPr lang="it-IT" dirty="0" err="1"/>
              <a:t>Each</a:t>
            </a:r>
            <a:r>
              <a:rPr lang="it-IT" dirty="0"/>
              <a:t> point </a:t>
            </a:r>
            <a:r>
              <a:rPr lang="it-IT" dirty="0" err="1"/>
              <a:t>represents</a:t>
            </a:r>
            <a:r>
              <a:rPr lang="it-IT" dirty="0"/>
              <a:t> a taxon, with blue dots </a:t>
            </a:r>
            <a:r>
              <a:rPr lang="it-IT" dirty="0" err="1"/>
              <a:t>corresponding</a:t>
            </a:r>
            <a:r>
              <a:rPr lang="it-IT" dirty="0"/>
              <a:t> to the </a:t>
            </a:r>
            <a:r>
              <a:rPr lang="it-IT" dirty="0" err="1"/>
              <a:t>abundance</a:t>
            </a:r>
            <a:r>
              <a:rPr lang="it-IT" dirty="0"/>
              <a:t> model and </a:t>
            </a:r>
            <a:r>
              <a:rPr lang="it-IT" dirty="0" err="1"/>
              <a:t>yellow</a:t>
            </a:r>
            <a:r>
              <a:rPr lang="it-IT" dirty="0"/>
              <a:t> dots to the </a:t>
            </a:r>
            <a:r>
              <a:rPr lang="it-IT" dirty="0" err="1"/>
              <a:t>prevalence</a:t>
            </a:r>
            <a:r>
              <a:rPr lang="it-IT" dirty="0"/>
              <a:t> model. The </a:t>
            </a:r>
            <a:r>
              <a:rPr lang="it-IT" dirty="0" err="1"/>
              <a:t>results</a:t>
            </a:r>
            <a:r>
              <a:rPr lang="it-IT" dirty="0"/>
              <a:t> show </a:t>
            </a:r>
            <a:r>
              <a:rPr lang="it-IT" dirty="0" err="1"/>
              <a:t>that</a:t>
            </a:r>
            <a:r>
              <a:rPr lang="it-IT" dirty="0"/>
              <a:t> no taxa are </a:t>
            </a:r>
            <a:r>
              <a:rPr lang="it-IT" dirty="0" err="1"/>
              <a:t>significant</a:t>
            </a:r>
            <a:r>
              <a:rPr lang="it-IT" dirty="0"/>
              <a:t> for </a:t>
            </a:r>
            <a:r>
              <a:rPr lang="it-IT" i="1" dirty="0"/>
              <a:t>q-</a:t>
            </a:r>
            <a:r>
              <a:rPr lang="it-IT" i="1" dirty="0" err="1"/>
              <a:t>value</a:t>
            </a:r>
            <a:r>
              <a:rPr lang="it-IT" dirty="0"/>
              <a:t> in </a:t>
            </a:r>
            <a:r>
              <a:rPr lang="it-IT" dirty="0" err="1"/>
              <a:t>either</a:t>
            </a:r>
            <a:r>
              <a:rPr lang="it-IT" dirty="0"/>
              <a:t> model, and the </a:t>
            </a:r>
            <a:r>
              <a:rPr lang="it-IT" i="1" dirty="0" err="1"/>
              <a:t>prevalence</a:t>
            </a:r>
            <a:r>
              <a:rPr lang="it-IT" dirty="0"/>
              <a:t> model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yield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significant</a:t>
            </a:r>
            <a:r>
              <a:rPr lang="it-IT" dirty="0"/>
              <a:t> taxa </a:t>
            </a:r>
            <a:r>
              <a:rPr lang="it-IT" dirty="0" err="1"/>
              <a:t>even</a:t>
            </a:r>
            <a:r>
              <a:rPr lang="it-IT" dirty="0"/>
              <a:t> for </a:t>
            </a:r>
            <a:r>
              <a:rPr lang="it-IT" i="1" dirty="0"/>
              <a:t>p-</a:t>
            </a:r>
            <a:r>
              <a:rPr lang="it-IT" i="1" dirty="0" err="1"/>
              <a:t>value</a:t>
            </a:r>
            <a:r>
              <a:rPr lang="it-IT" dirty="0"/>
              <a:t>. </a:t>
            </a:r>
            <a:r>
              <a:rPr lang="it-IT" dirty="0" err="1"/>
              <a:t>Therefore</a:t>
            </a:r>
            <a:r>
              <a:rPr lang="it-IT" dirty="0"/>
              <a:t>, the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findings</a:t>
            </a:r>
            <a:r>
              <a:rPr lang="it-IT" dirty="0"/>
              <a:t> are </a:t>
            </a:r>
            <a:r>
              <a:rPr lang="it-IT" dirty="0" err="1"/>
              <a:t>observed</a:t>
            </a:r>
            <a:r>
              <a:rPr lang="it-IT" dirty="0"/>
              <a:t> in the </a:t>
            </a:r>
            <a:r>
              <a:rPr lang="it-IT" i="1" dirty="0" err="1"/>
              <a:t>abundance</a:t>
            </a:r>
            <a:r>
              <a:rPr lang="it-IT" dirty="0"/>
              <a:t> model (</a:t>
            </a:r>
            <a:r>
              <a:rPr lang="it-IT" i="1" dirty="0"/>
              <a:t>p-</a:t>
            </a:r>
            <a:r>
              <a:rPr lang="it-IT" i="1" dirty="0" err="1"/>
              <a:t>value</a:t>
            </a:r>
            <a:r>
              <a:rPr lang="it-IT" dirty="0"/>
              <a:t> &lt; 0.05), making </a:t>
            </a:r>
            <a:r>
              <a:rPr lang="it-IT" dirty="0" err="1"/>
              <a:t>it</a:t>
            </a:r>
            <a:r>
              <a:rPr lang="it-IT" dirty="0"/>
              <a:t> the sole dataset </a:t>
            </a:r>
            <a:r>
              <a:rPr lang="it-IT" dirty="0" err="1"/>
              <a:t>containing</a:t>
            </a:r>
            <a:r>
              <a:rPr lang="it-IT" dirty="0"/>
              <a:t> </a:t>
            </a:r>
            <a:r>
              <a:rPr lang="it-IT" dirty="0" err="1"/>
              <a:t>statistically</a:t>
            </a:r>
            <a:r>
              <a:rPr lang="it-IT" dirty="0"/>
              <a:t>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3186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A1E8BAF1-D4D5-867F-B469-CCF7BFA84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230" y="337967"/>
            <a:ext cx="3947922" cy="1325563"/>
          </a:xfrm>
        </p:spPr>
        <p:txBody>
          <a:bodyPr>
            <a:normAutofit/>
          </a:bodyPr>
          <a:lstStyle/>
          <a:p>
            <a:r>
              <a:rPr lang="it-IT" sz="2400" b="1" i="1" dirty="0" err="1"/>
              <a:t>Dumbbell</a:t>
            </a:r>
            <a:r>
              <a:rPr lang="it-IT" sz="2400" b="1" i="1" dirty="0"/>
              <a:t> plot </a:t>
            </a:r>
            <a:r>
              <a:rPr lang="it-IT" sz="2400" b="1" i="1" dirty="0" err="1"/>
              <a:t>comparing</a:t>
            </a:r>
            <a:r>
              <a:rPr lang="it-IT" sz="2400" b="1" i="1" dirty="0"/>
              <a:t> T1 vs T12 </a:t>
            </a:r>
            <a:r>
              <a:rPr lang="it-IT" sz="2400" b="1" i="1" dirty="0" err="1"/>
              <a:t>coefficients</a:t>
            </a:r>
            <a:r>
              <a:rPr lang="it-IT" sz="2400" b="1" i="1" dirty="0"/>
              <a:t> for </a:t>
            </a:r>
            <a:r>
              <a:rPr lang="it-IT" sz="2400" b="1" i="1" dirty="0" err="1"/>
              <a:t>each</a:t>
            </a:r>
            <a:r>
              <a:rPr lang="it-IT" sz="2400" b="1" i="1" dirty="0"/>
              <a:t> </a:t>
            </a:r>
            <a:r>
              <a:rPr lang="it-IT" sz="2400" b="1" i="1" dirty="0" err="1"/>
              <a:t>significant</a:t>
            </a:r>
            <a:r>
              <a:rPr lang="it-IT" sz="2400" b="1" i="1" dirty="0"/>
              <a:t> </a:t>
            </a:r>
            <a:r>
              <a:rPr lang="it-IT" sz="2400" b="1" i="1" dirty="0" err="1"/>
              <a:t>species</a:t>
            </a:r>
            <a:endParaRPr lang="it-IT" sz="2400" b="1" i="1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CBD53FC-7685-4F60-E6A8-592E8B7C1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031" y="528247"/>
            <a:ext cx="7542737" cy="5801505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69777B-E379-A4D1-0D75-5BB061A1930A}"/>
              </a:ext>
            </a:extLst>
          </p:cNvPr>
          <p:cNvSpPr txBox="1"/>
          <p:nvPr/>
        </p:nvSpPr>
        <p:spPr>
          <a:xfrm>
            <a:off x="697230" y="1663530"/>
            <a:ext cx="361980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 err="1">
                <a:effectLst/>
              </a:rPr>
              <a:t>Dumbbell</a:t>
            </a:r>
            <a:r>
              <a:rPr lang="it-IT" dirty="0">
                <a:effectLst/>
              </a:rPr>
              <a:t> plot </a:t>
            </a:r>
            <a:r>
              <a:rPr lang="it-IT" dirty="0" err="1">
                <a:effectLst/>
              </a:rPr>
              <a:t>showing</a:t>
            </a:r>
            <a:r>
              <a:rPr lang="it-IT" dirty="0">
                <a:effectLst/>
              </a:rPr>
              <a:t> the </a:t>
            </a:r>
            <a:r>
              <a:rPr lang="it-IT" dirty="0" err="1">
                <a:effectLst/>
              </a:rPr>
              <a:t>coefficients</a:t>
            </a:r>
            <a:r>
              <a:rPr lang="it-IT" dirty="0">
                <a:effectLst/>
              </a:rPr>
              <a:t> for </a:t>
            </a:r>
            <a:r>
              <a:rPr lang="it-IT" dirty="0" err="1">
                <a:effectLst/>
              </a:rPr>
              <a:t>timepoints</a:t>
            </a:r>
            <a:r>
              <a:rPr lang="it-IT" dirty="0">
                <a:effectLst/>
              </a:rPr>
              <a:t> </a:t>
            </a:r>
            <a:r>
              <a:rPr lang="it-IT" i="1" dirty="0">
                <a:effectLst/>
              </a:rPr>
              <a:t>T1</a:t>
            </a:r>
            <a:r>
              <a:rPr lang="it-IT" dirty="0">
                <a:effectLst/>
              </a:rPr>
              <a:t> (blue) and </a:t>
            </a:r>
            <a:r>
              <a:rPr lang="it-IT" i="1" dirty="0">
                <a:effectLst/>
              </a:rPr>
              <a:t>T12</a:t>
            </a:r>
            <a:r>
              <a:rPr lang="it-IT" dirty="0">
                <a:effectLst/>
              </a:rPr>
              <a:t> (</a:t>
            </a:r>
            <a:r>
              <a:rPr lang="it-IT" dirty="0" err="1">
                <a:effectLst/>
              </a:rPr>
              <a:t>yellow</a:t>
            </a:r>
            <a:r>
              <a:rPr lang="it-IT" dirty="0">
                <a:effectLst/>
              </a:rPr>
              <a:t>) for </a:t>
            </a:r>
            <a:r>
              <a:rPr lang="it-IT" dirty="0" err="1">
                <a:effectLst/>
              </a:rPr>
              <a:t>each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significant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bacterial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species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identified</a:t>
            </a:r>
            <a:r>
              <a:rPr lang="it-IT" dirty="0">
                <a:effectLst/>
              </a:rPr>
              <a:t> in the </a:t>
            </a:r>
            <a:r>
              <a:rPr lang="it-IT" i="1" dirty="0" err="1">
                <a:effectLst/>
              </a:rPr>
              <a:t>abundance</a:t>
            </a:r>
            <a:r>
              <a:rPr lang="it-IT" dirty="0">
                <a:effectLst/>
              </a:rPr>
              <a:t> model. </a:t>
            </a:r>
            <a:r>
              <a:rPr lang="it-IT" dirty="0" err="1">
                <a:effectLst/>
              </a:rPr>
              <a:t>Each</a:t>
            </a:r>
            <a:r>
              <a:rPr lang="it-IT" dirty="0">
                <a:effectLst/>
              </a:rPr>
              <a:t> line </a:t>
            </a:r>
            <a:r>
              <a:rPr lang="it-IT" dirty="0" err="1">
                <a:effectLst/>
              </a:rPr>
              <a:t>connects</a:t>
            </a:r>
            <a:r>
              <a:rPr lang="it-IT" dirty="0">
                <a:effectLst/>
              </a:rPr>
              <a:t> the </a:t>
            </a:r>
            <a:r>
              <a:rPr lang="it-IT" dirty="0" err="1">
                <a:effectLst/>
              </a:rPr>
              <a:t>two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coefficients</a:t>
            </a:r>
            <a:r>
              <a:rPr lang="it-IT" dirty="0">
                <a:effectLst/>
              </a:rPr>
              <a:t> for the </a:t>
            </a:r>
            <a:r>
              <a:rPr lang="it-IT" dirty="0" err="1">
                <a:effectLst/>
              </a:rPr>
              <a:t>same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species</a:t>
            </a:r>
            <a:r>
              <a:rPr lang="it-IT" dirty="0">
                <a:effectLst/>
              </a:rPr>
              <a:t>, </a:t>
            </a:r>
            <a:r>
              <a:rPr lang="it-IT" dirty="0" err="1">
                <a:effectLst/>
              </a:rPr>
              <a:t>illustrating</a:t>
            </a:r>
            <a:r>
              <a:rPr lang="it-IT" dirty="0">
                <a:effectLst/>
              </a:rPr>
              <a:t> the </a:t>
            </a:r>
            <a:r>
              <a:rPr lang="it-IT" dirty="0" err="1">
                <a:effectLst/>
              </a:rPr>
              <a:t>direction</a:t>
            </a:r>
            <a:r>
              <a:rPr lang="it-IT" dirty="0">
                <a:effectLst/>
              </a:rPr>
              <a:t> and </a:t>
            </a:r>
            <a:r>
              <a:rPr lang="it-IT" dirty="0" err="1">
                <a:effectLst/>
              </a:rPr>
              <a:t>magnitude</a:t>
            </a:r>
            <a:r>
              <a:rPr lang="it-IT" dirty="0">
                <a:effectLst/>
              </a:rPr>
              <a:t> of </a:t>
            </a:r>
            <a:r>
              <a:rPr lang="it-IT" dirty="0" err="1">
                <a:effectLst/>
              </a:rPr>
              <a:t>change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timepoints</a:t>
            </a:r>
            <a:r>
              <a:rPr lang="it-IT" dirty="0">
                <a:effectLst/>
              </a:rPr>
              <a:t>.</a:t>
            </a:r>
          </a:p>
          <a:p>
            <a:pPr>
              <a:buNone/>
            </a:pPr>
            <a:endParaRPr lang="it-IT" dirty="0">
              <a:effectLst/>
            </a:endParaRPr>
          </a:p>
          <a:p>
            <a:pPr>
              <a:buNone/>
            </a:pPr>
            <a:r>
              <a:rPr lang="it-IT" b="1" i="1" dirty="0" err="1">
                <a:effectLst/>
              </a:rPr>
              <a:t>Parabacteroides</a:t>
            </a:r>
            <a:r>
              <a:rPr lang="it-IT" b="1" i="1" dirty="0">
                <a:effectLst/>
              </a:rPr>
              <a:t> sp. CT06</a:t>
            </a:r>
            <a:r>
              <a:rPr lang="it-IT" b="1" dirty="0">
                <a:effectLst/>
              </a:rPr>
              <a:t> </a:t>
            </a:r>
            <a:r>
              <a:rPr lang="it-IT" dirty="0">
                <a:effectLst/>
              </a:rPr>
              <a:t>shows the </a:t>
            </a:r>
            <a:r>
              <a:rPr lang="it-IT" dirty="0" err="1">
                <a:effectLst/>
              </a:rPr>
              <a:t>largest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difference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between</a:t>
            </a:r>
            <a:r>
              <a:rPr lang="it-IT" dirty="0">
                <a:effectLst/>
              </a:rPr>
              <a:t> T1 and T12, </a:t>
            </a:r>
            <a:r>
              <a:rPr lang="it-IT" dirty="0" err="1">
                <a:effectLst/>
              </a:rPr>
              <a:t>highlighting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its</a:t>
            </a:r>
            <a:r>
              <a:rPr lang="it-IT" dirty="0">
                <a:effectLst/>
              </a:rPr>
              <a:t> strong </a:t>
            </a:r>
            <a:r>
              <a:rPr lang="it-IT" dirty="0" err="1">
                <a:effectLst/>
              </a:rPr>
              <a:t>temporal</a:t>
            </a:r>
            <a:r>
              <a:rPr lang="it-IT" dirty="0">
                <a:effectLst/>
              </a:rPr>
              <a:t> </a:t>
            </a:r>
            <a:r>
              <a:rPr lang="it-IT" dirty="0" err="1">
                <a:effectLst/>
              </a:rPr>
              <a:t>variation</a:t>
            </a:r>
            <a:r>
              <a:rPr lang="it-IT" dirty="0">
                <a:effectLst/>
              </a:rPr>
              <a:t> in </a:t>
            </a:r>
            <a:r>
              <a:rPr lang="it-IT" dirty="0" err="1">
                <a:effectLst/>
              </a:rPr>
              <a:t>abundance</a:t>
            </a:r>
            <a:r>
              <a:rPr lang="it-IT" dirty="0">
                <a:effectLst/>
              </a:rPr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8114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B81F007-00A0-9CB4-6B85-E216E2B9D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598" y="1080489"/>
            <a:ext cx="4029097" cy="4697022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781C9EA9-E2D9-88F8-CE6C-28305EB040DD}"/>
              </a:ext>
            </a:extLst>
          </p:cNvPr>
          <p:cNvSpPr txBox="1"/>
          <p:nvPr/>
        </p:nvSpPr>
        <p:spPr>
          <a:xfrm>
            <a:off x="839122" y="1400800"/>
            <a:ext cx="6094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Boxplot</a:t>
            </a:r>
            <a:r>
              <a:rPr lang="it-IT" dirty="0"/>
              <a:t> </a:t>
            </a:r>
            <a:r>
              <a:rPr lang="it-IT" dirty="0" err="1"/>
              <a:t>showing</a:t>
            </a:r>
            <a:r>
              <a:rPr lang="it-IT" dirty="0"/>
              <a:t> the </a:t>
            </a:r>
            <a:r>
              <a:rPr lang="it-IT" dirty="0" err="1"/>
              <a:t>normalized</a:t>
            </a:r>
            <a:r>
              <a:rPr lang="it-IT" dirty="0"/>
              <a:t> and log-</a:t>
            </a:r>
            <a:r>
              <a:rPr lang="it-IT" dirty="0" err="1"/>
              <a:t>transformed</a:t>
            </a:r>
            <a:r>
              <a:rPr lang="it-IT" dirty="0"/>
              <a:t> </a:t>
            </a:r>
            <a:r>
              <a:rPr lang="it-IT" dirty="0" err="1"/>
              <a:t>abundance</a:t>
            </a:r>
            <a:r>
              <a:rPr lang="it-IT" dirty="0"/>
              <a:t> (Total Sum Scaling, log base 2) of </a:t>
            </a:r>
            <a:r>
              <a:rPr lang="it-IT" i="1" dirty="0" err="1"/>
              <a:t>Parabacteroides</a:t>
            </a:r>
            <a:r>
              <a:rPr lang="it-IT" i="1" dirty="0"/>
              <a:t> sp. CT06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three</a:t>
            </a:r>
            <a:r>
              <a:rPr lang="it-IT" dirty="0"/>
              <a:t> </a:t>
            </a:r>
            <a:r>
              <a:rPr lang="it-IT" dirty="0" err="1"/>
              <a:t>timepoints</a:t>
            </a:r>
            <a:r>
              <a:rPr lang="it-IT" dirty="0"/>
              <a:t> (T0, T1, T12). </a:t>
            </a:r>
            <a:r>
              <a:rPr lang="it-IT" dirty="0" err="1"/>
              <a:t>Each</a:t>
            </a:r>
            <a:r>
              <a:rPr lang="it-IT" dirty="0"/>
              <a:t> box </a:t>
            </a:r>
            <a:r>
              <a:rPr lang="it-IT" dirty="0" err="1"/>
              <a:t>represents</a:t>
            </a:r>
            <a:r>
              <a:rPr lang="it-IT" dirty="0"/>
              <a:t> the interquartile range, with the </a:t>
            </a:r>
            <a:r>
              <a:rPr lang="it-IT" dirty="0" err="1"/>
              <a:t>median</a:t>
            </a:r>
            <a:r>
              <a:rPr lang="it-IT" dirty="0"/>
              <a:t> </a:t>
            </a:r>
            <a:r>
              <a:rPr lang="it-IT" dirty="0" err="1"/>
              <a:t>indicated</a:t>
            </a:r>
            <a:r>
              <a:rPr lang="it-IT" dirty="0"/>
              <a:t> by the </a:t>
            </a:r>
            <a:r>
              <a:rPr lang="it-IT" dirty="0" err="1"/>
              <a:t>thick</a:t>
            </a:r>
            <a:r>
              <a:rPr lang="it-IT" dirty="0"/>
              <a:t> </a:t>
            </a:r>
            <a:r>
              <a:rPr lang="it-IT" dirty="0" err="1"/>
              <a:t>horizontal</a:t>
            </a:r>
            <a:r>
              <a:rPr lang="it-IT" dirty="0"/>
              <a:t> line and </a:t>
            </a:r>
            <a:r>
              <a:rPr lang="it-IT" dirty="0" err="1"/>
              <a:t>individual</a:t>
            </a:r>
            <a:r>
              <a:rPr lang="it-IT" dirty="0"/>
              <a:t> samples </a:t>
            </a:r>
            <a:r>
              <a:rPr lang="it-IT" dirty="0" err="1"/>
              <a:t>shown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dots. The </a:t>
            </a:r>
            <a:r>
              <a:rPr lang="it-IT" dirty="0" err="1"/>
              <a:t>results</a:t>
            </a:r>
            <a:r>
              <a:rPr lang="it-IT" dirty="0"/>
              <a:t> highlight a </a:t>
            </a:r>
            <a:r>
              <a:rPr lang="it-IT" dirty="0" err="1"/>
              <a:t>marked</a:t>
            </a:r>
            <a:r>
              <a:rPr lang="it-IT" dirty="0"/>
              <a:t> </a:t>
            </a:r>
            <a:r>
              <a:rPr lang="it-IT" dirty="0" err="1"/>
              <a:t>increase</a:t>
            </a:r>
            <a:r>
              <a:rPr lang="it-IT" dirty="0"/>
              <a:t> in </a:t>
            </a:r>
            <a:r>
              <a:rPr lang="it-IT" dirty="0" err="1"/>
              <a:t>abundance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 T1 </a:t>
            </a:r>
            <a:r>
              <a:rPr lang="it-IT" dirty="0" err="1"/>
              <a:t>compared</a:t>
            </a:r>
            <a:r>
              <a:rPr lang="it-IT" dirty="0"/>
              <a:t> to T0, </a:t>
            </a:r>
            <a:r>
              <a:rPr lang="it-IT" dirty="0" err="1"/>
              <a:t>followed</a:t>
            </a:r>
            <a:r>
              <a:rPr lang="it-IT" dirty="0"/>
              <a:t> by a </a:t>
            </a:r>
            <a:r>
              <a:rPr lang="it-IT" dirty="0" err="1"/>
              <a:t>slight</a:t>
            </a:r>
            <a:r>
              <a:rPr lang="it-IT" dirty="0"/>
              <a:t> </a:t>
            </a:r>
            <a:r>
              <a:rPr lang="it-IT" dirty="0" err="1"/>
              <a:t>decrease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 T12. Maaslin3 </a:t>
            </a:r>
            <a:r>
              <a:rPr lang="it-IT" dirty="0" err="1"/>
              <a:t>automatically</a:t>
            </a:r>
            <a:r>
              <a:rPr lang="it-IT" dirty="0"/>
              <a:t> </a:t>
            </a:r>
            <a:r>
              <a:rPr lang="it-IT" dirty="0" err="1"/>
              <a:t>generated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plot in the </a:t>
            </a:r>
            <a:r>
              <a:rPr lang="it-IT" i="1" dirty="0"/>
              <a:t>Figures → Association Plots</a:t>
            </a:r>
            <a:r>
              <a:rPr lang="it-IT" dirty="0"/>
              <a:t> </a:t>
            </a:r>
            <a:r>
              <a:rPr lang="it-IT" dirty="0" err="1"/>
              <a:t>section</a:t>
            </a:r>
            <a:r>
              <a:rPr lang="it-IT" dirty="0"/>
              <a:t>, reporting an FDR of 0.091 and a </a:t>
            </a:r>
            <a:r>
              <a:rPr lang="it-IT" dirty="0" err="1"/>
              <a:t>coefficient</a:t>
            </a:r>
            <a:r>
              <a:rPr lang="it-IT" dirty="0"/>
              <a:t> of 2.9 in the full model, </a:t>
            </a:r>
            <a:r>
              <a:rPr lang="it-IT" dirty="0" err="1"/>
              <a:t>confirming</a:t>
            </a:r>
            <a:r>
              <a:rPr lang="it-IT" dirty="0"/>
              <a:t> the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association</a:t>
            </a:r>
            <a:r>
              <a:rPr lang="it-IT" dirty="0"/>
              <a:t> for T1.</a:t>
            </a:r>
          </a:p>
        </p:txBody>
      </p:sp>
    </p:spTree>
    <p:extLst>
      <p:ext uri="{BB962C8B-B14F-4D97-AF65-F5344CB8AC3E}">
        <p14:creationId xmlns:p14="http://schemas.microsoft.com/office/powerpoint/2010/main" val="827256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6581A9-BCFC-938C-AF8A-353EB4A48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Boxplot</a:t>
            </a:r>
            <a:r>
              <a:rPr lang="it-IT" dirty="0"/>
              <a:t> per vedere l’abbondanza delle specie significative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D3E0525-0B91-A77D-FB61-8FA1343B9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93" y="1298550"/>
            <a:ext cx="9224736" cy="519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068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310D7A-A690-7DF6-04E7-CEA99D0A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735A6C-D554-30C2-0ECE-8FCEE6A72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6642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8B254F-DA2D-D5E0-2E62-51BB80C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8433EB-1018-E2B8-9988-7FC440961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0210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FF22FE-7733-E1C7-D254-B37739A2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220203-3643-84B7-FE58-501303FE5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796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662</Words>
  <Application>Microsoft Office PowerPoint</Application>
  <PresentationFormat>Widescreen</PresentationFormat>
  <Paragraphs>18</Paragraphs>
  <Slides>11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di Office</vt:lpstr>
      <vt:lpstr>MAASLIN3 ANALYSIS</vt:lpstr>
      <vt:lpstr>Initialization and setup of Maaslin3 for analysis</vt:lpstr>
      <vt:lpstr>Creation of abundance and prevalence matrices stratified by tempo and statistical significance</vt:lpstr>
      <vt:lpstr>Comparison of Maaslin3 significant taxa</vt:lpstr>
      <vt:lpstr>Comparative volcano plot illustrating effect size versus statistical significance</vt:lpstr>
      <vt:lpstr>Dumbbell plot comparing T1 vs T12 coefficients for each significant species</vt:lpstr>
      <vt:lpstr>Presentazione standard di PowerPoint</vt:lpstr>
      <vt:lpstr>Boxplot per vedere l’abbondanza delle specie significative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Aurelia Bagetto</dc:creator>
  <cp:lastModifiedBy>Aurelia Bagetto</cp:lastModifiedBy>
  <cp:revision>4</cp:revision>
  <dcterms:created xsi:type="dcterms:W3CDTF">2026-08-08T08:27:57Z</dcterms:created>
  <dcterms:modified xsi:type="dcterms:W3CDTF">2026-08-08T19:45:53Z</dcterms:modified>
</cp:coreProperties>
</file>